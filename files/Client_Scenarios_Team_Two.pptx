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9283709b6f42fd" /><Relationship Type="http://schemas.openxmlformats.org/officeDocument/2006/relationships/extended-properties" Target="/docProps/app.xml" Id="R2988d90461f54839" /><Relationship Type="http://schemas.openxmlformats.org/officeDocument/2006/relationships/officeDocument" Target="/ppt/presentation.xml" Id="R824fa0c4f30b40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c7cc8ddb0a418b"/>
  </p:sldMasterIdLst>
  <p:notesMasterIdLst>
    <p:notesMasterId xmlns:r="http://schemas.openxmlformats.org/officeDocument/2006/relationships" r:id="Rb2b7cf19c1634573"/>
  </p:notesMasterIdLst>
  <p:sldIdLst>
    <p:sldId xmlns:r="http://schemas.openxmlformats.org/officeDocument/2006/relationships" id="256" r:id="Rf1208d00c30d49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d300a3be514131" /><Relationship Type="http://schemas.openxmlformats.org/officeDocument/2006/relationships/slideMaster" Target="/ppt/slideMasters/slideMaster1.xml" Id="Rb5c7cc8ddb0a418b" /><Relationship Type="http://schemas.openxmlformats.org/officeDocument/2006/relationships/notesMaster" Target="/ppt/notesMasters/notesMaster1.xml" Id="Rb2b7cf19c1634573" /><Relationship Type="http://schemas.openxmlformats.org/officeDocument/2006/relationships/presProps" Target="/ppt/presProps.xml" Id="Rbf44702949554aad" /><Relationship Type="http://schemas.openxmlformats.org/officeDocument/2006/relationships/viewProps" Target="/ppt/viewProps.xml" Id="R3c039dfb0b094bca" /><Relationship Type="http://schemas.openxmlformats.org/officeDocument/2006/relationships/tableStyles" Target="/ppt/tableStyles.xml" Id="Rd65f1980e20849d7" /><Relationship Type="http://schemas.openxmlformats.org/officeDocument/2006/relationships/slide" Target="/ppt/slides/slide1.xml" Id="Rf1208d00c30d49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3ef59e39a845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ed8da8ffb94123" /><Relationship Type="http://schemas.openxmlformats.org/officeDocument/2006/relationships/notesMaster" Target="/ppt/notesMasters/notesMaster1.xml" Id="Re9a68c10bc3942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949aad57d448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7eda5d83524c39" /><Relationship Type="http://schemas.openxmlformats.org/officeDocument/2006/relationships/slideLayout" Target="/ppt/slideLayouts/slideLayout1.xml" Id="Rda08510e2a4a4a0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08510e2a4a4a0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f8874a46c4ecb" /><Relationship Type="http://schemas.openxmlformats.org/officeDocument/2006/relationships/notesSlide" Target="/ppt/notesSlides/notesSlide1.xml" Id="R97907afa4cd54e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6A10587-971B-450E-A93B-F9B77BC6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5CAB45-6928-405A-A74A-F03E3F39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-45720"/>
            <a:ext cx="1463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0" b="1">
                <a:solidFill>
                  <a:srgbClr val="FFFFFF">
                    <a:alpha val="25000"/>
                  </a:srgbClr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88E5A-C993-4C8A-8CBC-46C5347A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315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FFFFFF">
                    <a:alpha val="60000"/>
                  </a:srgbClr>
                </a:solidFill>
                <a:latin typeface="Calibri"/>
                <a:ea typeface="Calibri"/>
                <a:cs typeface="Calibri"/>
              </a:rPr>
              <a:t>TEAM TWO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B88839D-0CE6-4A24-AD95-C61CE0FE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7315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Two · Client Profiles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A81E9F0-88CD-4429-8033-2B029578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27432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FFFFFF">
                    <a:alpha val="50000"/>
                  </a:srgbClr>
                </a:solidFill>
                <a:latin typeface="Calibri"/>
                <a:ea typeface="Calibri"/>
                <a:cs typeface="Calibri"/>
              </a:rPr>
              <a:t>2 / 6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1A08AE2-AA1C-4F12-97A1-02BD3B46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1D1CAF5-C55B-4DB6-A02F-A02C7F7F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3A8AA9E-F341-4BAA-8F49-A5BD0428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AED3603-B2C2-411F-BF28-1ABD3EB8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JR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55C6830-B18E-4C7E-A89C-7667E588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#05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32DD23F-C081-47EE-9665-06DFC59F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Javier Rodriguez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83E3724-33AB-42BA-B9DE-622D7E2F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55  ·  Business Owner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895F9BB-6E76-43A0-9E4A-3E0CC7D1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E8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955A5C8-FC0A-4BB9-8EC0-56C08CCE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12700">
            <a:solidFill>
              <a:srgbClr val="3A6E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600485E-030D-4FAF-9FC8-0705560B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3A6EA5"/>
                </a:solidFill>
                <a:latin typeface="Calibri"/>
                <a:ea typeface="Calibri"/>
                <a:cs typeface="Calibri"/>
              </a:rPr>
              <a:t>RISK NEUTRAL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DC8FEED-61A3-42A4-8F14-4913A385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48CD4E2-FF23-435E-9DF8-6F63E5B8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17947F7-02BB-460E-9B03-1F24B217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$200,000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5618830-6A94-43EC-9B80-83003F9F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1099683-AFB1-4BC1-9E17-E5528B30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$3.0M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73F1CE4-42EB-4D4A-94E1-C6F9DDB7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0"/>
          </a:solidFill>
          <a:ln xmlns:a="http://schemas.openxmlformats.org/drawingml/2006/main" w="12700">
            <a:solidFill>
              <a:srgbClr val="F0E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E446F49-69EC-4C32-90AB-8BCDC316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EFAC16C-85F3-48CC-B8D3-24DEC853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B3A1F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917B574-02E2-4DBB-B142-D4AC595E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Diversification / Business Exit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8964BD7-D015-4C9B-B51D-EBFFD605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F426927-1D45-45A5-AF39-794866E0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04D1C8D-373A-4C41-B418-C5BFCD05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Illiquid business assets; Tax-sensitive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862F4D0-41B3-41FC-AB0E-57802DBD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6FE35B9-3537-4A4F-A1A3-488392E0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9A7BD24-C8C5-4E0C-BE02-157C8403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7.5%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5AD5CA1-F447-4D46-969F-ABC19F23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DED9E9F-387D-4E0C-9B8E-0FF9F0F1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6006FEC-5D2F-4805-8310-123F7F4A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14.0%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86FB12AC-9538-45EA-B24C-9069DD19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CF10D43-0202-4A51-826D-639B883F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BCB6CFA-A109-423F-9498-31E8BC02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4.5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487DB41B-14D9-43F4-80B6-40DB8624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65562D8C-E7FB-4B0B-A250-8A323393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89DF0D32-263B-45B1-802B-A9A453E6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6F492E2D-15F6-4687-91FC-CC1A3BD1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LS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942163C5-1D16-478B-83F2-695DCA81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#07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358675E-08A7-444E-9160-A4A41035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Linda Sterling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72F91AF-1285-443F-86A0-ED2E7264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51  ·  Marketing Director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CA6D807B-9CCF-4800-94FE-91736B5A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FFF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51E3D36-F619-416A-BE76-E50AC73A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B30"/>
          </a:solidFill>
          <a:ln xmlns:a="http://schemas.openxmlformats.org/drawingml/2006/main" w="12700">
            <a:solidFill>
              <a:srgbClr val="C05B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B118B5AD-13AF-49E7-8B68-14F966EE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C05B30"/>
                </a:solidFill>
                <a:latin typeface="Calibri"/>
                <a:ea typeface="Calibri"/>
                <a:cs typeface="Calibri"/>
              </a:rPr>
              <a:t>RISK AVERSE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887D40B7-6CE9-478F-B2E4-D6F2959B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4EC50493-BA96-48D5-9FC9-A2263354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804B54DC-83E7-4381-986D-67433D14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$95,000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3086B2D4-07D5-4CD4-85DE-61B4A79B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AF632D10-B758-4FF7-BF78-B1F12B5F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$600,000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FB4C362-510B-40D9-952D-C23FEC73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0"/>
          </a:solidFill>
          <a:ln xmlns:a="http://schemas.openxmlformats.org/drawingml/2006/main" w="12700">
            <a:solidFill>
              <a:srgbClr val="F0E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46CC2297-401B-47B7-B690-31C67090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CFD4777A-1E77-430B-9E42-302A5672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B3A1F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2E8CDC9E-C388-42DF-B24C-408EDEF7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Stability / Home Purchase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FF8DC47D-4102-495F-9294-D5C17E69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ECE0FD0A-DAAE-47C3-A6BA-E6213DE2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A41FFBA3-BF54-4CFE-A236-6E01F21F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Needs $150k cash for home in 12 months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6B50B30D-BF28-4F96-B310-74A06BD4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72FEA3FF-514D-4647-ADF2-900D939F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24B02783-64F2-41A0-A66F-0CFA4F45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5.5%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8CAA8970-CE10-49FF-B314-9637F8CE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F283730A-9580-4EBC-9762-CE868D67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F89CEEBB-CF57-40FB-AAB1-D1300170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9.0%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2CE95CBD-943B-484C-B51C-765CB8E3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80FEE2D9-B04D-48DA-9F0A-AA89294C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F125F3CF-90B1-42DD-917E-AEFD5841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6.0</a:t>
            </a:r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4146527-418F-48E9-AE30-CE2E22D1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CE87E1CB-D33D-434C-9682-A80BC48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3FA85FF1-9F69-469F-9B98-06964097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182E930C-FE15-4560-BABA-A906847C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RH</a:t>
            </a:r>
          </a:p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47047306-8049-4B90-9982-277C3C5D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#08</a:t>
            </a:r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DB403AE7-EFD7-4A7A-B9B8-4326D512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Robert Halloway</a:t>
            </a:r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976EEB95-E269-4CFA-8247-1652CA8C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58  ·  Retail Manager</a:t>
            </a:r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DC89CB91-BAD0-4C8C-95CE-DFE7CD7F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12700">
            <a:solidFill>
              <a:srgbClr val="E8F5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E3F2185A-04EA-4776-8EEA-0DE3C1DA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E"/>
          </a:solidFill>
          <a:ln xmlns:a="http://schemas.openxmlformats.org/drawingml/2006/main" w="12700">
            <a:solidFill>
              <a:srgbClr val="2D8A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3CE5E37A-B4D8-44D4-92E4-CFE1E897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2D8A5E"/>
                </a:solidFill>
                <a:latin typeface="Calibri"/>
                <a:ea typeface="Calibri"/>
                <a:cs typeface="Calibri"/>
              </a:rPr>
              <a:t>RISK SEEKING</a:t>
            </a:r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5F820CA0-BD1A-4104-BA52-6F46B77A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991C28CE-F801-4E79-81B3-635F1822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B2FB562C-1458-4C2D-97DE-F5558BC2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$70,000</a:t>
            </a:r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36DAC49A-E39A-49BC-AB8C-E3F0AC88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791FA4C8-3793-45B7-8A4B-269B858C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$120,000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97A4863B-EDAA-40CA-8A59-2C690EC6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D0"/>
          </a:solidFill>
          <a:ln xmlns:a="http://schemas.openxmlformats.org/drawingml/2006/main" w="12700">
            <a:solidFill>
              <a:srgbClr val="F0E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427C6BB4-A529-4791-918A-06C4CD0A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DDCEF2EE-5AD8-4FA2-8C7E-0AB58080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B3A1F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0BD953A5-CA13-41F2-A2E1-AFE4A1A5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Catch-up Growth</a:t>
            </a:r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1F40E665-4F9D-4D9D-95FC-1AFCD7FF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55BFA8BD-A405-490E-A0FB-A2E6BFDA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9822CBC6-4DDC-4A63-9206-47DE0A8E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Under-funded for retirement; short horizon</a:t>
            </a:r>
          </a:p>
        </p:txBody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C49085B7-F1F6-4091-9837-EC19B336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9452F3FC-6771-4114-83F2-972F7BD9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43D1EA1C-39FA-484B-9065-D2AB2D8F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10.0%</a:t>
            </a:r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F3D519A5-3CB6-4492-8E27-1B8056B5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9F634689-DA51-445F-866A-39C48CDC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96" name="Text 94">
            <a:extLst xmlns:a="http://schemas.openxmlformats.org/drawingml/2006/main">
              <a:ext uri="{FF2B5EF4-FFF2-40B4-BE49-F238E27FC236}">
                <a16:creationId xmlns:a16="http://schemas.microsoft.com/office/drawing/2014/main" id="{5DD218AB-F003-4A42-A9B6-2558F3F0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9A015E38-E9ED-459E-8339-6F0A2C20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29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45B0C00C-702B-4DB6-B274-71AB2EDD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93AA785E-6717-433B-83C7-658EFA14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01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2.0</a:t>
            </a:r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C9754B6D-DD5F-4348-8C89-903C9FDF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615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A1F"/>
          </a:solidFill>
          <a:ln xmlns:a="http://schemas.openxmlformats.org/drawingml/2006/main" w="12700">
            <a:solidFill>
              <a:srgbClr val="6B3A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CC4FA6CA-73AD-4794-AE1D-D3199B10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565392"/>
            <a:ext cx="11612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BUS331 Investments  ·  Endicott College  ·  Team Two</a:t>
            </a:r>
          </a:p>
        </p:txBody>
      </p:sp>
    </p:spTree>
    <p:extLst>
      <p:ext uri="{BB962C8B-B14F-4D97-AF65-F5344CB8AC3E}">
        <p14:creationId xmlns:p14="http://schemas.microsoft.com/office/powerpoint/2010/main" val="20562011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2026-08-14T17:09:15.1910000Z</dcterms:created>
  <dcterms:modified xsi:type="dcterms:W3CDTF">2026-08-14T17:09:15.1910000Z</dcterms:modified>
</coreProperties>
</file>