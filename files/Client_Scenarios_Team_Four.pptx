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bc50757e84507" /><Relationship Type="http://schemas.openxmlformats.org/officeDocument/2006/relationships/extended-properties" Target="/docProps/app.xml" Id="R0cbdaaa6f17b4e1f" /><Relationship Type="http://schemas.openxmlformats.org/officeDocument/2006/relationships/officeDocument" Target="/ppt/presentation.xml" Id="R10381a976986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4e633f60443ce"/>
  </p:sldMasterIdLst>
  <p:notesMasterIdLst>
    <p:notesMasterId xmlns:r="http://schemas.openxmlformats.org/officeDocument/2006/relationships" r:id="Rdb1c95030bf64e59"/>
  </p:notesMasterIdLst>
  <p:sldIdLst>
    <p:sldId xmlns:r="http://schemas.openxmlformats.org/officeDocument/2006/relationships" id="256" r:id="R6a0c34158864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ec4bba2e664750" /><Relationship Type="http://schemas.openxmlformats.org/officeDocument/2006/relationships/slideMaster" Target="/ppt/slideMasters/slideMaster1.xml" Id="Rcea4e633f60443ce" /><Relationship Type="http://schemas.openxmlformats.org/officeDocument/2006/relationships/notesMaster" Target="/ppt/notesMasters/notesMaster1.xml" Id="Rdb1c95030bf64e59" /><Relationship Type="http://schemas.openxmlformats.org/officeDocument/2006/relationships/presProps" Target="/ppt/presProps.xml" Id="Rd102bcb0e3b24f1f" /><Relationship Type="http://schemas.openxmlformats.org/officeDocument/2006/relationships/viewProps" Target="/ppt/viewProps.xml" Id="Rc166dd5c23de4978" /><Relationship Type="http://schemas.openxmlformats.org/officeDocument/2006/relationships/tableStyles" Target="/ppt/tableStyles.xml" Id="Rc60760d95b0a4b1a" /><Relationship Type="http://schemas.openxmlformats.org/officeDocument/2006/relationships/slide" Target="/ppt/slides/slide1.xml" Id="R6a0c34158864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b46f54d27441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99bc499ca741d1" /><Relationship Type="http://schemas.openxmlformats.org/officeDocument/2006/relationships/notesMaster" Target="/ppt/notesMasters/notesMaster1.xml" Id="R040d2dac701949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09a5d2b3d0420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3380445d94382" /><Relationship Type="http://schemas.openxmlformats.org/officeDocument/2006/relationships/slideLayout" Target="/ppt/slideLayouts/slideLayout1.xml" Id="R9d12b600a9df4c0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12b600a9df4c0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430195c8b4781" /><Relationship Type="http://schemas.openxmlformats.org/officeDocument/2006/relationships/notesSlide" Target="/ppt/notesSlides/notesSlide1.xml" Id="R9c70ba6c7c8f4d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D2DF09E-4011-49FF-AA6D-D577C03E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6152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934E5-4FCC-42DF-917D-BF3B6715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" y="-45720"/>
            <a:ext cx="14630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0" b="1">
                <a:solidFill>
                  <a:srgbClr val="FFFFFF">
                    <a:alpha val="25000"/>
                  </a:srgbClr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53AA17F-2AEC-4CCF-98F3-77B35933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73152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Calibri"/>
                <a:ea typeface="Calibri"/>
                <a:cs typeface="Calibri"/>
              </a:rPr>
              <a:t>TEAM FOUR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3F89EB-36FF-429F-BD7D-FAB510DB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"/>
            <a:ext cx="7315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Team Four · Client Profiles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9DF0328-AE6A-4E0C-B004-1245FE1F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274320"/>
            <a:ext cx="1188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FFFFFF">
                    <a:alpha val="50000"/>
                  </a:srgbClr>
                </a:solidFill>
                <a:latin typeface="Calibri"/>
                <a:ea typeface="Calibri"/>
                <a:cs typeface="Calibri"/>
              </a:rPr>
              <a:t>4 / 6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F652350-5745-4D11-84BF-EE4D7B1F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24CDC08-DEE4-467D-A873-0588CD9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FF59F12-7350-4984-9BCB-8F7A7530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48CD988-7AC9-48ED-9CFA-CC52CBF9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F21397E-A1DD-416D-AB53-98CB17F2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146A30-7CFD-42B9-9B2D-A8ACB836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Thomas Murphy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D937BC-3829-49F6-A670-0C15E050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45  ·  Police Officer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179781E-C28C-41C1-A87C-F3EEC65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12700">
            <a:solidFill>
              <a:srgbClr val="FFF0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F1F793E-BA50-4BA0-9C47-77FDE496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B30"/>
          </a:solidFill>
          <a:ln xmlns:a="http://schemas.openxmlformats.org/drawingml/2006/main" w="12700">
            <a:solidFill>
              <a:srgbClr val="C05B3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0B75EC9-58C8-4188-BA19-20989595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C05B30"/>
                </a:solidFill>
                <a:latin typeface="Calibri"/>
                <a:ea typeface="Calibri"/>
                <a:cs typeface="Calibri"/>
              </a:rPr>
              <a:t>RISK AVERSE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36F59FF-0245-4F93-9A8B-01FF48E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396A284-6CB7-4C0A-8D89-2D916E2A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40EE79C-B674-4615-8A48-65C913DC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$85,000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8D57A37-EC69-4BCD-B5B3-E1CF7362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8EF80-F11B-448C-A6D3-178FB24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$200,000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5652A07-AC4A-4900-85F4-9819DAD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0F1BBA3-462D-437F-8F8A-299764CD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C04A422-E49C-45ED-BDFC-56DDB5E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BA23BAF-0030-49AA-A3F9-EAE1D7EC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Supplemental Retirement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22F7234-F6FC-4271-84DF-368F1496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EC5367D-EF39-4F1B-AA54-A9AFB2C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3CCAEC5-54CB-42E0-89E0-87B98C7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Psychological aversion to losses; Pension-backed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1A2E740-4BFA-43F8-B002-D3007351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C46C0A-6021-4D1A-9A8E-DC59017B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4D6F53D-8ECA-441C-A08A-FF112CA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4.0%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AB4DA3A-D9E8-4DAF-9550-3A45EF2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102F331-22B6-4178-8B3C-B371D966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054E909-8D23-4D7B-97E6-7A4C76C4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5.0%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C207959-1973-4C87-B68B-0CF93EE4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7AF5A1B-B276-47FC-AC1C-03626B73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608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3A454A8-A568-43BB-A271-BC866FB2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9.0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207C28E-2398-4C7C-B0B8-EA4FE910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98F2DE66-F815-430A-A114-FF04F5D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43A6FF36-8ED5-402D-83FB-5AFF9D7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C704C3B-4951-4F36-9765-ACE3154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YT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5703A5DD-4FD5-4177-80AA-2D02B807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#12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B8DF64E-5537-4A7D-894B-5F4DF02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Yuki Tanaka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63A1F52-D287-4576-AB15-F4587936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38  ·  Tech Consultant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3E9CFD57-36AA-45C7-AAFF-D89CAA0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12700">
            <a:solidFill>
              <a:srgbClr val="E8F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198882EF-9185-4D9B-AD16-11F506D6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12700">
            <a:solidFill>
              <a:srgbClr val="3A6E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CEB95FE-6FF1-49EF-BEC4-C0018873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3A6EA5"/>
                </a:solidFill>
                <a:latin typeface="Calibri"/>
                <a:ea typeface="Calibri"/>
                <a:cs typeface="Calibri"/>
              </a:rPr>
              <a:t>RISK NEUTRAL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3A97C21D-00DC-4348-8E55-34170C9F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56C4207-B2C4-4744-A825-67C5BD23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7875D166-5642-404A-AD73-7949062B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$150,000</a:t>
            </a:r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0FF204F-E786-4BCF-90AD-0B75EF7F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551FF1F9-BB4C-46F7-924C-E6F35F92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$300,000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F82F9567-DB2C-43EB-8829-E2CFBB70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81047C5B-C6FD-4A91-BFE4-2BAC134B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6FCF516A-B8D9-457D-A5CA-19571CE0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60514689-3CA6-42A8-8221-855526F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Growth / Global Diversification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11B0273-9B8A-4C06-B1A2-2D5ED12B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E6B21867-B9DD-4840-A59B-08FF64C5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F4B1F182-0413-4CC7-B9E3-20C9C41C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Currency risk (USD/JPY); Moving in 10 yrs</a:t>
            </a:r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17556A93-C514-4C9C-8F7C-439086D1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D0B1953B-B5C5-44DD-902C-01F7775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A68E3DEE-CBA5-43FA-86DB-7E8668A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6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8.5%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CF9A9DF0-D07D-41DD-A41A-08480A90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7CC0F17-039A-4D96-A297-48D44B28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65" name="Text 63">
            <a:extLst xmlns:a="http://schemas.openxmlformats.org/drawingml/2006/main">
              <a:ext uri="{FF2B5EF4-FFF2-40B4-BE49-F238E27FC236}">
                <a16:creationId xmlns:a16="http://schemas.microsoft.com/office/drawing/2014/main" id="{029EAE5D-B1AC-46E7-9AA5-C4AA9BBD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16.0%</a:t>
            </a:r>
          </a:p>
        </p:txBody>
      </p:sp>
      <p:sp>
        <p:nvSpPr>
          <p:cNvPr id="66" name="Shape 64">
            <a:extLst xmlns:a="http://schemas.openxmlformats.org/drawingml/2006/main">
              <a:ext uri="{FF2B5EF4-FFF2-40B4-BE49-F238E27FC236}">
                <a16:creationId xmlns:a16="http://schemas.microsoft.com/office/drawing/2014/main" id="{DA68BE6F-DDB3-455A-9912-96516030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Text 65">
            <a:extLst xmlns:a="http://schemas.openxmlformats.org/drawingml/2006/main">
              <a:ext uri="{FF2B5EF4-FFF2-40B4-BE49-F238E27FC236}">
                <a16:creationId xmlns:a16="http://schemas.microsoft.com/office/drawing/2014/main" id="{0E6FE893-6CF2-46F4-851B-13092FFB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545A43E5-3034-495E-8713-7E832AF0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3.5</a:t>
            </a:r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9F2C689A-F1E4-4AAE-8B3E-0DB6DCA6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5212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E8E2D8"/>
            </a:solidFill>
            <a:prstDash val="solid"/>
          </a:ln>
          <a:effectLst xmlns:a="http://schemas.openxmlformats.org/drawingml/2006/main"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6BE6C3FA-822E-4285-8DBA-911007D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1188720"/>
            <a:ext cx="374904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ECBD4D18-AF28-4160-A923-6384A06A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2" name="Text 70">
            <a:extLst xmlns:a="http://schemas.openxmlformats.org/drawingml/2006/main">
              <a:ext uri="{FF2B5EF4-FFF2-40B4-BE49-F238E27FC236}">
                <a16:creationId xmlns:a16="http://schemas.microsoft.com/office/drawing/2014/main" id="{590B28D3-9574-4DD5-93E3-98026CB0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1444752"/>
            <a:ext cx="74980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ER</a:t>
            </a:r>
          </a:p>
        </p:txBody>
      </p:sp>
      <p:sp>
        <p:nvSpPr>
          <p:cNvPr id="73" name="Text 71">
            <a:extLst xmlns:a="http://schemas.openxmlformats.org/drawingml/2006/main">
              <a:ext uri="{FF2B5EF4-FFF2-40B4-BE49-F238E27FC236}">
                <a16:creationId xmlns:a16="http://schemas.microsoft.com/office/drawing/2014/main" id="{524C2137-391B-4865-8CC0-F8EBB7CB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136" y="1353312"/>
            <a:ext cx="1325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CASE #14</a:t>
            </a:r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4FFB588E-D92D-4276-81AE-EEEDD5ED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444752"/>
            <a:ext cx="2560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Elena Rossi</a:t>
            </a:r>
          </a:p>
        </p:txBody>
      </p:sp>
      <p:sp>
        <p:nvSpPr>
          <p:cNvPr id="75" name="Text 73">
            <a:extLst xmlns:a="http://schemas.openxmlformats.org/drawingml/2006/main">
              <a:ext uri="{FF2B5EF4-FFF2-40B4-BE49-F238E27FC236}">
                <a16:creationId xmlns:a16="http://schemas.microsoft.com/office/drawing/2014/main" id="{D4E5B8AB-323F-4BEF-AC4A-09916E11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1847088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Age 52  ·  Corporate VP</a:t>
            </a:r>
          </a:p>
        </p:txBody>
      </p:sp>
      <p:sp>
        <p:nvSpPr>
          <p:cNvPr id="76" name="Shape 74">
            <a:extLst xmlns:a="http://schemas.openxmlformats.org/drawingml/2006/main">
              <a:ext uri="{FF2B5EF4-FFF2-40B4-BE49-F238E27FC236}">
                <a16:creationId xmlns:a16="http://schemas.microsoft.com/office/drawing/2014/main" id="{D4C61AB1-E48E-4CF7-84D7-B761E8FA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322576"/>
            <a:ext cx="1325880" cy="237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E"/>
          </a:solidFill>
          <a:ln xmlns:a="http://schemas.openxmlformats.org/drawingml/2006/main" w="12700">
            <a:solidFill>
              <a:srgbClr val="E8F5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68F81B8E-F934-4A75-A9D6-E3B45DB4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382012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8A5E"/>
          </a:solidFill>
          <a:ln xmlns:a="http://schemas.openxmlformats.org/drawingml/2006/main" w="12700">
            <a:solidFill>
              <a:srgbClr val="2D8A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E5D5F317-ACE1-43C4-8DFA-FFFC5E40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322576"/>
            <a:ext cx="1133856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00" b="1">
                <a:solidFill>
                  <a:srgbClr val="2D8A5E"/>
                </a:solidFill>
                <a:latin typeface="Calibri"/>
                <a:ea typeface="Calibri"/>
                <a:cs typeface="Calibri"/>
              </a:rPr>
              <a:t>RISK SEEKING</a:t>
            </a:r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7D285304-4255-4F04-9844-772A5DC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724912"/>
            <a:ext cx="3291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E0D8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78">
            <a:extLst xmlns:a="http://schemas.openxmlformats.org/drawingml/2006/main">
              <a:ext uri="{FF2B5EF4-FFF2-40B4-BE49-F238E27FC236}">
                <a16:creationId xmlns:a16="http://schemas.microsoft.com/office/drawing/2014/main" id="{95BD673D-9BCC-49FB-B0B8-38F1F3F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ANNUAL INCOME</a:t>
            </a:r>
          </a:p>
        </p:txBody>
      </p:sp>
      <p:sp>
        <p:nvSpPr>
          <p:cNvPr id="81" name="Text 79">
            <a:extLst xmlns:a="http://schemas.openxmlformats.org/drawingml/2006/main">
              <a:ext uri="{FF2B5EF4-FFF2-40B4-BE49-F238E27FC236}">
                <a16:creationId xmlns:a16="http://schemas.microsoft.com/office/drawing/2014/main" id="{BB7D7F43-1CA0-4F73-9A83-81480896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$450,000</a:t>
            </a:r>
          </a:p>
        </p:txBody>
      </p:sp>
      <p:sp>
        <p:nvSpPr>
          <p:cNvPr id="82" name="Text 80">
            <a:extLst xmlns:a="http://schemas.openxmlformats.org/drawingml/2006/main">
              <a:ext uri="{FF2B5EF4-FFF2-40B4-BE49-F238E27FC236}">
                <a16:creationId xmlns:a16="http://schemas.microsoft.com/office/drawing/2014/main" id="{735C6B6A-6E78-46B7-89B5-42A13A9F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816352"/>
            <a:ext cx="1645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NET WORTH</a:t>
            </a:r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EDDF9565-CB6E-4C6F-8168-056A15C7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6" y="2999232"/>
            <a:ext cx="1645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$4.0M</a:t>
            </a:r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3BF8CABE-C19F-418A-8EAA-CCFAB771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32918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0F0"/>
          </a:solidFill>
          <a:ln xmlns:a="http://schemas.openxmlformats.org/drawingml/2006/main" w="12700">
            <a:solidFill>
              <a:srgbClr val="E4D0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Shape 83">
            <a:extLst xmlns:a="http://schemas.openxmlformats.org/drawingml/2006/main">
              <a:ext uri="{FF2B5EF4-FFF2-40B4-BE49-F238E27FC236}">
                <a16:creationId xmlns:a16="http://schemas.microsoft.com/office/drawing/2014/main" id="{7A29D41A-80F1-4F14-BCA8-3AEF3225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3456432"/>
            <a:ext cx="54864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Text 84">
            <a:extLst xmlns:a="http://schemas.openxmlformats.org/drawingml/2006/main">
              <a:ext uri="{FF2B5EF4-FFF2-40B4-BE49-F238E27FC236}">
                <a16:creationId xmlns:a16="http://schemas.microsoft.com/office/drawing/2014/main" id="{D838DEA1-28C5-4362-83BC-C96926A9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493008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4A2060"/>
                </a:solidFill>
                <a:latin typeface="Calibri"/>
                <a:ea typeface="Calibri"/>
                <a:cs typeface="Calibri"/>
              </a:rPr>
              <a:t>PRIMARY GOAL</a:t>
            </a:r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5E3ABFC7-BC96-4953-B350-E38716C1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657600"/>
            <a:ext cx="32918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 i="1">
                <a:solidFill>
                  <a:srgbClr val="1A1410"/>
                </a:solidFill>
                <a:latin typeface="Georgia"/>
                <a:ea typeface="Georgia"/>
                <a:cs typeface="Georgia"/>
              </a:rPr>
              <a:t>Tax Efficiency / Sophisticated Growth</a:t>
            </a:r>
          </a:p>
        </p:txBody>
      </p:sp>
      <p:sp>
        <p:nvSpPr>
          <p:cNvPr id="88" name="Shape 86">
            <a:extLst xmlns:a="http://schemas.openxmlformats.org/drawingml/2006/main">
              <a:ext uri="{FF2B5EF4-FFF2-40B4-BE49-F238E27FC236}">
                <a16:creationId xmlns:a16="http://schemas.microsoft.com/office/drawing/2014/main" id="{11D68C05-4391-4CBA-B388-4529045D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4407408"/>
            <a:ext cx="329184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F0"/>
          </a:solidFill>
          <a:ln xmlns:a="http://schemas.openxmlformats.org/drawingml/2006/main" w="6350">
            <a:solidFill>
              <a:srgbClr val="D8D0C4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8F8E125E-F2BF-4192-A69F-CE4694CC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443984"/>
            <a:ext cx="3291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KEY CONSTRAINTS</a:t>
            </a:r>
          </a:p>
        </p:txBody>
      </p:sp>
      <p:sp>
        <p:nvSpPr>
          <p:cNvPr id="90" name="Text 88">
            <a:extLst xmlns:a="http://schemas.openxmlformats.org/drawingml/2006/main">
              <a:ext uri="{FF2B5EF4-FFF2-40B4-BE49-F238E27FC236}">
                <a16:creationId xmlns:a16="http://schemas.microsoft.com/office/drawing/2014/main" id="{DF2F1C85-CF69-46D5-A9AB-9E912F3D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608576"/>
            <a:ext cx="3291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SEC Rule 144 restrictions; High tax bracket</a:t>
            </a:r>
          </a:p>
        </p:txBody>
      </p:sp>
      <p:sp>
        <p:nvSpPr>
          <p:cNvPr id="91" name="Shape 89">
            <a:extLst xmlns:a="http://schemas.openxmlformats.org/drawingml/2006/main">
              <a:ext uri="{FF2B5EF4-FFF2-40B4-BE49-F238E27FC236}">
                <a16:creationId xmlns:a16="http://schemas.microsoft.com/office/drawing/2014/main" id="{AB7E219D-8EC6-4BAE-9285-8D7794CA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Text 90">
            <a:extLst xmlns:a="http://schemas.openxmlformats.org/drawingml/2006/main">
              <a:ext uri="{FF2B5EF4-FFF2-40B4-BE49-F238E27FC236}">
                <a16:creationId xmlns:a16="http://schemas.microsoft.com/office/drawing/2014/main" id="{3A11517D-B905-4AAF-A6DF-5D5E5FE8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E(R)</a:t>
            </a:r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1DA271E9-81D2-47A9-8D77-BC6CC836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10.5%</a:t>
            </a:r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AC42D34E-ED0B-4639-91BF-CC3A431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45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2E317EC0-2B30-43B0-963C-BE12DDBA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STD DEV</a:t>
            </a:r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6AE0D748-B0D0-4A47-B78D-880CEF5B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21.0%</a:t>
            </a:r>
          </a:p>
        </p:txBody>
      </p:sp>
      <p:sp>
        <p:nvSpPr>
          <p:cNvPr id="97" name="Shape 95">
            <a:extLst xmlns:a="http://schemas.openxmlformats.org/drawingml/2006/main">
              <a:ext uri="{FF2B5EF4-FFF2-40B4-BE49-F238E27FC236}">
                <a16:creationId xmlns:a16="http://schemas.microsoft.com/office/drawing/2014/main" id="{35446A88-4A35-4781-82F3-0F72B74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9296" y="5230368"/>
            <a:ext cx="1097280" cy="8778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410"/>
          </a:solidFill>
          <a:ln xmlns:a="http://schemas.openxmlformats.org/drawingml/2006/main" w="635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Text 96">
            <a:extLst xmlns:a="http://schemas.openxmlformats.org/drawingml/2006/main">
              <a:ext uri="{FF2B5EF4-FFF2-40B4-BE49-F238E27FC236}">
                <a16:creationId xmlns:a16="http://schemas.microsoft.com/office/drawing/2014/main" id="{0C1F7698-0DAD-4F61-B265-4C9F0537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584" y="5285232"/>
            <a:ext cx="10607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5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RISK A</a:t>
            </a:r>
          </a:p>
        </p:txBody>
      </p:sp>
      <p:sp>
        <p:nvSpPr>
          <p:cNvPr id="99" name="Text 97">
            <a:extLst xmlns:a="http://schemas.openxmlformats.org/drawingml/2006/main">
              <a:ext uri="{FF2B5EF4-FFF2-40B4-BE49-F238E27FC236}">
                <a16:creationId xmlns:a16="http://schemas.microsoft.com/office/drawing/2014/main" id="{BB8CF713-220B-46AD-9A54-AF04D5BC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5016" y="5486400"/>
            <a:ext cx="1005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2.0</a:t>
            </a:r>
          </a:p>
        </p:txBody>
      </p:sp>
      <p:sp>
        <p:nvSpPr>
          <p:cNvPr id="100" name="Shape 98">
            <a:extLst xmlns:a="http://schemas.openxmlformats.org/drawingml/2006/main">
              <a:ext uri="{FF2B5EF4-FFF2-40B4-BE49-F238E27FC236}">
                <a16:creationId xmlns:a16="http://schemas.microsoft.com/office/drawing/2014/main" id="{3C0F657A-744A-49C8-8944-4736A64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5392"/>
            <a:ext cx="1216152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60"/>
          </a:solidFill>
          <a:ln xmlns:a="http://schemas.openxmlformats.org/drawingml/2006/main" w="12700">
            <a:solidFill>
              <a:srgbClr val="4A206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1" name="Text 99">
            <a:extLst xmlns:a="http://schemas.openxmlformats.org/drawingml/2006/main">
              <a:ext uri="{FF2B5EF4-FFF2-40B4-BE49-F238E27FC236}">
                <a16:creationId xmlns:a16="http://schemas.microsoft.com/office/drawing/2014/main" id="{FE040D04-5C95-4E89-8566-5F4D7215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65392"/>
            <a:ext cx="116128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FFFFFF">
                    <a:alpha val="65000"/>
                  </a:srgbClr>
                </a:solidFill>
                <a:latin typeface="Calibri"/>
                <a:ea typeface="Calibri"/>
                <a:cs typeface="Calibri"/>
              </a:rPr>
              <a:t>BUS331 Investments  ·  Endicott College  ·  Team Four</a:t>
            </a:r>
          </a:p>
        </p:txBody>
      </p:sp>
    </p:spTree>
    <p:extLst>
      <p:ext uri="{BB962C8B-B14F-4D97-AF65-F5344CB8AC3E}">
        <p14:creationId xmlns:p14="http://schemas.microsoft.com/office/powerpoint/2010/main" val="8290863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2026-08-14T17:09:15.4610000Z</dcterms:created>
  <dcterms:modified xsi:type="dcterms:W3CDTF">2026-08-14T17:09:15.4610000Z</dcterms:modified>
</coreProperties>
</file>