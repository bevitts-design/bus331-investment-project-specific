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63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thany Evitts" userId="8bb2a350-e57b-4405-a8b7-63522ecbf55e" providerId="ADAL" clId="{952DF8AD-E85D-44F7-9FA2-389BA78B8B52}"/>
    <pc:docChg chg="custSel modSld">
      <pc:chgData name="Bethany Evitts" userId="8bb2a350-e57b-4405-a8b7-63522ecbf55e" providerId="ADAL" clId="{952DF8AD-E85D-44F7-9FA2-389BA78B8B52}" dt="2026-03-08T18:26:59.371" v="0" actId="478"/>
      <pc:docMkLst>
        <pc:docMk/>
      </pc:docMkLst>
      <pc:sldChg chg="delSp mod">
        <pc:chgData name="Bethany Evitts" userId="8bb2a350-e57b-4405-a8b7-63522ecbf55e" providerId="ADAL" clId="{952DF8AD-E85D-44F7-9FA2-389BA78B8B52}" dt="2026-03-08T18:26:59.371" v="0" actId="478"/>
        <pc:sldMkLst>
          <pc:docMk/>
          <pc:sldMk cId="0" sldId="256"/>
        </pc:sldMkLst>
        <pc:spChg chg="del">
          <ac:chgData name="Bethany Evitts" userId="8bb2a350-e57b-4405-a8b7-63522ecbf55e" providerId="ADAL" clId="{952DF8AD-E85D-44F7-9FA2-389BA78B8B52}" dt="2026-03-08T18:26:59.371" v="0" actId="478"/>
          <ac:spMkLst>
            <pc:docMk/>
            <pc:sldMk cId="0" sldId="256"/>
            <ac:spMk id="25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1108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4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1996928" cy="0"/>
          </a:xfrm>
          <a:prstGeom prst="line">
            <a:avLst/>
          </a:prstGeom>
          <a:noFill/>
          <a:ln w="381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64592" y="859536"/>
            <a:ext cx="11996928" cy="0"/>
          </a:xfrm>
          <a:prstGeom prst="line">
            <a:avLst/>
          </a:prstGeom>
          <a:noFill/>
          <a:ln w="381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1719072"/>
            <a:ext cx="11996928" cy="0"/>
          </a:xfrm>
          <a:prstGeom prst="line">
            <a:avLst/>
          </a:prstGeom>
          <a:noFill/>
          <a:ln w="381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64592" y="2578608"/>
            <a:ext cx="11996928" cy="0"/>
          </a:xfrm>
          <a:prstGeom prst="line">
            <a:avLst/>
          </a:prstGeom>
          <a:noFill/>
          <a:ln w="381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64592" y="3438144"/>
            <a:ext cx="11996928" cy="0"/>
          </a:xfrm>
          <a:prstGeom prst="line">
            <a:avLst/>
          </a:prstGeom>
          <a:noFill/>
          <a:ln w="381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64592" y="4297680"/>
            <a:ext cx="11996928" cy="0"/>
          </a:xfrm>
          <a:prstGeom prst="line">
            <a:avLst/>
          </a:prstGeom>
          <a:noFill/>
          <a:ln w="381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64592" y="5157216"/>
            <a:ext cx="11996928" cy="0"/>
          </a:xfrm>
          <a:prstGeom prst="line">
            <a:avLst/>
          </a:prstGeom>
          <a:noFill/>
          <a:ln w="381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64592" y="6016752"/>
            <a:ext cx="11996928" cy="0"/>
          </a:xfrm>
          <a:prstGeom prst="line">
            <a:avLst/>
          </a:prstGeom>
          <a:noFill/>
          <a:ln w="381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128016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Client Scenario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502920" y="25146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i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Profiles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50292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kern="0" spc="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BUS331 Investments  ·  Endicott College  ·  Spring 2026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601200" y="1188720"/>
            <a:ext cx="2194560" cy="566928"/>
          </a:xfrm>
          <a:prstGeom prst="rect">
            <a:avLst/>
          </a:prstGeom>
          <a:solidFill>
            <a:srgbClr val="2B4A6B"/>
          </a:solidFill>
          <a:ln w="12700">
            <a:solidFill>
              <a:srgbClr val="2B4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601200" y="11887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1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601200" y="1993392"/>
            <a:ext cx="2194560" cy="566928"/>
          </a:xfrm>
          <a:prstGeom prst="rect">
            <a:avLst/>
          </a:prstGeom>
          <a:solidFill>
            <a:srgbClr val="6B3A1F"/>
          </a:solidFill>
          <a:ln w="12700">
            <a:solidFill>
              <a:srgbClr val="6B3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601200" y="199339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2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601200" y="2798064"/>
            <a:ext cx="2194560" cy="566928"/>
          </a:xfrm>
          <a:prstGeom prst="rect">
            <a:avLst/>
          </a:prstGeom>
          <a:solidFill>
            <a:srgbClr val="2D5A3D"/>
          </a:solidFill>
          <a:ln w="12700">
            <a:solidFill>
              <a:srgbClr val="2D5A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601200" y="279806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3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601200" y="3602736"/>
            <a:ext cx="2194560" cy="566928"/>
          </a:xfrm>
          <a:prstGeom prst="rect">
            <a:avLst/>
          </a:prstGeom>
          <a:solidFill>
            <a:srgbClr val="4A2060"/>
          </a:solidFill>
          <a:ln w="12700">
            <a:solidFill>
              <a:srgbClr val="4A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601200" y="360273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4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601200" y="4407408"/>
            <a:ext cx="2194560" cy="56692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601200" y="440740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5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2B4A6B"/>
          </a:solidFill>
          <a:ln w="12700">
            <a:solidFill>
              <a:srgbClr val="2B4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" y="-457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>
                    <a:alpha val="25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371600" y="7315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400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ONE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371600" y="457200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One · Client Profiles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789920" y="2743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5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" y="1188720"/>
            <a:ext cx="3749040" cy="52120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37160" y="1188720"/>
            <a:ext cx="3749040" cy="109728"/>
          </a:xfrm>
          <a:prstGeom prst="rect">
            <a:avLst/>
          </a:prstGeom>
          <a:solidFill>
            <a:srgbClr val="2B4A6B"/>
          </a:solidFill>
          <a:ln w="12700">
            <a:solidFill>
              <a:srgbClr val="2B4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65760" y="1444752"/>
            <a:ext cx="749808" cy="749808"/>
          </a:xfrm>
          <a:prstGeom prst="ellipse">
            <a:avLst/>
          </a:prstGeom>
          <a:solidFill>
            <a:srgbClr val="2B4A6B"/>
          </a:solidFill>
          <a:ln w="12700">
            <a:solidFill>
              <a:srgbClr val="2B4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423160" y="135331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#01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16152" y="144475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Eleanor Vance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16152" y="18470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72  ·  Retired Librarian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2322576"/>
            <a:ext cx="1325880" cy="237744"/>
          </a:xfrm>
          <a:prstGeom prst="rect">
            <a:avLst/>
          </a:prstGeom>
          <a:solidFill>
            <a:srgbClr val="FFF0E8"/>
          </a:solidFill>
          <a:ln w="12700">
            <a:solidFill>
              <a:srgbClr val="FFF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29768" y="2382012"/>
            <a:ext cx="91440" cy="91440"/>
          </a:xfrm>
          <a:prstGeom prst="ellipse">
            <a:avLst/>
          </a:prstGeom>
          <a:solidFill>
            <a:srgbClr val="C05B30"/>
          </a:solidFill>
          <a:ln w="12700">
            <a:solidFill>
              <a:srgbClr val="C05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57784" y="2322576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C05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AVERSE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2724912"/>
            <a:ext cx="3291840" cy="0"/>
          </a:xfrm>
          <a:prstGeom prst="line">
            <a:avLst/>
          </a:prstGeom>
          <a:noFill/>
          <a:ln w="6350">
            <a:solidFill>
              <a:srgbClr val="E0D8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65760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INCOME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65760" y="29992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$30,000 (Pension)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103120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103120" y="29992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$1.2M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" y="3456432"/>
            <a:ext cx="3291840" cy="804672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65760" y="3456432"/>
            <a:ext cx="54864" cy="804672"/>
          </a:xfrm>
          <a:prstGeom prst="rect">
            <a:avLst/>
          </a:prstGeom>
          <a:solidFill>
            <a:srgbClr val="2B4A6B"/>
          </a:solidFill>
          <a:ln w="12700">
            <a:solidFill>
              <a:srgbClr val="2B4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84632" y="349300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2B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GOAL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84632" y="365760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Capital Preservation / Income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65760" y="4407408"/>
            <a:ext cx="3291840" cy="658368"/>
          </a:xfrm>
          <a:prstGeom prst="rect">
            <a:avLst/>
          </a:prstGeom>
          <a:solidFill>
            <a:srgbClr val="F8F5F0"/>
          </a:solidFill>
          <a:ln w="6350">
            <a:solidFill>
              <a:srgbClr val="D8D0C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4632" y="4443984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CONSTRAINTS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484632" y="46085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liquidity needs for medical; 2-5yr horizon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65760" y="5230368"/>
            <a:ext cx="1097280" cy="877824"/>
          </a:xfrm>
          <a:prstGeom prst="rect">
            <a:avLst/>
          </a:prstGeom>
          <a:solidFill>
            <a:srgbClr val="2B4A6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84048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E(R)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411480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4.5%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1463040" y="5230368"/>
            <a:ext cx="1097280" cy="877824"/>
          </a:xfrm>
          <a:prstGeom prst="rect">
            <a:avLst/>
          </a:prstGeom>
          <a:solidFill>
            <a:srgbClr val="263545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481328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DEV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1508760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6.0%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2560320" y="5230368"/>
            <a:ext cx="1097280" cy="877824"/>
          </a:xfrm>
          <a:prstGeom prst="rect">
            <a:avLst/>
          </a:prstGeom>
          <a:solidFill>
            <a:srgbClr val="1A141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2578608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2606040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8.0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4041648" y="1188720"/>
            <a:ext cx="3749040" cy="52120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041648" y="1188720"/>
            <a:ext cx="3749040" cy="109728"/>
          </a:xfrm>
          <a:prstGeom prst="rect">
            <a:avLst/>
          </a:prstGeom>
          <a:solidFill>
            <a:srgbClr val="2B4A6B"/>
          </a:solidFill>
          <a:ln w="12700">
            <a:solidFill>
              <a:srgbClr val="2B4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270248" y="1444752"/>
            <a:ext cx="749808" cy="749808"/>
          </a:xfrm>
          <a:prstGeom prst="ellipse">
            <a:avLst/>
          </a:prstGeom>
          <a:solidFill>
            <a:srgbClr val="2B4A6B"/>
          </a:solidFill>
          <a:ln w="12700">
            <a:solidFill>
              <a:srgbClr val="2B4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270248" y="1444752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</a:t>
            </a:r>
            <a:endParaRPr lang="en-US" sz="1700" dirty="0"/>
          </a:p>
        </p:txBody>
      </p:sp>
      <p:sp>
        <p:nvSpPr>
          <p:cNvPr id="42" name="Text 40"/>
          <p:cNvSpPr/>
          <p:nvPr/>
        </p:nvSpPr>
        <p:spPr>
          <a:xfrm>
            <a:off x="6327648" y="135331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#02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120640" y="144475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Marcus Chen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120640" y="18470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29  ·  Software Engineer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270248" y="2322576"/>
            <a:ext cx="1325880" cy="237744"/>
          </a:xfrm>
          <a:prstGeom prst="rect">
            <a:avLst/>
          </a:prstGeom>
          <a:solidFill>
            <a:srgbClr val="E8F5EE"/>
          </a:solidFill>
          <a:ln w="12700">
            <a:solidFill>
              <a:srgbClr val="E8F5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334256" y="2382012"/>
            <a:ext cx="91440" cy="91440"/>
          </a:xfrm>
          <a:prstGeom prst="ellipse">
            <a:avLst/>
          </a:prstGeom>
          <a:solidFill>
            <a:srgbClr val="2D8A5E"/>
          </a:solidFill>
          <a:ln w="12700">
            <a:solidFill>
              <a:srgbClr val="2D8A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462272" y="2322576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2D8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SEEKING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4270248" y="2724912"/>
            <a:ext cx="3291840" cy="0"/>
          </a:xfrm>
          <a:prstGeom prst="line">
            <a:avLst/>
          </a:prstGeom>
          <a:noFill/>
          <a:ln w="6350">
            <a:solidFill>
              <a:srgbClr val="E0D8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270248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INCOME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4270248" y="29992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$210,000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007608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6007608" y="29992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$150,000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270248" y="3456432"/>
            <a:ext cx="3291840" cy="804672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4270248" y="3456432"/>
            <a:ext cx="54864" cy="804672"/>
          </a:xfrm>
          <a:prstGeom prst="rect">
            <a:avLst/>
          </a:prstGeom>
          <a:solidFill>
            <a:srgbClr val="2B4A6B"/>
          </a:solidFill>
          <a:ln w="12700">
            <a:solidFill>
              <a:srgbClr val="2B4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4389120" y="349300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2B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GOAL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4389120" y="365760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Aggressive Growth / Early Retirement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4270248" y="4407408"/>
            <a:ext cx="3291840" cy="658368"/>
          </a:xfrm>
          <a:prstGeom prst="rect">
            <a:avLst/>
          </a:prstGeom>
          <a:solidFill>
            <a:srgbClr val="F8F5F0"/>
          </a:solidFill>
          <a:ln w="6350">
            <a:solidFill>
              <a:srgbClr val="D8D0C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4389120" y="4443984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CONSTRAINTS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4389120" y="46085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stock concentration; High volatility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4270248" y="5230368"/>
            <a:ext cx="1097280" cy="877824"/>
          </a:xfrm>
          <a:prstGeom prst="rect">
            <a:avLst/>
          </a:prstGeom>
          <a:solidFill>
            <a:srgbClr val="2B4A6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288536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E(R)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4315968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11.0%</a:t>
            </a:r>
            <a:endParaRPr lang="en-US" sz="2000" dirty="0"/>
          </a:p>
        </p:txBody>
      </p:sp>
      <p:sp>
        <p:nvSpPr>
          <p:cNvPr id="63" name="Shape 61"/>
          <p:cNvSpPr/>
          <p:nvPr/>
        </p:nvSpPr>
        <p:spPr>
          <a:xfrm>
            <a:off x="5367528" y="5230368"/>
            <a:ext cx="1097280" cy="877824"/>
          </a:xfrm>
          <a:prstGeom prst="rect">
            <a:avLst/>
          </a:prstGeom>
          <a:solidFill>
            <a:srgbClr val="263545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5385816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DEV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5413248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22.0%</a:t>
            </a:r>
            <a:endParaRPr lang="en-US" sz="2000" dirty="0"/>
          </a:p>
        </p:txBody>
      </p:sp>
      <p:sp>
        <p:nvSpPr>
          <p:cNvPr id="66" name="Shape 64"/>
          <p:cNvSpPr/>
          <p:nvPr/>
        </p:nvSpPr>
        <p:spPr>
          <a:xfrm>
            <a:off x="6464808" y="5230368"/>
            <a:ext cx="1097280" cy="877824"/>
          </a:xfrm>
          <a:prstGeom prst="rect">
            <a:avLst/>
          </a:prstGeom>
          <a:solidFill>
            <a:srgbClr val="1A141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6483096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6510528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1.5</a:t>
            </a:r>
            <a:endParaRPr lang="en-US" sz="2000" dirty="0"/>
          </a:p>
        </p:txBody>
      </p:sp>
      <p:sp>
        <p:nvSpPr>
          <p:cNvPr id="69" name="Shape 67"/>
          <p:cNvSpPr/>
          <p:nvPr/>
        </p:nvSpPr>
        <p:spPr>
          <a:xfrm>
            <a:off x="7946136" y="1188720"/>
            <a:ext cx="3749040" cy="52120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7946136" y="1188720"/>
            <a:ext cx="3749040" cy="109728"/>
          </a:xfrm>
          <a:prstGeom prst="rect">
            <a:avLst/>
          </a:prstGeom>
          <a:solidFill>
            <a:srgbClr val="2B4A6B"/>
          </a:solidFill>
          <a:ln w="12700">
            <a:solidFill>
              <a:srgbClr val="2B4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8174736" y="1444752"/>
            <a:ext cx="749808" cy="749808"/>
          </a:xfrm>
          <a:prstGeom prst="ellipse">
            <a:avLst/>
          </a:prstGeom>
          <a:solidFill>
            <a:srgbClr val="2B4A6B"/>
          </a:solidFill>
          <a:ln w="12700">
            <a:solidFill>
              <a:srgbClr val="2B4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8174736" y="1444752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DS</a:t>
            </a:r>
            <a:endParaRPr lang="en-US" sz="1700" dirty="0"/>
          </a:p>
        </p:txBody>
      </p:sp>
      <p:sp>
        <p:nvSpPr>
          <p:cNvPr id="73" name="Text 71"/>
          <p:cNvSpPr/>
          <p:nvPr/>
        </p:nvSpPr>
        <p:spPr>
          <a:xfrm>
            <a:off x="10232136" y="135331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#03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9025128" y="144475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David &amp; Sarah Miller</a:t>
            </a:r>
            <a:endParaRPr lang="en-US" sz="1400" dirty="0"/>
          </a:p>
        </p:txBody>
      </p:sp>
      <p:sp>
        <p:nvSpPr>
          <p:cNvPr id="75" name="Text 73"/>
          <p:cNvSpPr/>
          <p:nvPr/>
        </p:nvSpPr>
        <p:spPr>
          <a:xfrm>
            <a:off x="9025128" y="18470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48/46  ·  Middle Management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8174736" y="2322576"/>
            <a:ext cx="1325880" cy="237744"/>
          </a:xfrm>
          <a:prstGeom prst="rect">
            <a:avLst/>
          </a:prstGeom>
          <a:solidFill>
            <a:srgbClr val="E8F0FF"/>
          </a:solidFill>
          <a:ln w="12700">
            <a:solidFill>
              <a:srgbClr val="E8F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8238744" y="2382012"/>
            <a:ext cx="91440" cy="914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8366760" y="2322576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NEUTRAL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8174736" y="2724912"/>
            <a:ext cx="3291840" cy="0"/>
          </a:xfrm>
          <a:prstGeom prst="line">
            <a:avLst/>
          </a:prstGeom>
          <a:noFill/>
          <a:ln w="6350">
            <a:solidFill>
              <a:srgbClr val="E0D8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8174736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INCOME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8174736" y="29992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$165,000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9912096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9912096" y="29992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$450,000</a:t>
            </a:r>
            <a:endParaRPr lang="en-US" sz="1200" dirty="0"/>
          </a:p>
        </p:txBody>
      </p:sp>
      <p:sp>
        <p:nvSpPr>
          <p:cNvPr id="84" name="Shape 82"/>
          <p:cNvSpPr/>
          <p:nvPr/>
        </p:nvSpPr>
        <p:spPr>
          <a:xfrm>
            <a:off x="8174736" y="3456432"/>
            <a:ext cx="3291840" cy="804672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8174736" y="3456432"/>
            <a:ext cx="54864" cy="804672"/>
          </a:xfrm>
          <a:prstGeom prst="rect">
            <a:avLst/>
          </a:prstGeom>
          <a:solidFill>
            <a:srgbClr val="2B4A6B"/>
          </a:solidFill>
          <a:ln w="12700">
            <a:solidFill>
              <a:srgbClr val="2B4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8293608" y="349300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2B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GOAL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8293608" y="365760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College Funding / Retirement</a:t>
            </a:r>
            <a:endParaRPr lang="en-US" sz="1150" dirty="0"/>
          </a:p>
        </p:txBody>
      </p:sp>
      <p:sp>
        <p:nvSpPr>
          <p:cNvPr id="88" name="Shape 86"/>
          <p:cNvSpPr/>
          <p:nvPr/>
        </p:nvSpPr>
        <p:spPr>
          <a:xfrm>
            <a:off x="8174736" y="4407408"/>
            <a:ext cx="3291840" cy="658368"/>
          </a:xfrm>
          <a:prstGeom prst="rect">
            <a:avLst/>
          </a:prstGeom>
          <a:solidFill>
            <a:srgbClr val="F8F5F0"/>
          </a:solidFill>
          <a:ln w="6350">
            <a:solidFill>
              <a:srgbClr val="D8D0C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8293608" y="4443984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CONSTRAINTS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8293608" y="46085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Tuition payments starting in 3 years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8174736" y="5230368"/>
            <a:ext cx="1097280" cy="877824"/>
          </a:xfrm>
          <a:prstGeom prst="rect">
            <a:avLst/>
          </a:prstGeom>
          <a:solidFill>
            <a:srgbClr val="2B4A6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90"/>
          <p:cNvSpPr/>
          <p:nvPr/>
        </p:nvSpPr>
        <p:spPr>
          <a:xfrm>
            <a:off x="8193024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E(R)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8220456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7.0%</a:t>
            </a:r>
            <a:endParaRPr lang="en-US" sz="2000" dirty="0"/>
          </a:p>
        </p:txBody>
      </p:sp>
      <p:sp>
        <p:nvSpPr>
          <p:cNvPr id="94" name="Shape 92"/>
          <p:cNvSpPr/>
          <p:nvPr/>
        </p:nvSpPr>
        <p:spPr>
          <a:xfrm>
            <a:off x="9272016" y="5230368"/>
            <a:ext cx="1097280" cy="877824"/>
          </a:xfrm>
          <a:prstGeom prst="rect">
            <a:avLst/>
          </a:prstGeom>
          <a:solidFill>
            <a:srgbClr val="263545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93"/>
          <p:cNvSpPr/>
          <p:nvPr/>
        </p:nvSpPr>
        <p:spPr>
          <a:xfrm>
            <a:off x="9290304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DEV</a:t>
            </a:r>
            <a:endParaRPr lang="en-US" sz="650" dirty="0"/>
          </a:p>
        </p:txBody>
      </p:sp>
      <p:sp>
        <p:nvSpPr>
          <p:cNvPr id="96" name="Text 94"/>
          <p:cNvSpPr/>
          <p:nvPr/>
        </p:nvSpPr>
        <p:spPr>
          <a:xfrm>
            <a:off x="9317736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12.0%</a:t>
            </a:r>
            <a:endParaRPr lang="en-US" sz="2000" dirty="0"/>
          </a:p>
        </p:txBody>
      </p:sp>
      <p:sp>
        <p:nvSpPr>
          <p:cNvPr id="97" name="Shape 95"/>
          <p:cNvSpPr/>
          <p:nvPr/>
        </p:nvSpPr>
        <p:spPr>
          <a:xfrm>
            <a:off x="10369296" y="5230368"/>
            <a:ext cx="1097280" cy="877824"/>
          </a:xfrm>
          <a:prstGeom prst="rect">
            <a:avLst/>
          </a:prstGeom>
          <a:solidFill>
            <a:srgbClr val="1A141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Text 96"/>
          <p:cNvSpPr/>
          <p:nvPr/>
        </p:nvSpPr>
        <p:spPr>
          <a:xfrm>
            <a:off x="10387584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</a:t>
            </a:r>
            <a:endParaRPr lang="en-US" sz="650" dirty="0"/>
          </a:p>
        </p:txBody>
      </p:sp>
      <p:sp>
        <p:nvSpPr>
          <p:cNvPr id="99" name="Text 97"/>
          <p:cNvSpPr/>
          <p:nvPr/>
        </p:nvSpPr>
        <p:spPr>
          <a:xfrm>
            <a:off x="10415016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4.0</a:t>
            </a:r>
            <a:endParaRPr lang="en-US" sz="2000" dirty="0"/>
          </a:p>
        </p:txBody>
      </p:sp>
      <p:sp>
        <p:nvSpPr>
          <p:cNvPr id="100" name="Shape 98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2B4A6B"/>
          </a:solidFill>
          <a:ln w="12700">
            <a:solidFill>
              <a:srgbClr val="2B4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274320" y="6565392"/>
            <a:ext cx="1161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BUS331 Investments  ·  Endicott College  ·  Team One</a:t>
            </a:r>
            <a:endParaRPr lang="en-US" sz="900" dirty="0"/>
          </a:p>
        </p:txBody>
      </p:sp>
      <p:sp>
        <p:nvSpPr>
          <p:cNvPr id="104" name="Text 39">
            <a:extLst>
              <a:ext uri="{FF2B5EF4-FFF2-40B4-BE49-F238E27FC236}">
                <a16:creationId xmlns:a16="http://schemas.microsoft.com/office/drawing/2014/main" id="{701936F2-F6CB-2411-1711-A20E17F6CF15}"/>
              </a:ext>
            </a:extLst>
          </p:cNvPr>
          <p:cNvSpPr/>
          <p:nvPr/>
        </p:nvSpPr>
        <p:spPr>
          <a:xfrm>
            <a:off x="379476" y="146304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4099662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6B3A1F"/>
          </a:solidFill>
          <a:ln w="12700">
            <a:solidFill>
              <a:srgbClr val="6B3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" y="-457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>
                    <a:alpha val="25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371600" y="7315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400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TWO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371600" y="457200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Two · Client Profiles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789920" y="2743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" y="1188720"/>
            <a:ext cx="3749040" cy="52120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37160" y="1188720"/>
            <a:ext cx="3749040" cy="109728"/>
          </a:xfrm>
          <a:prstGeom prst="rect">
            <a:avLst/>
          </a:prstGeom>
          <a:solidFill>
            <a:srgbClr val="6B3A1F"/>
          </a:solidFill>
          <a:ln w="12700">
            <a:solidFill>
              <a:srgbClr val="6B3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65760" y="1444752"/>
            <a:ext cx="749808" cy="749808"/>
          </a:xfrm>
          <a:prstGeom prst="ellipse">
            <a:avLst/>
          </a:prstGeom>
          <a:solidFill>
            <a:srgbClr val="6B3A1F"/>
          </a:solidFill>
          <a:ln w="12700">
            <a:solidFill>
              <a:srgbClr val="6B3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5760" y="1444752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JR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423160" y="135331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#05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16152" y="144475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Javier Rodriguez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16152" y="18470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55  ·  Business Owner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2322576"/>
            <a:ext cx="1325880" cy="237744"/>
          </a:xfrm>
          <a:prstGeom prst="rect">
            <a:avLst/>
          </a:prstGeom>
          <a:solidFill>
            <a:srgbClr val="E8F0FF"/>
          </a:solidFill>
          <a:ln w="12700">
            <a:solidFill>
              <a:srgbClr val="E8F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29768" y="2382012"/>
            <a:ext cx="91440" cy="914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57784" y="2322576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NEUTRAL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2724912"/>
            <a:ext cx="3291840" cy="0"/>
          </a:xfrm>
          <a:prstGeom prst="line">
            <a:avLst/>
          </a:prstGeom>
          <a:noFill/>
          <a:ln w="6350">
            <a:solidFill>
              <a:srgbClr val="E0D8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65760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INCOME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65760" y="29992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$200,000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103120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103120" y="29992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$3.0M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" y="3456432"/>
            <a:ext cx="3291840" cy="804672"/>
          </a:xfrm>
          <a:prstGeom prst="rect">
            <a:avLst/>
          </a:prstGeom>
          <a:solidFill>
            <a:srgbClr val="F0E0D0"/>
          </a:solidFill>
          <a:ln w="12700">
            <a:solidFill>
              <a:srgbClr val="F0E0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65760" y="3456432"/>
            <a:ext cx="54864" cy="804672"/>
          </a:xfrm>
          <a:prstGeom prst="rect">
            <a:avLst/>
          </a:prstGeom>
          <a:solidFill>
            <a:srgbClr val="6B3A1F"/>
          </a:solidFill>
          <a:ln w="12700">
            <a:solidFill>
              <a:srgbClr val="6B3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84632" y="349300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6B3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GOAL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84632" y="365760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Diversification / Business Exit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65760" y="4407408"/>
            <a:ext cx="3291840" cy="658368"/>
          </a:xfrm>
          <a:prstGeom prst="rect">
            <a:avLst/>
          </a:prstGeom>
          <a:solidFill>
            <a:srgbClr val="F8F5F0"/>
          </a:solidFill>
          <a:ln w="6350">
            <a:solidFill>
              <a:srgbClr val="D8D0C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4632" y="4443984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CONSTRAINTS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484632" y="46085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Illiquid business assets; Tax-sensitive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65760" y="5230368"/>
            <a:ext cx="1097280" cy="877824"/>
          </a:xfrm>
          <a:prstGeom prst="rect">
            <a:avLst/>
          </a:prstGeom>
          <a:solidFill>
            <a:srgbClr val="6B3A1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84048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E(R)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411480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7.5%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1463040" y="5230368"/>
            <a:ext cx="1097280" cy="877824"/>
          </a:xfrm>
          <a:prstGeom prst="rect">
            <a:avLst/>
          </a:prstGeom>
          <a:solidFill>
            <a:srgbClr val="263545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481328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DEV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1508760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14.0%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2560320" y="5230368"/>
            <a:ext cx="1097280" cy="877824"/>
          </a:xfrm>
          <a:prstGeom prst="rect">
            <a:avLst/>
          </a:prstGeom>
          <a:solidFill>
            <a:srgbClr val="1A141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2578608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2606040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4.5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4041648" y="1188720"/>
            <a:ext cx="3749040" cy="52120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041648" y="1188720"/>
            <a:ext cx="3749040" cy="109728"/>
          </a:xfrm>
          <a:prstGeom prst="rect">
            <a:avLst/>
          </a:prstGeom>
          <a:solidFill>
            <a:srgbClr val="6B3A1F"/>
          </a:solidFill>
          <a:ln w="12700">
            <a:solidFill>
              <a:srgbClr val="6B3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270248" y="1444752"/>
            <a:ext cx="749808" cy="749808"/>
          </a:xfrm>
          <a:prstGeom prst="ellipse">
            <a:avLst/>
          </a:prstGeom>
          <a:solidFill>
            <a:srgbClr val="6B3A1F"/>
          </a:solidFill>
          <a:ln w="12700">
            <a:solidFill>
              <a:srgbClr val="6B3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270248" y="1444752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LS</a:t>
            </a:r>
            <a:endParaRPr lang="en-US" sz="1700" dirty="0"/>
          </a:p>
        </p:txBody>
      </p:sp>
      <p:sp>
        <p:nvSpPr>
          <p:cNvPr id="42" name="Text 40"/>
          <p:cNvSpPr/>
          <p:nvPr/>
        </p:nvSpPr>
        <p:spPr>
          <a:xfrm>
            <a:off x="6327648" y="135331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#07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120640" y="144475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Linda Sterling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120640" y="18470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51  ·  Marketing Director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270248" y="2322576"/>
            <a:ext cx="1325880" cy="237744"/>
          </a:xfrm>
          <a:prstGeom prst="rect">
            <a:avLst/>
          </a:prstGeom>
          <a:solidFill>
            <a:srgbClr val="FFF0E8"/>
          </a:solidFill>
          <a:ln w="12700">
            <a:solidFill>
              <a:srgbClr val="FFF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334256" y="2382012"/>
            <a:ext cx="91440" cy="91440"/>
          </a:xfrm>
          <a:prstGeom prst="ellipse">
            <a:avLst/>
          </a:prstGeom>
          <a:solidFill>
            <a:srgbClr val="C05B30"/>
          </a:solidFill>
          <a:ln w="12700">
            <a:solidFill>
              <a:srgbClr val="C05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462272" y="2322576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C05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AVERSE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4270248" y="2724912"/>
            <a:ext cx="3291840" cy="0"/>
          </a:xfrm>
          <a:prstGeom prst="line">
            <a:avLst/>
          </a:prstGeom>
          <a:noFill/>
          <a:ln w="6350">
            <a:solidFill>
              <a:srgbClr val="E0D8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270248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INCOME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4270248" y="29992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$95,000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007608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6007608" y="29992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$600,000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270248" y="3456432"/>
            <a:ext cx="3291840" cy="804672"/>
          </a:xfrm>
          <a:prstGeom prst="rect">
            <a:avLst/>
          </a:prstGeom>
          <a:solidFill>
            <a:srgbClr val="F0E0D0"/>
          </a:solidFill>
          <a:ln w="12700">
            <a:solidFill>
              <a:srgbClr val="F0E0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4270248" y="3456432"/>
            <a:ext cx="54864" cy="804672"/>
          </a:xfrm>
          <a:prstGeom prst="rect">
            <a:avLst/>
          </a:prstGeom>
          <a:solidFill>
            <a:srgbClr val="6B3A1F"/>
          </a:solidFill>
          <a:ln w="12700">
            <a:solidFill>
              <a:srgbClr val="6B3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4389120" y="349300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6B3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GOAL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4389120" y="365760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Stability / Home Purchase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4270248" y="4407408"/>
            <a:ext cx="3291840" cy="658368"/>
          </a:xfrm>
          <a:prstGeom prst="rect">
            <a:avLst/>
          </a:prstGeom>
          <a:solidFill>
            <a:srgbClr val="F8F5F0"/>
          </a:solidFill>
          <a:ln w="6350">
            <a:solidFill>
              <a:srgbClr val="D8D0C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4389120" y="4443984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CONSTRAINTS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4389120" y="46085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$150k cash for home in 12 months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4270248" y="5230368"/>
            <a:ext cx="1097280" cy="877824"/>
          </a:xfrm>
          <a:prstGeom prst="rect">
            <a:avLst/>
          </a:prstGeom>
          <a:solidFill>
            <a:srgbClr val="6B3A1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288536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E(R)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4315968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5.5%</a:t>
            </a:r>
            <a:endParaRPr lang="en-US" sz="2000" dirty="0"/>
          </a:p>
        </p:txBody>
      </p:sp>
      <p:sp>
        <p:nvSpPr>
          <p:cNvPr id="63" name="Shape 61"/>
          <p:cNvSpPr/>
          <p:nvPr/>
        </p:nvSpPr>
        <p:spPr>
          <a:xfrm>
            <a:off x="5367528" y="5230368"/>
            <a:ext cx="1097280" cy="877824"/>
          </a:xfrm>
          <a:prstGeom prst="rect">
            <a:avLst/>
          </a:prstGeom>
          <a:solidFill>
            <a:srgbClr val="263545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5385816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DEV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5413248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9.0%</a:t>
            </a:r>
            <a:endParaRPr lang="en-US" sz="2000" dirty="0"/>
          </a:p>
        </p:txBody>
      </p:sp>
      <p:sp>
        <p:nvSpPr>
          <p:cNvPr id="66" name="Shape 64"/>
          <p:cNvSpPr/>
          <p:nvPr/>
        </p:nvSpPr>
        <p:spPr>
          <a:xfrm>
            <a:off x="6464808" y="5230368"/>
            <a:ext cx="1097280" cy="877824"/>
          </a:xfrm>
          <a:prstGeom prst="rect">
            <a:avLst/>
          </a:prstGeom>
          <a:solidFill>
            <a:srgbClr val="1A141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6483096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6510528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6.0</a:t>
            </a:r>
            <a:endParaRPr lang="en-US" sz="2000" dirty="0"/>
          </a:p>
        </p:txBody>
      </p:sp>
      <p:sp>
        <p:nvSpPr>
          <p:cNvPr id="69" name="Shape 67"/>
          <p:cNvSpPr/>
          <p:nvPr/>
        </p:nvSpPr>
        <p:spPr>
          <a:xfrm>
            <a:off x="7946136" y="1188720"/>
            <a:ext cx="3749040" cy="52120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7946136" y="1188720"/>
            <a:ext cx="3749040" cy="109728"/>
          </a:xfrm>
          <a:prstGeom prst="rect">
            <a:avLst/>
          </a:prstGeom>
          <a:solidFill>
            <a:srgbClr val="6B3A1F"/>
          </a:solidFill>
          <a:ln w="12700">
            <a:solidFill>
              <a:srgbClr val="6B3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8174736" y="1444752"/>
            <a:ext cx="749808" cy="749808"/>
          </a:xfrm>
          <a:prstGeom prst="ellipse">
            <a:avLst/>
          </a:prstGeom>
          <a:solidFill>
            <a:srgbClr val="6B3A1F"/>
          </a:solidFill>
          <a:ln w="12700">
            <a:solidFill>
              <a:srgbClr val="6B3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8174736" y="1444752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RH</a:t>
            </a:r>
            <a:endParaRPr lang="en-US" sz="1700" dirty="0"/>
          </a:p>
        </p:txBody>
      </p:sp>
      <p:sp>
        <p:nvSpPr>
          <p:cNvPr id="73" name="Text 71"/>
          <p:cNvSpPr/>
          <p:nvPr/>
        </p:nvSpPr>
        <p:spPr>
          <a:xfrm>
            <a:off x="10232136" y="135331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#08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9025128" y="144475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Robert Halloway</a:t>
            </a:r>
            <a:endParaRPr lang="en-US" sz="1400" dirty="0"/>
          </a:p>
        </p:txBody>
      </p:sp>
      <p:sp>
        <p:nvSpPr>
          <p:cNvPr id="75" name="Text 73"/>
          <p:cNvSpPr/>
          <p:nvPr/>
        </p:nvSpPr>
        <p:spPr>
          <a:xfrm>
            <a:off x="9025128" y="18470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58  ·  Retail Manager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8174736" y="2322576"/>
            <a:ext cx="1325880" cy="237744"/>
          </a:xfrm>
          <a:prstGeom prst="rect">
            <a:avLst/>
          </a:prstGeom>
          <a:solidFill>
            <a:srgbClr val="E8F5EE"/>
          </a:solidFill>
          <a:ln w="12700">
            <a:solidFill>
              <a:srgbClr val="E8F5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8238744" y="2382012"/>
            <a:ext cx="91440" cy="91440"/>
          </a:xfrm>
          <a:prstGeom prst="ellipse">
            <a:avLst/>
          </a:prstGeom>
          <a:solidFill>
            <a:srgbClr val="2D8A5E"/>
          </a:solidFill>
          <a:ln w="12700">
            <a:solidFill>
              <a:srgbClr val="2D8A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8366760" y="2322576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2D8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SEEKING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8174736" y="2724912"/>
            <a:ext cx="3291840" cy="0"/>
          </a:xfrm>
          <a:prstGeom prst="line">
            <a:avLst/>
          </a:prstGeom>
          <a:noFill/>
          <a:ln w="6350">
            <a:solidFill>
              <a:srgbClr val="E0D8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8174736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INCOME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8174736" y="29992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$70,000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9912096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9912096" y="29992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$120,000</a:t>
            </a:r>
            <a:endParaRPr lang="en-US" sz="1200" dirty="0"/>
          </a:p>
        </p:txBody>
      </p:sp>
      <p:sp>
        <p:nvSpPr>
          <p:cNvPr id="84" name="Shape 82"/>
          <p:cNvSpPr/>
          <p:nvPr/>
        </p:nvSpPr>
        <p:spPr>
          <a:xfrm>
            <a:off x="8174736" y="3456432"/>
            <a:ext cx="3291840" cy="804672"/>
          </a:xfrm>
          <a:prstGeom prst="rect">
            <a:avLst/>
          </a:prstGeom>
          <a:solidFill>
            <a:srgbClr val="F0E0D0"/>
          </a:solidFill>
          <a:ln w="12700">
            <a:solidFill>
              <a:srgbClr val="F0E0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8174736" y="3456432"/>
            <a:ext cx="54864" cy="804672"/>
          </a:xfrm>
          <a:prstGeom prst="rect">
            <a:avLst/>
          </a:prstGeom>
          <a:solidFill>
            <a:srgbClr val="6B3A1F"/>
          </a:solidFill>
          <a:ln w="12700">
            <a:solidFill>
              <a:srgbClr val="6B3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8293608" y="349300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6B3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GOAL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8293608" y="365760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Catch-up Growth</a:t>
            </a:r>
            <a:endParaRPr lang="en-US" sz="1150" dirty="0"/>
          </a:p>
        </p:txBody>
      </p:sp>
      <p:sp>
        <p:nvSpPr>
          <p:cNvPr id="88" name="Shape 86"/>
          <p:cNvSpPr/>
          <p:nvPr/>
        </p:nvSpPr>
        <p:spPr>
          <a:xfrm>
            <a:off x="8174736" y="4407408"/>
            <a:ext cx="3291840" cy="658368"/>
          </a:xfrm>
          <a:prstGeom prst="rect">
            <a:avLst/>
          </a:prstGeom>
          <a:solidFill>
            <a:srgbClr val="F8F5F0"/>
          </a:solidFill>
          <a:ln w="6350">
            <a:solidFill>
              <a:srgbClr val="D8D0C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8293608" y="4443984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CONSTRAINTS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8293608" y="46085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Under-funded for retirement; short horizon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8174736" y="5230368"/>
            <a:ext cx="1097280" cy="877824"/>
          </a:xfrm>
          <a:prstGeom prst="rect">
            <a:avLst/>
          </a:prstGeom>
          <a:solidFill>
            <a:srgbClr val="6B3A1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90"/>
          <p:cNvSpPr/>
          <p:nvPr/>
        </p:nvSpPr>
        <p:spPr>
          <a:xfrm>
            <a:off x="8193024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E(R)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8220456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10.0%</a:t>
            </a:r>
            <a:endParaRPr lang="en-US" sz="2000" dirty="0"/>
          </a:p>
        </p:txBody>
      </p:sp>
      <p:sp>
        <p:nvSpPr>
          <p:cNvPr id="94" name="Shape 92"/>
          <p:cNvSpPr/>
          <p:nvPr/>
        </p:nvSpPr>
        <p:spPr>
          <a:xfrm>
            <a:off x="9272016" y="5230368"/>
            <a:ext cx="1097280" cy="877824"/>
          </a:xfrm>
          <a:prstGeom prst="rect">
            <a:avLst/>
          </a:prstGeom>
          <a:solidFill>
            <a:srgbClr val="263545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93"/>
          <p:cNvSpPr/>
          <p:nvPr/>
        </p:nvSpPr>
        <p:spPr>
          <a:xfrm>
            <a:off x="9290304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DEV</a:t>
            </a:r>
            <a:endParaRPr lang="en-US" sz="650" dirty="0"/>
          </a:p>
        </p:txBody>
      </p:sp>
      <p:sp>
        <p:nvSpPr>
          <p:cNvPr id="96" name="Text 94"/>
          <p:cNvSpPr/>
          <p:nvPr/>
        </p:nvSpPr>
        <p:spPr>
          <a:xfrm>
            <a:off x="9317736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20.0%</a:t>
            </a:r>
            <a:endParaRPr lang="en-US" sz="2000" dirty="0"/>
          </a:p>
        </p:txBody>
      </p:sp>
      <p:sp>
        <p:nvSpPr>
          <p:cNvPr id="97" name="Shape 95"/>
          <p:cNvSpPr/>
          <p:nvPr/>
        </p:nvSpPr>
        <p:spPr>
          <a:xfrm>
            <a:off x="10369296" y="5230368"/>
            <a:ext cx="1097280" cy="877824"/>
          </a:xfrm>
          <a:prstGeom prst="rect">
            <a:avLst/>
          </a:prstGeom>
          <a:solidFill>
            <a:srgbClr val="1A141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Text 96"/>
          <p:cNvSpPr/>
          <p:nvPr/>
        </p:nvSpPr>
        <p:spPr>
          <a:xfrm>
            <a:off x="10387584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</a:t>
            </a:r>
            <a:endParaRPr lang="en-US" sz="650" dirty="0"/>
          </a:p>
        </p:txBody>
      </p:sp>
      <p:sp>
        <p:nvSpPr>
          <p:cNvPr id="99" name="Text 97"/>
          <p:cNvSpPr/>
          <p:nvPr/>
        </p:nvSpPr>
        <p:spPr>
          <a:xfrm>
            <a:off x="10415016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2.0</a:t>
            </a:r>
            <a:endParaRPr lang="en-US" sz="2000" dirty="0"/>
          </a:p>
        </p:txBody>
      </p:sp>
      <p:sp>
        <p:nvSpPr>
          <p:cNvPr id="100" name="Shape 98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6B3A1F"/>
          </a:solidFill>
          <a:ln w="12700">
            <a:solidFill>
              <a:srgbClr val="6B3A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274320" y="6565392"/>
            <a:ext cx="1161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BUS331 Investments  ·  Endicott College  ·  Team Two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2D5A3D"/>
          </a:solidFill>
          <a:ln w="12700">
            <a:solidFill>
              <a:srgbClr val="2D5A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" y="-457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>
                    <a:alpha val="25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371600" y="7315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400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THREE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371600" y="457200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Three · Client Profiles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789920" y="2743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" y="1188720"/>
            <a:ext cx="3749040" cy="52120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37160" y="1188720"/>
            <a:ext cx="3749040" cy="109728"/>
          </a:xfrm>
          <a:prstGeom prst="rect">
            <a:avLst/>
          </a:prstGeom>
          <a:solidFill>
            <a:srgbClr val="2D5A3D"/>
          </a:solidFill>
          <a:ln w="12700">
            <a:solidFill>
              <a:srgbClr val="2D5A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65760" y="1444752"/>
            <a:ext cx="749808" cy="749808"/>
          </a:xfrm>
          <a:prstGeom prst="ellipse">
            <a:avLst/>
          </a:prstGeom>
          <a:solidFill>
            <a:srgbClr val="2D5A3D"/>
          </a:solidFill>
          <a:ln w="12700">
            <a:solidFill>
              <a:srgbClr val="2D5A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5760" y="1444752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CD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423160" y="135331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#04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16152" y="144475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Chloe Dubois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16152" y="18470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24  ·  Graduate Student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2322576"/>
            <a:ext cx="1325880" cy="237744"/>
          </a:xfrm>
          <a:prstGeom prst="rect">
            <a:avLst/>
          </a:prstGeom>
          <a:solidFill>
            <a:srgbClr val="E8F5EE"/>
          </a:solidFill>
          <a:ln w="12700">
            <a:solidFill>
              <a:srgbClr val="E8F5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29768" y="2382012"/>
            <a:ext cx="91440" cy="91440"/>
          </a:xfrm>
          <a:prstGeom prst="ellipse">
            <a:avLst/>
          </a:prstGeom>
          <a:solidFill>
            <a:srgbClr val="2D8A5E"/>
          </a:solidFill>
          <a:ln w="12700">
            <a:solidFill>
              <a:srgbClr val="2D8A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57784" y="2322576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2D8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SEEKING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2724912"/>
            <a:ext cx="3291840" cy="0"/>
          </a:xfrm>
          <a:prstGeom prst="line">
            <a:avLst/>
          </a:prstGeom>
          <a:noFill/>
          <a:ln w="6350">
            <a:solidFill>
              <a:srgbClr val="E0D8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65760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INCOME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65760" y="29992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103120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103120" y="29992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$2.5M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" y="3456432"/>
            <a:ext cx="3291840" cy="804672"/>
          </a:xfrm>
          <a:prstGeom prst="rect">
            <a:avLst/>
          </a:prstGeom>
          <a:solidFill>
            <a:srgbClr val="D0EBD8"/>
          </a:solidFill>
          <a:ln w="12700">
            <a:solidFill>
              <a:srgbClr val="D0EB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65760" y="3456432"/>
            <a:ext cx="54864" cy="804672"/>
          </a:xfrm>
          <a:prstGeom prst="rect">
            <a:avLst/>
          </a:prstGeom>
          <a:solidFill>
            <a:srgbClr val="2D5A3D"/>
          </a:solidFill>
          <a:ln w="12700">
            <a:solidFill>
              <a:srgbClr val="2D5A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84632" y="349300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2D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GOAL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84632" y="365760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Long-term Wealth Building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65760" y="4407408"/>
            <a:ext cx="3291840" cy="658368"/>
          </a:xfrm>
          <a:prstGeom prst="rect">
            <a:avLst/>
          </a:prstGeom>
          <a:solidFill>
            <a:srgbClr val="F8F5F0"/>
          </a:solidFill>
          <a:ln w="6350">
            <a:solidFill>
              <a:srgbClr val="D8D0C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4632" y="4443984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CONSTRAINTS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484632" y="46085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Novice experience; 30+ year horizon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65760" y="5230368"/>
            <a:ext cx="1097280" cy="877824"/>
          </a:xfrm>
          <a:prstGeom prst="rect">
            <a:avLst/>
          </a:prstGeom>
          <a:solidFill>
            <a:srgbClr val="2D5A3D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84048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E(R)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411480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9.5%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1463040" y="5230368"/>
            <a:ext cx="1097280" cy="877824"/>
          </a:xfrm>
          <a:prstGeom prst="rect">
            <a:avLst/>
          </a:prstGeom>
          <a:solidFill>
            <a:srgbClr val="263545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481328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DEV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1508760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18.0%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2560320" y="5230368"/>
            <a:ext cx="1097280" cy="877824"/>
          </a:xfrm>
          <a:prstGeom prst="rect">
            <a:avLst/>
          </a:prstGeom>
          <a:solidFill>
            <a:srgbClr val="1A141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2578608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2606040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2.5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4041648" y="1188720"/>
            <a:ext cx="3749040" cy="52120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041648" y="1188720"/>
            <a:ext cx="3749040" cy="109728"/>
          </a:xfrm>
          <a:prstGeom prst="rect">
            <a:avLst/>
          </a:prstGeom>
          <a:solidFill>
            <a:srgbClr val="2D5A3D"/>
          </a:solidFill>
          <a:ln w="12700">
            <a:solidFill>
              <a:srgbClr val="2D5A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270248" y="1444752"/>
            <a:ext cx="749808" cy="749808"/>
          </a:xfrm>
          <a:prstGeom prst="ellipse">
            <a:avLst/>
          </a:prstGeom>
          <a:solidFill>
            <a:srgbClr val="2D5A3D"/>
          </a:solidFill>
          <a:ln w="12700">
            <a:solidFill>
              <a:srgbClr val="2D5A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270248" y="1444752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AO</a:t>
            </a:r>
            <a:endParaRPr lang="en-US" sz="1700" dirty="0"/>
          </a:p>
        </p:txBody>
      </p:sp>
      <p:sp>
        <p:nvSpPr>
          <p:cNvPr id="42" name="Text 40"/>
          <p:cNvSpPr/>
          <p:nvPr/>
        </p:nvSpPr>
        <p:spPr>
          <a:xfrm>
            <a:off x="6327648" y="135331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#06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120640" y="144475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Dr. Amara Okafor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120640" y="18470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42  ·  Pediatrician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270248" y="2322576"/>
            <a:ext cx="1325880" cy="237744"/>
          </a:xfrm>
          <a:prstGeom prst="rect">
            <a:avLst/>
          </a:prstGeom>
          <a:solidFill>
            <a:srgbClr val="E8F0FF"/>
          </a:solidFill>
          <a:ln w="12700">
            <a:solidFill>
              <a:srgbClr val="E8F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334256" y="2382012"/>
            <a:ext cx="91440" cy="914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462272" y="2322576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NEUTRAL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4270248" y="2724912"/>
            <a:ext cx="3291840" cy="0"/>
          </a:xfrm>
          <a:prstGeom prst="line">
            <a:avLst/>
          </a:prstGeom>
          <a:noFill/>
          <a:ln w="6350">
            <a:solidFill>
              <a:srgbClr val="E0D8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270248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INCOME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4270248" y="29992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$280,000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007608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6007608" y="29992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$850,000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270248" y="3456432"/>
            <a:ext cx="3291840" cy="804672"/>
          </a:xfrm>
          <a:prstGeom prst="rect">
            <a:avLst/>
          </a:prstGeom>
          <a:solidFill>
            <a:srgbClr val="D0EBD8"/>
          </a:solidFill>
          <a:ln w="12700">
            <a:solidFill>
              <a:srgbClr val="D0EB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4270248" y="3456432"/>
            <a:ext cx="54864" cy="804672"/>
          </a:xfrm>
          <a:prstGeom prst="rect">
            <a:avLst/>
          </a:prstGeom>
          <a:solidFill>
            <a:srgbClr val="2D5A3D"/>
          </a:solidFill>
          <a:ln w="12700">
            <a:solidFill>
              <a:srgbClr val="2D5A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4389120" y="349300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2D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GOAL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4389120" y="365760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Ethical Growth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4270248" y="4407408"/>
            <a:ext cx="3291840" cy="658368"/>
          </a:xfrm>
          <a:prstGeom prst="rect">
            <a:avLst/>
          </a:prstGeom>
          <a:solidFill>
            <a:srgbClr val="F8F5F0"/>
          </a:solidFill>
          <a:ln w="6350">
            <a:solidFill>
              <a:srgbClr val="D8D0C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4389120" y="4443984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CONSTRAINTS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4389120" y="46085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ESG filters (No tobacco/oil/arms)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4270248" y="5230368"/>
            <a:ext cx="1097280" cy="877824"/>
          </a:xfrm>
          <a:prstGeom prst="rect">
            <a:avLst/>
          </a:prstGeom>
          <a:solidFill>
            <a:srgbClr val="2D5A3D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288536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E(R)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4315968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8.0%</a:t>
            </a:r>
            <a:endParaRPr lang="en-US" sz="2000" dirty="0"/>
          </a:p>
        </p:txBody>
      </p:sp>
      <p:sp>
        <p:nvSpPr>
          <p:cNvPr id="63" name="Shape 61"/>
          <p:cNvSpPr/>
          <p:nvPr/>
        </p:nvSpPr>
        <p:spPr>
          <a:xfrm>
            <a:off x="5367528" y="5230368"/>
            <a:ext cx="1097280" cy="877824"/>
          </a:xfrm>
          <a:prstGeom prst="rect">
            <a:avLst/>
          </a:prstGeom>
          <a:solidFill>
            <a:srgbClr val="263545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5385816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DEV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5413248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15.0%</a:t>
            </a:r>
            <a:endParaRPr lang="en-US" sz="2000" dirty="0"/>
          </a:p>
        </p:txBody>
      </p:sp>
      <p:sp>
        <p:nvSpPr>
          <p:cNvPr id="66" name="Shape 64"/>
          <p:cNvSpPr/>
          <p:nvPr/>
        </p:nvSpPr>
        <p:spPr>
          <a:xfrm>
            <a:off x="6464808" y="5230368"/>
            <a:ext cx="1097280" cy="877824"/>
          </a:xfrm>
          <a:prstGeom prst="rect">
            <a:avLst/>
          </a:prstGeom>
          <a:solidFill>
            <a:srgbClr val="1A141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6483096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6510528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3.5</a:t>
            </a:r>
            <a:endParaRPr lang="en-US" sz="2000" dirty="0"/>
          </a:p>
        </p:txBody>
      </p:sp>
      <p:sp>
        <p:nvSpPr>
          <p:cNvPr id="69" name="Shape 67"/>
          <p:cNvSpPr/>
          <p:nvPr/>
        </p:nvSpPr>
        <p:spPr>
          <a:xfrm>
            <a:off x="7946136" y="1188720"/>
            <a:ext cx="3749040" cy="52120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7946136" y="1188720"/>
            <a:ext cx="3749040" cy="109728"/>
          </a:xfrm>
          <a:prstGeom prst="rect">
            <a:avLst/>
          </a:prstGeom>
          <a:solidFill>
            <a:srgbClr val="2D5A3D"/>
          </a:solidFill>
          <a:ln w="12700">
            <a:solidFill>
              <a:srgbClr val="2D5A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8174736" y="1444752"/>
            <a:ext cx="749808" cy="749808"/>
          </a:xfrm>
          <a:prstGeom prst="ellipse">
            <a:avLst/>
          </a:prstGeom>
          <a:solidFill>
            <a:srgbClr val="2D5A3D"/>
          </a:solidFill>
          <a:ln w="12700">
            <a:solidFill>
              <a:srgbClr val="2D5A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8174736" y="1444752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ZJ</a:t>
            </a:r>
            <a:endParaRPr lang="en-US" sz="1700" dirty="0"/>
          </a:p>
        </p:txBody>
      </p:sp>
      <p:sp>
        <p:nvSpPr>
          <p:cNvPr id="73" name="Text 71"/>
          <p:cNvSpPr/>
          <p:nvPr/>
        </p:nvSpPr>
        <p:spPr>
          <a:xfrm>
            <a:off x="10232136" y="135331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#10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9025128" y="144475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Zoe Jenkins</a:t>
            </a:r>
            <a:endParaRPr lang="en-US" sz="1400" dirty="0"/>
          </a:p>
        </p:txBody>
      </p:sp>
      <p:sp>
        <p:nvSpPr>
          <p:cNvPr id="75" name="Text 73"/>
          <p:cNvSpPr/>
          <p:nvPr/>
        </p:nvSpPr>
        <p:spPr>
          <a:xfrm>
            <a:off x="9025128" y="18470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32  ·  Graphic Designer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8174736" y="2322576"/>
            <a:ext cx="1325880" cy="237744"/>
          </a:xfrm>
          <a:prstGeom prst="rect">
            <a:avLst/>
          </a:prstGeom>
          <a:solidFill>
            <a:srgbClr val="FFF0E8"/>
          </a:solidFill>
          <a:ln w="12700">
            <a:solidFill>
              <a:srgbClr val="FFF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8238744" y="2382012"/>
            <a:ext cx="91440" cy="91440"/>
          </a:xfrm>
          <a:prstGeom prst="ellipse">
            <a:avLst/>
          </a:prstGeom>
          <a:solidFill>
            <a:srgbClr val="C05B30"/>
          </a:solidFill>
          <a:ln w="12700">
            <a:solidFill>
              <a:srgbClr val="C05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8366760" y="2322576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C05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AVERSE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8174736" y="2724912"/>
            <a:ext cx="3291840" cy="0"/>
          </a:xfrm>
          <a:prstGeom prst="line">
            <a:avLst/>
          </a:prstGeom>
          <a:noFill/>
          <a:ln w="6350">
            <a:solidFill>
              <a:srgbClr val="E0D8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8174736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INCOME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8174736" y="29992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$65,000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9912096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9912096" y="29992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$40,000</a:t>
            </a:r>
            <a:endParaRPr lang="en-US" sz="1200" dirty="0"/>
          </a:p>
        </p:txBody>
      </p:sp>
      <p:sp>
        <p:nvSpPr>
          <p:cNvPr id="84" name="Shape 82"/>
          <p:cNvSpPr/>
          <p:nvPr/>
        </p:nvSpPr>
        <p:spPr>
          <a:xfrm>
            <a:off x="8174736" y="3456432"/>
            <a:ext cx="3291840" cy="804672"/>
          </a:xfrm>
          <a:prstGeom prst="rect">
            <a:avLst/>
          </a:prstGeom>
          <a:solidFill>
            <a:srgbClr val="D0EBD8"/>
          </a:solidFill>
          <a:ln w="12700">
            <a:solidFill>
              <a:srgbClr val="D0EB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8174736" y="3456432"/>
            <a:ext cx="54864" cy="804672"/>
          </a:xfrm>
          <a:prstGeom prst="rect">
            <a:avLst/>
          </a:prstGeom>
          <a:solidFill>
            <a:srgbClr val="2D5A3D"/>
          </a:solidFill>
          <a:ln w="12700">
            <a:solidFill>
              <a:srgbClr val="2D5A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8293608" y="349300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2D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GOAL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8293608" y="365760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Emergency Fund / Growth</a:t>
            </a:r>
            <a:endParaRPr lang="en-US" sz="1150" dirty="0"/>
          </a:p>
        </p:txBody>
      </p:sp>
      <p:sp>
        <p:nvSpPr>
          <p:cNvPr id="88" name="Shape 86"/>
          <p:cNvSpPr/>
          <p:nvPr/>
        </p:nvSpPr>
        <p:spPr>
          <a:xfrm>
            <a:off x="8174736" y="4407408"/>
            <a:ext cx="3291840" cy="658368"/>
          </a:xfrm>
          <a:prstGeom prst="rect">
            <a:avLst/>
          </a:prstGeom>
          <a:solidFill>
            <a:srgbClr val="F8F5F0"/>
          </a:solidFill>
          <a:ln w="6350">
            <a:solidFill>
              <a:srgbClr val="D8D0C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8293608" y="4443984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CONSTRAINTS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8293608" y="46085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income; needs 12-mo cash reserve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8174736" y="5230368"/>
            <a:ext cx="1097280" cy="877824"/>
          </a:xfrm>
          <a:prstGeom prst="rect">
            <a:avLst/>
          </a:prstGeom>
          <a:solidFill>
            <a:srgbClr val="2D5A3D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90"/>
          <p:cNvSpPr/>
          <p:nvPr/>
        </p:nvSpPr>
        <p:spPr>
          <a:xfrm>
            <a:off x="8193024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E(R)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8220456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6.5%</a:t>
            </a:r>
            <a:endParaRPr lang="en-US" sz="2000" dirty="0"/>
          </a:p>
        </p:txBody>
      </p:sp>
      <p:sp>
        <p:nvSpPr>
          <p:cNvPr id="94" name="Shape 92"/>
          <p:cNvSpPr/>
          <p:nvPr/>
        </p:nvSpPr>
        <p:spPr>
          <a:xfrm>
            <a:off x="9272016" y="5230368"/>
            <a:ext cx="1097280" cy="877824"/>
          </a:xfrm>
          <a:prstGeom prst="rect">
            <a:avLst/>
          </a:prstGeom>
          <a:solidFill>
            <a:srgbClr val="263545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93"/>
          <p:cNvSpPr/>
          <p:nvPr/>
        </p:nvSpPr>
        <p:spPr>
          <a:xfrm>
            <a:off x="9290304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DEV</a:t>
            </a:r>
            <a:endParaRPr lang="en-US" sz="650" dirty="0"/>
          </a:p>
        </p:txBody>
      </p:sp>
      <p:sp>
        <p:nvSpPr>
          <p:cNvPr id="96" name="Text 94"/>
          <p:cNvSpPr/>
          <p:nvPr/>
        </p:nvSpPr>
        <p:spPr>
          <a:xfrm>
            <a:off x="9317736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13.0%</a:t>
            </a:r>
            <a:endParaRPr lang="en-US" sz="2000" dirty="0"/>
          </a:p>
        </p:txBody>
      </p:sp>
      <p:sp>
        <p:nvSpPr>
          <p:cNvPr id="97" name="Shape 95"/>
          <p:cNvSpPr/>
          <p:nvPr/>
        </p:nvSpPr>
        <p:spPr>
          <a:xfrm>
            <a:off x="10369296" y="5230368"/>
            <a:ext cx="1097280" cy="877824"/>
          </a:xfrm>
          <a:prstGeom prst="rect">
            <a:avLst/>
          </a:prstGeom>
          <a:solidFill>
            <a:srgbClr val="1A141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Text 96"/>
          <p:cNvSpPr/>
          <p:nvPr/>
        </p:nvSpPr>
        <p:spPr>
          <a:xfrm>
            <a:off x="10387584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</a:t>
            </a:r>
            <a:endParaRPr lang="en-US" sz="650" dirty="0"/>
          </a:p>
        </p:txBody>
      </p:sp>
      <p:sp>
        <p:nvSpPr>
          <p:cNvPr id="99" name="Text 97"/>
          <p:cNvSpPr/>
          <p:nvPr/>
        </p:nvSpPr>
        <p:spPr>
          <a:xfrm>
            <a:off x="10415016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5.0</a:t>
            </a:r>
            <a:endParaRPr lang="en-US" sz="2000" dirty="0"/>
          </a:p>
        </p:txBody>
      </p:sp>
      <p:sp>
        <p:nvSpPr>
          <p:cNvPr id="100" name="Shape 98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2D5A3D"/>
          </a:solidFill>
          <a:ln w="12700">
            <a:solidFill>
              <a:srgbClr val="2D5A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274320" y="6565392"/>
            <a:ext cx="1161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BUS331 Investments  ·  Endicott College  ·  Team Three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4A2060"/>
          </a:solidFill>
          <a:ln w="12700">
            <a:solidFill>
              <a:srgbClr val="4A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" y="-457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>
                    <a:alpha val="25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371600" y="7315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400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FOUR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371600" y="457200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Four · Client Profiles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789920" y="2743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" y="1188720"/>
            <a:ext cx="3749040" cy="52120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37160" y="1188720"/>
            <a:ext cx="3749040" cy="109728"/>
          </a:xfrm>
          <a:prstGeom prst="rect">
            <a:avLst/>
          </a:prstGeom>
          <a:solidFill>
            <a:srgbClr val="4A2060"/>
          </a:solidFill>
          <a:ln w="12700">
            <a:solidFill>
              <a:srgbClr val="4A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65760" y="1444752"/>
            <a:ext cx="749808" cy="749808"/>
          </a:xfrm>
          <a:prstGeom prst="ellipse">
            <a:avLst/>
          </a:prstGeom>
          <a:solidFill>
            <a:srgbClr val="4A2060"/>
          </a:solidFill>
          <a:ln w="12700">
            <a:solidFill>
              <a:srgbClr val="4A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5760" y="1444752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TM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423160" y="135331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#11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16152" y="144475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Thomas Murphy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16152" y="18470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45  ·  Police Officer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2322576"/>
            <a:ext cx="1325880" cy="237744"/>
          </a:xfrm>
          <a:prstGeom prst="rect">
            <a:avLst/>
          </a:prstGeom>
          <a:solidFill>
            <a:srgbClr val="FFF0E8"/>
          </a:solidFill>
          <a:ln w="12700">
            <a:solidFill>
              <a:srgbClr val="FFF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29768" y="2382012"/>
            <a:ext cx="91440" cy="91440"/>
          </a:xfrm>
          <a:prstGeom prst="ellipse">
            <a:avLst/>
          </a:prstGeom>
          <a:solidFill>
            <a:srgbClr val="C05B30"/>
          </a:solidFill>
          <a:ln w="12700">
            <a:solidFill>
              <a:srgbClr val="C05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57784" y="2322576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C05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AVERSE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2724912"/>
            <a:ext cx="3291840" cy="0"/>
          </a:xfrm>
          <a:prstGeom prst="line">
            <a:avLst/>
          </a:prstGeom>
          <a:noFill/>
          <a:ln w="6350">
            <a:solidFill>
              <a:srgbClr val="E0D8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65760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INCOME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65760" y="29992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$85,000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103120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103120" y="29992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$200,000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" y="3456432"/>
            <a:ext cx="3291840" cy="804672"/>
          </a:xfrm>
          <a:prstGeom prst="rect">
            <a:avLst/>
          </a:prstGeom>
          <a:solidFill>
            <a:srgbClr val="E4D0F0"/>
          </a:solidFill>
          <a:ln w="12700">
            <a:solidFill>
              <a:srgbClr val="E4D0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65760" y="3456432"/>
            <a:ext cx="54864" cy="804672"/>
          </a:xfrm>
          <a:prstGeom prst="rect">
            <a:avLst/>
          </a:prstGeom>
          <a:solidFill>
            <a:srgbClr val="4A2060"/>
          </a:solidFill>
          <a:ln w="12700">
            <a:solidFill>
              <a:srgbClr val="4A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84632" y="349300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4A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GOAL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84632" y="365760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Supplemental Retirement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65760" y="4407408"/>
            <a:ext cx="3291840" cy="658368"/>
          </a:xfrm>
          <a:prstGeom prst="rect">
            <a:avLst/>
          </a:prstGeom>
          <a:solidFill>
            <a:srgbClr val="F8F5F0"/>
          </a:solidFill>
          <a:ln w="6350">
            <a:solidFill>
              <a:srgbClr val="D8D0C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4632" y="4443984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CONSTRAINTS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484632" y="46085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Psychological aversion to losses; Pension-backed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65760" y="5230368"/>
            <a:ext cx="1097280" cy="877824"/>
          </a:xfrm>
          <a:prstGeom prst="rect">
            <a:avLst/>
          </a:prstGeom>
          <a:solidFill>
            <a:srgbClr val="4A206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84048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E(R)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411480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4.0%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1463040" y="5230368"/>
            <a:ext cx="1097280" cy="877824"/>
          </a:xfrm>
          <a:prstGeom prst="rect">
            <a:avLst/>
          </a:prstGeom>
          <a:solidFill>
            <a:srgbClr val="263545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481328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DEV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1508760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5.0%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2560320" y="5230368"/>
            <a:ext cx="1097280" cy="877824"/>
          </a:xfrm>
          <a:prstGeom prst="rect">
            <a:avLst/>
          </a:prstGeom>
          <a:solidFill>
            <a:srgbClr val="1A141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2578608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2606040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9.0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4041648" y="1188720"/>
            <a:ext cx="3749040" cy="52120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041648" y="1188720"/>
            <a:ext cx="3749040" cy="109728"/>
          </a:xfrm>
          <a:prstGeom prst="rect">
            <a:avLst/>
          </a:prstGeom>
          <a:solidFill>
            <a:srgbClr val="4A2060"/>
          </a:solidFill>
          <a:ln w="12700">
            <a:solidFill>
              <a:srgbClr val="4A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270248" y="1444752"/>
            <a:ext cx="749808" cy="749808"/>
          </a:xfrm>
          <a:prstGeom prst="ellipse">
            <a:avLst/>
          </a:prstGeom>
          <a:solidFill>
            <a:srgbClr val="4A2060"/>
          </a:solidFill>
          <a:ln w="12700">
            <a:solidFill>
              <a:srgbClr val="4A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270248" y="1444752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YT</a:t>
            </a:r>
            <a:endParaRPr lang="en-US" sz="1700" dirty="0"/>
          </a:p>
        </p:txBody>
      </p:sp>
      <p:sp>
        <p:nvSpPr>
          <p:cNvPr id="42" name="Text 40"/>
          <p:cNvSpPr/>
          <p:nvPr/>
        </p:nvSpPr>
        <p:spPr>
          <a:xfrm>
            <a:off x="6327648" y="135331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#12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120640" y="144475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Yuki Tanaka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120640" y="18470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38  ·  Tech Consultant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270248" y="2322576"/>
            <a:ext cx="1325880" cy="237744"/>
          </a:xfrm>
          <a:prstGeom prst="rect">
            <a:avLst/>
          </a:prstGeom>
          <a:solidFill>
            <a:srgbClr val="E8F0FF"/>
          </a:solidFill>
          <a:ln w="12700">
            <a:solidFill>
              <a:srgbClr val="E8F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334256" y="2382012"/>
            <a:ext cx="91440" cy="914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462272" y="2322576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NEUTRAL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4270248" y="2724912"/>
            <a:ext cx="3291840" cy="0"/>
          </a:xfrm>
          <a:prstGeom prst="line">
            <a:avLst/>
          </a:prstGeom>
          <a:noFill/>
          <a:ln w="6350">
            <a:solidFill>
              <a:srgbClr val="E0D8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270248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INCOME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4270248" y="29992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$150,000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007608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6007608" y="29992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$300,000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270248" y="3456432"/>
            <a:ext cx="3291840" cy="804672"/>
          </a:xfrm>
          <a:prstGeom prst="rect">
            <a:avLst/>
          </a:prstGeom>
          <a:solidFill>
            <a:srgbClr val="E4D0F0"/>
          </a:solidFill>
          <a:ln w="12700">
            <a:solidFill>
              <a:srgbClr val="E4D0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4270248" y="3456432"/>
            <a:ext cx="54864" cy="804672"/>
          </a:xfrm>
          <a:prstGeom prst="rect">
            <a:avLst/>
          </a:prstGeom>
          <a:solidFill>
            <a:srgbClr val="4A2060"/>
          </a:solidFill>
          <a:ln w="12700">
            <a:solidFill>
              <a:srgbClr val="4A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4389120" y="349300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4A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GOAL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4389120" y="365760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Growth / Global Diversification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4270248" y="4407408"/>
            <a:ext cx="3291840" cy="658368"/>
          </a:xfrm>
          <a:prstGeom prst="rect">
            <a:avLst/>
          </a:prstGeom>
          <a:solidFill>
            <a:srgbClr val="F8F5F0"/>
          </a:solidFill>
          <a:ln w="6350">
            <a:solidFill>
              <a:srgbClr val="D8D0C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4389120" y="4443984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CONSTRAINTS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4389120" y="46085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Currency risk (USD/JPY); Moving in 10 yrs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4270248" y="5230368"/>
            <a:ext cx="1097280" cy="877824"/>
          </a:xfrm>
          <a:prstGeom prst="rect">
            <a:avLst/>
          </a:prstGeom>
          <a:solidFill>
            <a:srgbClr val="4A206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288536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E(R)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4315968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8.5%</a:t>
            </a:r>
            <a:endParaRPr lang="en-US" sz="2000" dirty="0"/>
          </a:p>
        </p:txBody>
      </p:sp>
      <p:sp>
        <p:nvSpPr>
          <p:cNvPr id="63" name="Shape 61"/>
          <p:cNvSpPr/>
          <p:nvPr/>
        </p:nvSpPr>
        <p:spPr>
          <a:xfrm>
            <a:off x="5367528" y="5230368"/>
            <a:ext cx="1097280" cy="877824"/>
          </a:xfrm>
          <a:prstGeom prst="rect">
            <a:avLst/>
          </a:prstGeom>
          <a:solidFill>
            <a:srgbClr val="263545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5385816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DEV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5413248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16.0%</a:t>
            </a:r>
            <a:endParaRPr lang="en-US" sz="2000" dirty="0"/>
          </a:p>
        </p:txBody>
      </p:sp>
      <p:sp>
        <p:nvSpPr>
          <p:cNvPr id="66" name="Shape 64"/>
          <p:cNvSpPr/>
          <p:nvPr/>
        </p:nvSpPr>
        <p:spPr>
          <a:xfrm>
            <a:off x="6464808" y="5230368"/>
            <a:ext cx="1097280" cy="877824"/>
          </a:xfrm>
          <a:prstGeom prst="rect">
            <a:avLst/>
          </a:prstGeom>
          <a:solidFill>
            <a:srgbClr val="1A141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6483096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6510528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3.5</a:t>
            </a:r>
            <a:endParaRPr lang="en-US" sz="2000" dirty="0"/>
          </a:p>
        </p:txBody>
      </p:sp>
      <p:sp>
        <p:nvSpPr>
          <p:cNvPr id="69" name="Shape 67"/>
          <p:cNvSpPr/>
          <p:nvPr/>
        </p:nvSpPr>
        <p:spPr>
          <a:xfrm>
            <a:off x="7946136" y="1188720"/>
            <a:ext cx="3749040" cy="52120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7946136" y="1188720"/>
            <a:ext cx="3749040" cy="109728"/>
          </a:xfrm>
          <a:prstGeom prst="rect">
            <a:avLst/>
          </a:prstGeom>
          <a:solidFill>
            <a:srgbClr val="4A2060"/>
          </a:solidFill>
          <a:ln w="12700">
            <a:solidFill>
              <a:srgbClr val="4A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8174736" y="1444752"/>
            <a:ext cx="749808" cy="749808"/>
          </a:xfrm>
          <a:prstGeom prst="ellipse">
            <a:avLst/>
          </a:prstGeom>
          <a:solidFill>
            <a:srgbClr val="4A2060"/>
          </a:solidFill>
          <a:ln w="12700">
            <a:solidFill>
              <a:srgbClr val="4A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8174736" y="1444752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</a:t>
            </a:r>
            <a:endParaRPr lang="en-US" sz="1700" dirty="0"/>
          </a:p>
        </p:txBody>
      </p:sp>
      <p:sp>
        <p:nvSpPr>
          <p:cNvPr id="73" name="Text 71"/>
          <p:cNvSpPr/>
          <p:nvPr/>
        </p:nvSpPr>
        <p:spPr>
          <a:xfrm>
            <a:off x="10232136" y="135331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#14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9025128" y="144475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Elena Rossi</a:t>
            </a:r>
            <a:endParaRPr lang="en-US" sz="1400" dirty="0"/>
          </a:p>
        </p:txBody>
      </p:sp>
      <p:sp>
        <p:nvSpPr>
          <p:cNvPr id="75" name="Text 73"/>
          <p:cNvSpPr/>
          <p:nvPr/>
        </p:nvSpPr>
        <p:spPr>
          <a:xfrm>
            <a:off x="9025128" y="18470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52  ·  Corporate VP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8174736" y="2322576"/>
            <a:ext cx="1325880" cy="237744"/>
          </a:xfrm>
          <a:prstGeom prst="rect">
            <a:avLst/>
          </a:prstGeom>
          <a:solidFill>
            <a:srgbClr val="E8F5EE"/>
          </a:solidFill>
          <a:ln w="12700">
            <a:solidFill>
              <a:srgbClr val="E8F5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8238744" y="2382012"/>
            <a:ext cx="91440" cy="91440"/>
          </a:xfrm>
          <a:prstGeom prst="ellipse">
            <a:avLst/>
          </a:prstGeom>
          <a:solidFill>
            <a:srgbClr val="2D8A5E"/>
          </a:solidFill>
          <a:ln w="12700">
            <a:solidFill>
              <a:srgbClr val="2D8A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8366760" y="2322576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2D8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SEEKING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8174736" y="2724912"/>
            <a:ext cx="3291840" cy="0"/>
          </a:xfrm>
          <a:prstGeom prst="line">
            <a:avLst/>
          </a:prstGeom>
          <a:noFill/>
          <a:ln w="6350">
            <a:solidFill>
              <a:srgbClr val="E0D8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8174736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INCOME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8174736" y="29992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$450,000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9912096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9912096" y="29992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$4.0M</a:t>
            </a:r>
            <a:endParaRPr lang="en-US" sz="1200" dirty="0"/>
          </a:p>
        </p:txBody>
      </p:sp>
      <p:sp>
        <p:nvSpPr>
          <p:cNvPr id="84" name="Shape 82"/>
          <p:cNvSpPr/>
          <p:nvPr/>
        </p:nvSpPr>
        <p:spPr>
          <a:xfrm>
            <a:off x="8174736" y="3456432"/>
            <a:ext cx="3291840" cy="804672"/>
          </a:xfrm>
          <a:prstGeom prst="rect">
            <a:avLst/>
          </a:prstGeom>
          <a:solidFill>
            <a:srgbClr val="E4D0F0"/>
          </a:solidFill>
          <a:ln w="12700">
            <a:solidFill>
              <a:srgbClr val="E4D0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8174736" y="3456432"/>
            <a:ext cx="54864" cy="804672"/>
          </a:xfrm>
          <a:prstGeom prst="rect">
            <a:avLst/>
          </a:prstGeom>
          <a:solidFill>
            <a:srgbClr val="4A2060"/>
          </a:solidFill>
          <a:ln w="12700">
            <a:solidFill>
              <a:srgbClr val="4A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8293608" y="349300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4A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GOAL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8293608" y="365760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Tax Efficiency / Sophisticated Growth</a:t>
            </a:r>
            <a:endParaRPr lang="en-US" sz="1150" dirty="0"/>
          </a:p>
        </p:txBody>
      </p:sp>
      <p:sp>
        <p:nvSpPr>
          <p:cNvPr id="88" name="Shape 86"/>
          <p:cNvSpPr/>
          <p:nvPr/>
        </p:nvSpPr>
        <p:spPr>
          <a:xfrm>
            <a:off x="8174736" y="4407408"/>
            <a:ext cx="3291840" cy="658368"/>
          </a:xfrm>
          <a:prstGeom prst="rect">
            <a:avLst/>
          </a:prstGeom>
          <a:solidFill>
            <a:srgbClr val="F8F5F0"/>
          </a:solidFill>
          <a:ln w="6350">
            <a:solidFill>
              <a:srgbClr val="D8D0C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8293608" y="4443984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CONSTRAINTS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8293608" y="46085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Rule 144 restrictions; High tax bracket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8174736" y="5230368"/>
            <a:ext cx="1097280" cy="877824"/>
          </a:xfrm>
          <a:prstGeom prst="rect">
            <a:avLst/>
          </a:prstGeom>
          <a:solidFill>
            <a:srgbClr val="4A206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90"/>
          <p:cNvSpPr/>
          <p:nvPr/>
        </p:nvSpPr>
        <p:spPr>
          <a:xfrm>
            <a:off x="8193024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E(R)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8220456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10.5%</a:t>
            </a:r>
            <a:endParaRPr lang="en-US" sz="2000" dirty="0"/>
          </a:p>
        </p:txBody>
      </p:sp>
      <p:sp>
        <p:nvSpPr>
          <p:cNvPr id="94" name="Shape 92"/>
          <p:cNvSpPr/>
          <p:nvPr/>
        </p:nvSpPr>
        <p:spPr>
          <a:xfrm>
            <a:off x="9272016" y="5230368"/>
            <a:ext cx="1097280" cy="877824"/>
          </a:xfrm>
          <a:prstGeom prst="rect">
            <a:avLst/>
          </a:prstGeom>
          <a:solidFill>
            <a:srgbClr val="263545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93"/>
          <p:cNvSpPr/>
          <p:nvPr/>
        </p:nvSpPr>
        <p:spPr>
          <a:xfrm>
            <a:off x="9290304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DEV</a:t>
            </a:r>
            <a:endParaRPr lang="en-US" sz="650" dirty="0"/>
          </a:p>
        </p:txBody>
      </p:sp>
      <p:sp>
        <p:nvSpPr>
          <p:cNvPr id="96" name="Text 94"/>
          <p:cNvSpPr/>
          <p:nvPr/>
        </p:nvSpPr>
        <p:spPr>
          <a:xfrm>
            <a:off x="9317736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21.0%</a:t>
            </a:r>
            <a:endParaRPr lang="en-US" sz="2000" dirty="0"/>
          </a:p>
        </p:txBody>
      </p:sp>
      <p:sp>
        <p:nvSpPr>
          <p:cNvPr id="97" name="Shape 95"/>
          <p:cNvSpPr/>
          <p:nvPr/>
        </p:nvSpPr>
        <p:spPr>
          <a:xfrm>
            <a:off x="10369296" y="5230368"/>
            <a:ext cx="1097280" cy="877824"/>
          </a:xfrm>
          <a:prstGeom prst="rect">
            <a:avLst/>
          </a:prstGeom>
          <a:solidFill>
            <a:srgbClr val="1A141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Text 96"/>
          <p:cNvSpPr/>
          <p:nvPr/>
        </p:nvSpPr>
        <p:spPr>
          <a:xfrm>
            <a:off x="10387584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</a:t>
            </a:r>
            <a:endParaRPr lang="en-US" sz="650" dirty="0"/>
          </a:p>
        </p:txBody>
      </p:sp>
      <p:sp>
        <p:nvSpPr>
          <p:cNvPr id="99" name="Text 97"/>
          <p:cNvSpPr/>
          <p:nvPr/>
        </p:nvSpPr>
        <p:spPr>
          <a:xfrm>
            <a:off x="10415016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2.0</a:t>
            </a:r>
            <a:endParaRPr lang="en-US" sz="2000" dirty="0"/>
          </a:p>
        </p:txBody>
      </p:sp>
      <p:sp>
        <p:nvSpPr>
          <p:cNvPr id="100" name="Shape 98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4A2060"/>
          </a:solidFill>
          <a:ln w="12700">
            <a:solidFill>
              <a:srgbClr val="4A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274320" y="6565392"/>
            <a:ext cx="1161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BUS331 Investments  ·  Endicott College  ·  Team Four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" y="-457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>
                    <a:alpha val="25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371600" y="7315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400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FIVE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371600" y="457200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Five · Client Profiles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789920" y="2743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" y="1188720"/>
            <a:ext cx="3749040" cy="52120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37160" y="1188720"/>
            <a:ext cx="3749040" cy="10972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65760" y="1444752"/>
            <a:ext cx="749808" cy="749808"/>
          </a:xfrm>
          <a:prstGeom prst="ellipse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5760" y="1444752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423160" y="135331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#09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16152" y="144475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Arthur Sterling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16152" y="18470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80  ·  Retired Executive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2322576"/>
            <a:ext cx="1325880" cy="237744"/>
          </a:xfrm>
          <a:prstGeom prst="rect">
            <a:avLst/>
          </a:prstGeom>
          <a:solidFill>
            <a:srgbClr val="E8F0FF"/>
          </a:solidFill>
          <a:ln w="12700">
            <a:solidFill>
              <a:srgbClr val="E8F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29768" y="2382012"/>
            <a:ext cx="91440" cy="914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57784" y="2322576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NEUTRAL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2724912"/>
            <a:ext cx="3291840" cy="0"/>
          </a:xfrm>
          <a:prstGeom prst="line">
            <a:avLst/>
          </a:prstGeom>
          <a:noFill/>
          <a:ln w="6350">
            <a:solidFill>
              <a:srgbClr val="E0D8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65760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INCOME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65760" y="29992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N/A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103120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103120" y="29992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$50M+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" y="3456432"/>
            <a:ext cx="3291840" cy="804672"/>
          </a:xfrm>
          <a:prstGeom prst="rect">
            <a:avLst/>
          </a:prstGeom>
          <a:solidFill>
            <a:srgbClr val="F0D0D0"/>
          </a:solidFill>
          <a:ln w="12700">
            <a:solidFill>
              <a:srgbClr val="F0D0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65760" y="3456432"/>
            <a:ext cx="54864" cy="80467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84632" y="349300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GOAL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84632" y="365760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Philanthropy / Multi-gen Wealth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65760" y="4407408"/>
            <a:ext cx="3291840" cy="658368"/>
          </a:xfrm>
          <a:prstGeom prst="rect">
            <a:avLst/>
          </a:prstGeom>
          <a:solidFill>
            <a:srgbClr val="F8F5F0"/>
          </a:solidFill>
          <a:ln w="6350">
            <a:solidFill>
              <a:srgbClr val="D8D0C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4632" y="4443984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CONSTRAINTS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484632" y="46085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Multi-gen taxes; inflation protection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65760" y="5230368"/>
            <a:ext cx="1097280" cy="877824"/>
          </a:xfrm>
          <a:prstGeom prst="rect">
            <a:avLst/>
          </a:prstGeom>
          <a:solidFill>
            <a:srgbClr val="8B1A1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84048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E(R)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411480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5.0%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1463040" y="5230368"/>
            <a:ext cx="1097280" cy="877824"/>
          </a:xfrm>
          <a:prstGeom prst="rect">
            <a:avLst/>
          </a:prstGeom>
          <a:solidFill>
            <a:srgbClr val="263545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481328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DEV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1508760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7.0%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2560320" y="5230368"/>
            <a:ext cx="1097280" cy="877824"/>
          </a:xfrm>
          <a:prstGeom prst="rect">
            <a:avLst/>
          </a:prstGeom>
          <a:solidFill>
            <a:srgbClr val="1A141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2578608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2606040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3.0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4041648" y="1188720"/>
            <a:ext cx="3749040" cy="52120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041648" y="1188720"/>
            <a:ext cx="3749040" cy="10972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270248" y="1444752"/>
            <a:ext cx="749808" cy="749808"/>
          </a:xfrm>
          <a:prstGeom prst="ellipse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270248" y="1444752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TP</a:t>
            </a:r>
            <a:endParaRPr lang="en-US" sz="1700" dirty="0"/>
          </a:p>
        </p:txBody>
      </p:sp>
      <p:sp>
        <p:nvSpPr>
          <p:cNvPr id="42" name="Text 40"/>
          <p:cNvSpPr/>
          <p:nvPr/>
        </p:nvSpPr>
        <p:spPr>
          <a:xfrm>
            <a:off x="6327648" y="135331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#13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120640" y="144475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Petersons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120640" y="18470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31/30  ·  Teacher &amp; Nurse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270248" y="2322576"/>
            <a:ext cx="1325880" cy="237744"/>
          </a:xfrm>
          <a:prstGeom prst="rect">
            <a:avLst/>
          </a:prstGeom>
          <a:solidFill>
            <a:srgbClr val="FFF0E8"/>
          </a:solidFill>
          <a:ln w="12700">
            <a:solidFill>
              <a:srgbClr val="FFF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334256" y="2382012"/>
            <a:ext cx="91440" cy="91440"/>
          </a:xfrm>
          <a:prstGeom prst="ellipse">
            <a:avLst/>
          </a:prstGeom>
          <a:solidFill>
            <a:srgbClr val="C05B30"/>
          </a:solidFill>
          <a:ln w="12700">
            <a:solidFill>
              <a:srgbClr val="C05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462272" y="2322576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C05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AVERSE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4270248" y="2724912"/>
            <a:ext cx="3291840" cy="0"/>
          </a:xfrm>
          <a:prstGeom prst="line">
            <a:avLst/>
          </a:prstGeom>
          <a:noFill/>
          <a:ln w="6350">
            <a:solidFill>
              <a:srgbClr val="E0D8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270248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INCOME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4270248" y="29992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$110,000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007608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6007608" y="29992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$20,000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270248" y="3456432"/>
            <a:ext cx="3291840" cy="804672"/>
          </a:xfrm>
          <a:prstGeom prst="rect">
            <a:avLst/>
          </a:prstGeom>
          <a:solidFill>
            <a:srgbClr val="F0D0D0"/>
          </a:solidFill>
          <a:ln w="12700">
            <a:solidFill>
              <a:srgbClr val="F0D0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4270248" y="3456432"/>
            <a:ext cx="54864" cy="80467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4389120" y="349300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GOAL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4389120" y="365760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Debt Paydown / Child Education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4270248" y="4407408"/>
            <a:ext cx="3291840" cy="658368"/>
          </a:xfrm>
          <a:prstGeom prst="rect">
            <a:avLst/>
          </a:prstGeom>
          <a:solidFill>
            <a:srgbClr val="F8F5F0"/>
          </a:solidFill>
          <a:ln w="6350">
            <a:solidFill>
              <a:srgbClr val="D8D0C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4389120" y="4443984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CONSTRAINTS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4389120" y="46085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$180k Student Debt; Low cash flow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4270248" y="5230368"/>
            <a:ext cx="1097280" cy="877824"/>
          </a:xfrm>
          <a:prstGeom prst="rect">
            <a:avLst/>
          </a:prstGeom>
          <a:solidFill>
            <a:srgbClr val="8B1A1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288536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E(R)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4315968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6.0%</a:t>
            </a:r>
            <a:endParaRPr lang="en-US" sz="2000" dirty="0"/>
          </a:p>
        </p:txBody>
      </p:sp>
      <p:sp>
        <p:nvSpPr>
          <p:cNvPr id="63" name="Shape 61"/>
          <p:cNvSpPr/>
          <p:nvPr/>
        </p:nvSpPr>
        <p:spPr>
          <a:xfrm>
            <a:off x="5367528" y="5230368"/>
            <a:ext cx="1097280" cy="877824"/>
          </a:xfrm>
          <a:prstGeom prst="rect">
            <a:avLst/>
          </a:prstGeom>
          <a:solidFill>
            <a:srgbClr val="263545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5385816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DEV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5413248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10.0%</a:t>
            </a:r>
            <a:endParaRPr lang="en-US" sz="2000" dirty="0"/>
          </a:p>
        </p:txBody>
      </p:sp>
      <p:sp>
        <p:nvSpPr>
          <p:cNvPr id="66" name="Shape 64"/>
          <p:cNvSpPr/>
          <p:nvPr/>
        </p:nvSpPr>
        <p:spPr>
          <a:xfrm>
            <a:off x="6464808" y="5230368"/>
            <a:ext cx="1097280" cy="877824"/>
          </a:xfrm>
          <a:prstGeom prst="rect">
            <a:avLst/>
          </a:prstGeom>
          <a:solidFill>
            <a:srgbClr val="1A141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6483096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6510528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7.0</a:t>
            </a:r>
            <a:endParaRPr lang="en-US" sz="2000" dirty="0"/>
          </a:p>
        </p:txBody>
      </p:sp>
      <p:sp>
        <p:nvSpPr>
          <p:cNvPr id="69" name="Shape 67"/>
          <p:cNvSpPr/>
          <p:nvPr/>
        </p:nvSpPr>
        <p:spPr>
          <a:xfrm>
            <a:off x="7946136" y="1188720"/>
            <a:ext cx="3749040" cy="52120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7946136" y="1188720"/>
            <a:ext cx="3749040" cy="10972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8174736" y="1444752"/>
            <a:ext cx="749808" cy="749808"/>
          </a:xfrm>
          <a:prstGeom prst="ellipse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8174736" y="1444752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</a:t>
            </a:r>
            <a:endParaRPr lang="en-US" sz="1700" dirty="0"/>
          </a:p>
        </p:txBody>
      </p:sp>
      <p:sp>
        <p:nvSpPr>
          <p:cNvPr id="73" name="Text 71"/>
          <p:cNvSpPr/>
          <p:nvPr/>
        </p:nvSpPr>
        <p:spPr>
          <a:xfrm>
            <a:off x="10232136" y="135331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#15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9025128" y="144475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Tyler Reed</a:t>
            </a:r>
            <a:endParaRPr lang="en-US" sz="1400" dirty="0"/>
          </a:p>
        </p:txBody>
      </p:sp>
      <p:sp>
        <p:nvSpPr>
          <p:cNvPr id="75" name="Text 73"/>
          <p:cNvSpPr/>
          <p:nvPr/>
        </p:nvSpPr>
        <p:spPr>
          <a:xfrm>
            <a:off x="9025128" y="18470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27  ·  Gig Economy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8174736" y="2322576"/>
            <a:ext cx="1325880" cy="237744"/>
          </a:xfrm>
          <a:prstGeom prst="rect">
            <a:avLst/>
          </a:prstGeom>
          <a:solidFill>
            <a:srgbClr val="E8F5EE"/>
          </a:solidFill>
          <a:ln w="12700">
            <a:solidFill>
              <a:srgbClr val="E8F5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8238744" y="2382012"/>
            <a:ext cx="91440" cy="91440"/>
          </a:xfrm>
          <a:prstGeom prst="ellipse">
            <a:avLst/>
          </a:prstGeom>
          <a:solidFill>
            <a:srgbClr val="2D8A5E"/>
          </a:solidFill>
          <a:ln w="12700">
            <a:solidFill>
              <a:srgbClr val="2D8A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8366760" y="2322576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2D8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SEEKING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8174736" y="2724912"/>
            <a:ext cx="3291840" cy="0"/>
          </a:xfrm>
          <a:prstGeom prst="line">
            <a:avLst/>
          </a:prstGeom>
          <a:noFill/>
          <a:ln w="6350">
            <a:solidFill>
              <a:srgbClr val="E0D8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8174736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INCOME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8174736" y="29992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$55,000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9912096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9912096" y="29992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$5,000</a:t>
            </a:r>
            <a:endParaRPr lang="en-US" sz="1200" dirty="0"/>
          </a:p>
        </p:txBody>
      </p:sp>
      <p:sp>
        <p:nvSpPr>
          <p:cNvPr id="84" name="Shape 82"/>
          <p:cNvSpPr/>
          <p:nvPr/>
        </p:nvSpPr>
        <p:spPr>
          <a:xfrm>
            <a:off x="8174736" y="3456432"/>
            <a:ext cx="3291840" cy="804672"/>
          </a:xfrm>
          <a:prstGeom prst="rect">
            <a:avLst/>
          </a:prstGeom>
          <a:solidFill>
            <a:srgbClr val="F0D0D0"/>
          </a:solidFill>
          <a:ln w="12700">
            <a:solidFill>
              <a:srgbClr val="F0D0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8174736" y="3456432"/>
            <a:ext cx="54864" cy="80467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8293608" y="349300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GOAL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8293608" y="365760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Capital Accumulation</a:t>
            </a:r>
            <a:endParaRPr lang="en-US" sz="1150" dirty="0"/>
          </a:p>
        </p:txBody>
      </p:sp>
      <p:sp>
        <p:nvSpPr>
          <p:cNvPr id="88" name="Shape 86"/>
          <p:cNvSpPr/>
          <p:nvPr/>
        </p:nvSpPr>
        <p:spPr>
          <a:xfrm>
            <a:off x="8174736" y="4407408"/>
            <a:ext cx="3291840" cy="658368"/>
          </a:xfrm>
          <a:prstGeom prst="rect">
            <a:avLst/>
          </a:prstGeom>
          <a:solidFill>
            <a:srgbClr val="F8F5F0"/>
          </a:solidFill>
          <a:ln w="6350">
            <a:solidFill>
              <a:srgbClr val="D8D0C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8293608" y="4443984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CONSTRAINTS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8293608" y="46085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starting capital; Very long horizon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8174736" y="5230368"/>
            <a:ext cx="1097280" cy="877824"/>
          </a:xfrm>
          <a:prstGeom prst="rect">
            <a:avLst/>
          </a:prstGeom>
          <a:solidFill>
            <a:srgbClr val="8B1A1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90"/>
          <p:cNvSpPr/>
          <p:nvPr/>
        </p:nvSpPr>
        <p:spPr>
          <a:xfrm>
            <a:off x="8193024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E(R)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8220456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9.0%</a:t>
            </a:r>
            <a:endParaRPr lang="en-US" sz="2000" dirty="0"/>
          </a:p>
        </p:txBody>
      </p:sp>
      <p:sp>
        <p:nvSpPr>
          <p:cNvPr id="94" name="Shape 92"/>
          <p:cNvSpPr/>
          <p:nvPr/>
        </p:nvSpPr>
        <p:spPr>
          <a:xfrm>
            <a:off x="9272016" y="5230368"/>
            <a:ext cx="1097280" cy="877824"/>
          </a:xfrm>
          <a:prstGeom prst="rect">
            <a:avLst/>
          </a:prstGeom>
          <a:solidFill>
            <a:srgbClr val="263545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93"/>
          <p:cNvSpPr/>
          <p:nvPr/>
        </p:nvSpPr>
        <p:spPr>
          <a:xfrm>
            <a:off x="9290304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DEV</a:t>
            </a:r>
            <a:endParaRPr lang="en-US" sz="650" dirty="0"/>
          </a:p>
        </p:txBody>
      </p:sp>
      <p:sp>
        <p:nvSpPr>
          <p:cNvPr id="96" name="Text 94"/>
          <p:cNvSpPr/>
          <p:nvPr/>
        </p:nvSpPr>
        <p:spPr>
          <a:xfrm>
            <a:off x="9317736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19.0%</a:t>
            </a:r>
            <a:endParaRPr lang="en-US" sz="2000" dirty="0"/>
          </a:p>
        </p:txBody>
      </p:sp>
      <p:sp>
        <p:nvSpPr>
          <p:cNvPr id="97" name="Shape 95"/>
          <p:cNvSpPr/>
          <p:nvPr/>
        </p:nvSpPr>
        <p:spPr>
          <a:xfrm>
            <a:off x="10369296" y="5230368"/>
            <a:ext cx="1097280" cy="877824"/>
          </a:xfrm>
          <a:prstGeom prst="rect">
            <a:avLst/>
          </a:prstGeom>
          <a:solidFill>
            <a:srgbClr val="1A141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Text 96"/>
          <p:cNvSpPr/>
          <p:nvPr/>
        </p:nvSpPr>
        <p:spPr>
          <a:xfrm>
            <a:off x="10387584" y="5285232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</a:t>
            </a:r>
            <a:endParaRPr lang="en-US" sz="650" dirty="0"/>
          </a:p>
        </p:txBody>
      </p:sp>
      <p:sp>
        <p:nvSpPr>
          <p:cNvPr id="99" name="Text 97"/>
          <p:cNvSpPr/>
          <p:nvPr/>
        </p:nvSpPr>
        <p:spPr>
          <a:xfrm>
            <a:off x="10415016" y="548640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2.5</a:t>
            </a:r>
            <a:endParaRPr lang="en-US" sz="2000" dirty="0"/>
          </a:p>
        </p:txBody>
      </p:sp>
      <p:sp>
        <p:nvSpPr>
          <p:cNvPr id="100" name="Shape 98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274320" y="6565392"/>
            <a:ext cx="1161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BUS331 Investments  ·  Endicott College  ·  Team Five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7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CA89B73-4AD9-4486-9882-DEDEE2C799D2}">
  <we:reference id="WA200010001" version="1.0.0.0" store="Omex" storeType="OMEX"/>
  <we:alternateReferences>
    <we:reference id="WA200010001" version="1.0.0.0" store="WA200010001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865</Words>
  <Application>Microsoft Office PowerPoint</Application>
  <PresentationFormat>Widescreen</PresentationFormat>
  <Paragraphs>324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BUS331 Client Scenario Profiles</dc:title>
  <dc:subject>PptxGenJS Presentation</dc:subject>
  <dc:creator>Endicott College</dc:creator>
  <cp:lastModifiedBy>Bethany Evitts</cp:lastModifiedBy>
  <cp:revision>2</cp:revision>
  <dcterms:created xsi:type="dcterms:W3CDTF">2026-03-08T18:04:12Z</dcterms:created>
  <dcterms:modified xsi:type="dcterms:W3CDTF">2026-03-08T18:27:04Z</dcterms:modified>
</cp:coreProperties>
</file>