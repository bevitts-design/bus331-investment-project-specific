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f80e23193d4b5c" /><Relationship Type="http://schemas.openxmlformats.org/officeDocument/2006/relationships/extended-properties" Target="/docProps/app.xml" Id="R06f10e4a22a44da8" /><Relationship Type="http://schemas.openxmlformats.org/officeDocument/2006/relationships/officeDocument" Target="/ppt/presentation.xml" Id="Rc38aa72e71ae4657" /></Relationships>
</file>

<file path=ppt/presentation.xml><?xml version="1.0" encoding="utf-8"?>
<p:presentation xmlns:p="http://schemas.openxmlformats.org/presentationml/2006/main">
  <p:sldMasterIdLst>
    <p:sldMasterId xmlns:r="http://schemas.openxmlformats.org/officeDocument/2006/relationships" id="2147483648" r:id="R42d251e8923c4e73"/>
  </p:sldMasterIdLst>
  <p:notesMasterIdLst>
    <p:notesMasterId xmlns:r="http://schemas.openxmlformats.org/officeDocument/2006/relationships" r:id="R9fd5c85b3e424ece"/>
  </p:notesMasterIdLst>
  <p:sldIdLst>
    <p:sldId xmlns:r="http://schemas.openxmlformats.org/officeDocument/2006/relationships" id="256" r:id="R017b8b8247d849a4"/>
    <p:sldId xmlns:r="http://schemas.openxmlformats.org/officeDocument/2006/relationships" id="257" r:id="R914fabfd04e34825"/>
    <p:sldId xmlns:r="http://schemas.openxmlformats.org/officeDocument/2006/relationships" id="258" r:id="R6aa67c7f605e41d7"/>
    <p:sldId xmlns:r="http://schemas.openxmlformats.org/officeDocument/2006/relationships" id="259" r:id="Ra078f87415384373"/>
    <p:sldId xmlns:r="http://schemas.openxmlformats.org/officeDocument/2006/relationships" id="260" r:id="R950eddb574bf442e"/>
    <p:sldId xmlns:r="http://schemas.openxmlformats.org/officeDocument/2006/relationships" id="261" r:id="R700fe3618e9d4b12"/>
    <p:sldId xmlns:r="http://schemas.openxmlformats.org/officeDocument/2006/relationships" id="262" r:id="R22f14346742e4e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45dd1f9ec4d49bf" /><Relationship Type="http://schemas.openxmlformats.org/officeDocument/2006/relationships/slideMaster" Target="/ppt/slideMasters/slideMaster1.xml" Id="R42d251e8923c4e73" /><Relationship Type="http://schemas.openxmlformats.org/officeDocument/2006/relationships/notesMaster" Target="/ppt/notesMasters/notesMaster1.xml" Id="R9fd5c85b3e424ece" /><Relationship Type="http://schemas.openxmlformats.org/officeDocument/2006/relationships/presProps" Target="/ppt/presProps.xml" Id="R4f654dabb6c94055" /><Relationship Type="http://schemas.openxmlformats.org/officeDocument/2006/relationships/viewProps" Target="/ppt/viewProps.xml" Id="R871a605609a44036" /><Relationship Type="http://schemas.openxmlformats.org/officeDocument/2006/relationships/tableStyles" Target="/ppt/tableStyles.xml" Id="Rb1c5ed5c6bcd4cbb" /><Relationship Type="http://schemas.openxmlformats.org/officeDocument/2006/relationships/slide" Target="/ppt/slides/slide1.xml" Id="R017b8b8247d849a4" /><Relationship Type="http://schemas.openxmlformats.org/officeDocument/2006/relationships/slide" Target="/ppt/slides/slide2.xml" Id="R914fabfd04e34825" /><Relationship Type="http://schemas.openxmlformats.org/officeDocument/2006/relationships/slide" Target="/ppt/slides/slide3.xml" Id="R6aa67c7f605e41d7" /><Relationship Type="http://schemas.openxmlformats.org/officeDocument/2006/relationships/slide" Target="/ppt/slides/slide4.xml" Id="Ra078f87415384373" /><Relationship Type="http://schemas.openxmlformats.org/officeDocument/2006/relationships/slide" Target="/ppt/slides/slide5.xml" Id="R950eddb574bf442e" /><Relationship Type="http://schemas.openxmlformats.org/officeDocument/2006/relationships/slide" Target="/ppt/slides/slide6.xml" Id="R700fe3618e9d4b12" /><Relationship Type="http://schemas.openxmlformats.org/officeDocument/2006/relationships/slide" Target="/ppt/slides/slide7.xml" Id="R22f14346742e4e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bf4299f8a743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6b23abf2874e66" /><Relationship Type="http://schemas.openxmlformats.org/officeDocument/2006/relationships/notesMaster" Target="/ppt/notesMasters/notesMaster1.xml" Id="Rf5b2a44c1cdc4a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323516728e4b59" /><Relationship Type="http://schemas.openxmlformats.org/officeDocument/2006/relationships/notesMaster" Target="/ppt/notesMasters/notesMaster1.xml" Id="Rba36ada69f724a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abe1418b7c48de" /><Relationship Type="http://schemas.openxmlformats.org/officeDocument/2006/relationships/notesMaster" Target="/ppt/notesMasters/notesMaster1.xml" Id="R15d7947c2c8549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45443e2b924ae6" /><Relationship Type="http://schemas.openxmlformats.org/officeDocument/2006/relationships/notesMaster" Target="/ppt/notesMasters/notesMaster1.xml" Id="R04b017b5886847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7ee1d66fa842e0" /><Relationship Type="http://schemas.openxmlformats.org/officeDocument/2006/relationships/notesMaster" Target="/ppt/notesMasters/notesMaster1.xml" Id="Rd405729a9e3149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6eed256de24502" /><Relationship Type="http://schemas.openxmlformats.org/officeDocument/2006/relationships/notesMaster" Target="/ppt/notesMasters/notesMaster1.xml" Id="R0cd851d2fd6349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e5c8cd06cc4af6" /><Relationship Type="http://schemas.openxmlformats.org/officeDocument/2006/relationships/notesMaster" Target="/ppt/notesMasters/notesMaster1.xml" Id="Rc57ead9deb3441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classroom cases. Annual target returns and standard deviations are supplied scenario inputs, not forecasts or guarantees. Risk classification follows the supplied workbook thresholds: A &gt; 4.5 Risk Averse; A &lt;= 2.5 Risk Seeking; otherwise Risk Neutral.</a:t>
            </a:r>
          </a:p>
          <a:p xmlns:a="http://schemas.openxmlformats.org/drawingml/2006/main">
            <a:r>
              <a:t/>
            </a:r>
          </a:p>
          <a:p xmlns:a="http://schemas.openxmlformats.org/drawingml/2006/main">
            <a:r>
              <a:t>Nora Ellis: Nora supports an adult sibling with a mobility disability. She expects $90,000 of home accessibility improvements in two years and needs a separate reserve for ongoing family care. Her investment priority is dependable access to capital, with limited willingness to accept losses. The amount and timing of future care costs are not provided.</a:t>
            </a:r>
          </a:p>
          <a:p xmlns:a="http://schemas.openxmlformats.org/drawingml/2006/main">
            <a:r>
              <a:t/>
            </a:r>
          </a:p>
          <a:p xmlns:a="http://schemas.openxmlformats.org/drawingml/2006/main">
            <a:r>
              <a:t>Priya &amp; Owen Brooks: Priya and Owen plan a one-year career break beginning in four years, with a $100,000 spending budget. They also want to keep building retirement wealth over a 20-year horizon. They accept moderate investment fluctuations, but the career-break money must be available when needed. Replacement income during the break and account tax treatment are not provided.</a:t>
            </a:r>
          </a:p>
          <a:p xmlns:a="http://schemas.openxmlformats.org/drawingml/2006/main">
            <a:r>
              <a:t/>
            </a:r>
          </a:p>
          <a:p xmlns:a="http://schemas.openxmlformats.org/drawingml/2006/main">
            <a:r>
              <a:t>Adrian Cole: Adrian earns a stable salary and invests toward financial independence over 25 years. He maintains an emergency cash reserve outside the investment portfolio and expects no planned withdrawals from the portfolio during the next ten years. He is willing to accept substantial fluctuations for growth. The reserve amount, future contribution rate, and maximum acceptable drawdown are not 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826e66ece8405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95fc938b524807" /><Relationship Type="http://schemas.openxmlformats.org/officeDocument/2006/relationships/slideLayout" Target="/ppt/slideLayouts/slideLayout1.xml" Id="R0351bc8a492e486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51bc8a492e486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92c032356041ab" /><Relationship Type="http://schemas.openxmlformats.org/officeDocument/2006/relationships/notesSlide" Target="/ppt/notesSlides/notesSlide1.xml" Id="R525458da6ea940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89d7c6311224142" /><Relationship Type="http://schemas.openxmlformats.org/officeDocument/2006/relationships/notesSlide" Target="/ppt/notesSlides/notesSlide2.xml" Id="R428e4c39872945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48e9fcdc2b84498" /><Relationship Type="http://schemas.openxmlformats.org/officeDocument/2006/relationships/notesSlide" Target="/ppt/notesSlides/notesSlide3.xml" Id="Re3a2fe5b3a9641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e8b7b21e094f71" /><Relationship Type="http://schemas.openxmlformats.org/officeDocument/2006/relationships/notesSlide" Target="/ppt/notesSlides/notesSlide4.xml" Id="Rdff345d183a54d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1913abde7af4900" /><Relationship Type="http://schemas.openxmlformats.org/officeDocument/2006/relationships/notesSlide" Target="/ppt/notesSlides/notesSlide5.xml" Id="R64cb5537363241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314934d634e44ca" /><Relationship Type="http://schemas.openxmlformats.org/officeDocument/2006/relationships/notesSlide" Target="/ppt/notesSlides/notesSlide6.xml" Id="R91d256e6d52042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2d1689d97c14ae5" /><Relationship Type="http://schemas.openxmlformats.org/officeDocument/2006/relationships/notesSlide" Target="/ppt/notesSlides/notesSlide7.xml" Id="R072e29d4478f4035" /></Relationships>
</file>

<file path=ppt/slides/slide1.xml><?xml version="1.0" encoding="utf-8"?>
<p:sld xmlns:p="http://schemas.openxmlformats.org/presentationml/2006/main">
  <p:cSld>
    <p:bg>
      <p:bgPr>
        <a:solidFill xmlns:a="http://schemas.openxmlformats.org/drawingml/2006/main">
          <a:srgbClr val="1A141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6CB840D-B071-4D43-85B8-98BB6174DC2B}"/>
              </a:ext>
            </a:extLst>
          </p:cNvPr>
          <p:cNvSpPr>
            <a:spLocks xmlns:a="http://schemas.openxmlformats.org/drawingml/2006/main" noGrp="1"/>
          </p:cNvSpPr>
          <p:nvPr/>
        </p:nvSpPr>
        <p:spPr>
          <a:xfrm xmlns:a="http://schemas.openxmlformats.org/drawingml/2006/main">
            <a:off x="0" y="0"/>
            <a:ext cx="164592" cy="6858000"/>
          </a:xfrm>
          <a:prstGeom xmlns:a="http://schemas.openxmlformats.org/drawingml/2006/main" prst="rect">
            <a:avLst/>
          </a:prstGeom>
          <a:solidFill xmlns:a="http://schemas.openxmlformats.org/drawingml/2006/main">
            <a:srgbClr val="C9A84C"/>
          </a:solidFill>
          <a:ln xmlns:a="http://schemas.openxmlformats.org/drawingml/2006/main" w="12700">
            <a:solidFill>
              <a:srgbClr val="C9A84C"/>
            </a:solidFill>
            <a:prstDash val="solid"/>
          </a:ln>
        </p:spPr>
        <p:txBody>
          <a:bodyPr xmlns:a="http://schemas.openxmlformats.org/drawingml/2006/main"/>
          <a:lstStyle xmlns:a="http://schemas.openxmlformats.org/drawingml/2006/main"/>
          <a:p xmlns:a="http://schemas.openxmlformats.org/drawingml/2006/main"/>
        </p:txBody>
      </p:sp>
      <p:sp>
        <p:nvSpPr>
          <p:cNvPr id="3" name="Shape 1">
            <a:extLst xmlns:a="http://schemas.openxmlformats.org/drawingml/2006/main">
              <a:ext uri="{FF2B5EF4-FFF2-40B4-BE49-F238E27FC236}">
                <a16:creationId xmlns:a16="http://schemas.microsoft.com/office/drawing/2014/main" id="{F6FD6FA4-C128-4BC3-95B0-DE3F78D178E7}"/>
              </a:ext>
            </a:extLst>
          </p:cNvPr>
          <p:cNvSpPr>
            <a:spLocks xmlns:a="http://schemas.openxmlformats.org/drawingml/2006/main" noGrp="1"/>
          </p:cNvSpPr>
          <p:nvPr/>
        </p:nvSpPr>
        <p:spPr>
          <a:xfrm xmlns:a="http://schemas.openxmlformats.org/drawingml/2006/main">
            <a:off x="164592" y="0"/>
            <a:ext cx="11996928" cy="0"/>
          </a:xfrm>
          <a:prstGeom xmlns:a="http://schemas.openxmlformats.org/drawingml/2006/main" prst="line">
            <a:avLst/>
          </a:prstGeom>
          <a:noFill xmlns:a="http://schemas.openxmlformats.org/drawingml/2006/main"/>
          <a:ln xmlns:a="http://schemas.openxmlformats.org/drawingml/2006/main" w="3810">
            <a:solidFill>
              <a:srgbClr val="FFFFFF">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574F21A1-12D1-4FFC-B15C-8EA790F80157}"/>
              </a:ext>
            </a:extLst>
          </p:cNvPr>
          <p:cNvSpPr>
            <a:spLocks xmlns:a="http://schemas.openxmlformats.org/drawingml/2006/main" noGrp="1"/>
          </p:cNvSpPr>
          <p:nvPr/>
        </p:nvSpPr>
        <p:spPr>
          <a:xfrm xmlns:a="http://schemas.openxmlformats.org/drawingml/2006/main">
            <a:off x="164592" y="859536"/>
            <a:ext cx="11996928" cy="0"/>
          </a:xfrm>
          <a:prstGeom xmlns:a="http://schemas.openxmlformats.org/drawingml/2006/main" prst="line">
            <a:avLst/>
          </a:prstGeom>
          <a:noFill xmlns:a="http://schemas.openxmlformats.org/drawingml/2006/main"/>
          <a:ln xmlns:a="http://schemas.openxmlformats.org/drawingml/2006/main" w="3810">
            <a:solidFill>
              <a:srgbClr val="FFFFFF">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9B0DB196-3A93-4B71-9A52-56D1B4B5921C}"/>
              </a:ext>
            </a:extLst>
          </p:cNvPr>
          <p:cNvSpPr>
            <a:spLocks xmlns:a="http://schemas.openxmlformats.org/drawingml/2006/main" noGrp="1"/>
          </p:cNvSpPr>
          <p:nvPr/>
        </p:nvSpPr>
        <p:spPr>
          <a:xfrm xmlns:a="http://schemas.openxmlformats.org/drawingml/2006/main">
            <a:off x="164592" y="1719072"/>
            <a:ext cx="11996928" cy="0"/>
          </a:xfrm>
          <a:prstGeom xmlns:a="http://schemas.openxmlformats.org/drawingml/2006/main" prst="line">
            <a:avLst/>
          </a:prstGeom>
          <a:noFill xmlns:a="http://schemas.openxmlformats.org/drawingml/2006/main"/>
          <a:ln xmlns:a="http://schemas.openxmlformats.org/drawingml/2006/main" w="3810">
            <a:solidFill>
              <a:srgbClr val="FFFFFF">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6" name="Shape 4">
            <a:extLst xmlns:a="http://schemas.openxmlformats.org/drawingml/2006/main">
              <a:ext uri="{FF2B5EF4-FFF2-40B4-BE49-F238E27FC236}">
                <a16:creationId xmlns:a16="http://schemas.microsoft.com/office/drawing/2014/main" id="{A3FF7344-7A45-411D-BB9E-90ED5E04BC5B}"/>
              </a:ext>
            </a:extLst>
          </p:cNvPr>
          <p:cNvSpPr>
            <a:spLocks xmlns:a="http://schemas.openxmlformats.org/drawingml/2006/main" noGrp="1"/>
          </p:cNvSpPr>
          <p:nvPr/>
        </p:nvSpPr>
        <p:spPr>
          <a:xfrm xmlns:a="http://schemas.openxmlformats.org/drawingml/2006/main">
            <a:off x="164592" y="2578608"/>
            <a:ext cx="11996928" cy="0"/>
          </a:xfrm>
          <a:prstGeom xmlns:a="http://schemas.openxmlformats.org/drawingml/2006/main" prst="line">
            <a:avLst/>
          </a:prstGeom>
          <a:noFill xmlns:a="http://schemas.openxmlformats.org/drawingml/2006/main"/>
          <a:ln xmlns:a="http://schemas.openxmlformats.org/drawingml/2006/main" w="3810">
            <a:solidFill>
              <a:srgbClr val="FFFFFF">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7" name="Shape 5">
            <a:extLst xmlns:a="http://schemas.openxmlformats.org/drawingml/2006/main">
              <a:ext uri="{FF2B5EF4-FFF2-40B4-BE49-F238E27FC236}">
                <a16:creationId xmlns:a16="http://schemas.microsoft.com/office/drawing/2014/main" id="{97E8AF7B-C79F-4E3B-AE4C-057AA3B7FF93}"/>
              </a:ext>
            </a:extLst>
          </p:cNvPr>
          <p:cNvSpPr>
            <a:spLocks xmlns:a="http://schemas.openxmlformats.org/drawingml/2006/main" noGrp="1"/>
          </p:cNvSpPr>
          <p:nvPr/>
        </p:nvSpPr>
        <p:spPr>
          <a:xfrm xmlns:a="http://schemas.openxmlformats.org/drawingml/2006/main">
            <a:off x="164592" y="3438144"/>
            <a:ext cx="11996928" cy="0"/>
          </a:xfrm>
          <a:prstGeom xmlns:a="http://schemas.openxmlformats.org/drawingml/2006/main" prst="line">
            <a:avLst/>
          </a:prstGeom>
          <a:noFill xmlns:a="http://schemas.openxmlformats.org/drawingml/2006/main"/>
          <a:ln xmlns:a="http://schemas.openxmlformats.org/drawingml/2006/main" w="3810">
            <a:solidFill>
              <a:srgbClr val="FFFFFF">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2E52A8D7-F04E-45DE-88B5-74D93CE4C0B4}"/>
              </a:ext>
            </a:extLst>
          </p:cNvPr>
          <p:cNvSpPr>
            <a:spLocks xmlns:a="http://schemas.openxmlformats.org/drawingml/2006/main" noGrp="1"/>
          </p:cNvSpPr>
          <p:nvPr/>
        </p:nvSpPr>
        <p:spPr>
          <a:xfrm xmlns:a="http://schemas.openxmlformats.org/drawingml/2006/main">
            <a:off x="164592" y="4297680"/>
            <a:ext cx="11996928" cy="0"/>
          </a:xfrm>
          <a:prstGeom xmlns:a="http://schemas.openxmlformats.org/drawingml/2006/main" prst="line">
            <a:avLst/>
          </a:prstGeom>
          <a:noFill xmlns:a="http://schemas.openxmlformats.org/drawingml/2006/main"/>
          <a:ln xmlns:a="http://schemas.openxmlformats.org/drawingml/2006/main" w="3810">
            <a:solidFill>
              <a:srgbClr val="FFFFFF">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EE5C8BA5-13AE-471A-A76B-9FF8A261046C}"/>
              </a:ext>
            </a:extLst>
          </p:cNvPr>
          <p:cNvSpPr>
            <a:spLocks xmlns:a="http://schemas.openxmlformats.org/drawingml/2006/main" noGrp="1"/>
          </p:cNvSpPr>
          <p:nvPr/>
        </p:nvSpPr>
        <p:spPr>
          <a:xfrm xmlns:a="http://schemas.openxmlformats.org/drawingml/2006/main">
            <a:off x="164592" y="5157216"/>
            <a:ext cx="11996928" cy="0"/>
          </a:xfrm>
          <a:prstGeom xmlns:a="http://schemas.openxmlformats.org/drawingml/2006/main" prst="line">
            <a:avLst/>
          </a:prstGeom>
          <a:noFill xmlns:a="http://schemas.openxmlformats.org/drawingml/2006/main"/>
          <a:ln xmlns:a="http://schemas.openxmlformats.org/drawingml/2006/main" w="3810">
            <a:solidFill>
              <a:srgbClr val="FFFFFF">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6865F52A-E396-49D5-8D07-3DCFA20A817F}"/>
              </a:ext>
            </a:extLst>
          </p:cNvPr>
          <p:cNvSpPr>
            <a:spLocks xmlns:a="http://schemas.openxmlformats.org/drawingml/2006/main" noGrp="1"/>
          </p:cNvSpPr>
          <p:nvPr/>
        </p:nvSpPr>
        <p:spPr>
          <a:xfrm xmlns:a="http://schemas.openxmlformats.org/drawingml/2006/main">
            <a:off x="164592" y="6016752"/>
            <a:ext cx="11996928" cy="0"/>
          </a:xfrm>
          <a:prstGeom xmlns:a="http://schemas.openxmlformats.org/drawingml/2006/main" prst="line">
            <a:avLst/>
          </a:prstGeom>
          <a:noFill xmlns:a="http://schemas.openxmlformats.org/drawingml/2006/main"/>
          <a:ln xmlns:a="http://schemas.openxmlformats.org/drawingml/2006/main" w="3810">
            <a:solidFill>
              <a:srgbClr val="FFFFFF">
                <a:alpha val="12000"/>
              </a:srgbClr>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9EBE6360-359F-4ED2-8E14-6CE098DBFA42}"/>
              </a:ext>
            </a:extLst>
          </p:cNvPr>
          <p:cNvSpPr>
            <a:spLocks xmlns:a="http://schemas.openxmlformats.org/drawingml/2006/main" noGrp="1"/>
          </p:cNvSpPr>
          <p:nvPr/>
        </p:nvSpPr>
        <p:spPr>
          <a:xfrm xmlns:a="http://schemas.openxmlformats.org/drawingml/2006/main">
            <a:off x="502920" y="1280160"/>
            <a:ext cx="8229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6000" b="1">
                <a:solidFill>
                  <a:srgbClr val="FFFFFF"/>
                </a:solidFill>
                <a:latin typeface="Georgia"/>
                <a:ea typeface="Georgia"/>
                <a:cs typeface="Georgia"/>
              </a:rPr>
              <a:t>Client Scenario</a:t>
            </a:r>
          </a:p>
        </p:txBody>
      </p:sp>
      <p:sp>
        <p:nvSpPr>
          <p:cNvPr id="12" name="Text 10">
            <a:extLst xmlns:a="http://schemas.openxmlformats.org/drawingml/2006/main">
              <a:ext uri="{FF2B5EF4-FFF2-40B4-BE49-F238E27FC236}">
                <a16:creationId xmlns:a16="http://schemas.microsoft.com/office/drawing/2014/main" id="{A1C19996-2026-48BC-9ACA-033DB8604441}"/>
              </a:ext>
            </a:extLst>
          </p:cNvPr>
          <p:cNvSpPr>
            <a:spLocks xmlns:a="http://schemas.openxmlformats.org/drawingml/2006/main" noGrp="1"/>
          </p:cNvSpPr>
          <p:nvPr/>
        </p:nvSpPr>
        <p:spPr>
          <a:xfrm xmlns:a="http://schemas.openxmlformats.org/drawingml/2006/main">
            <a:off x="502920" y="2514600"/>
            <a:ext cx="82296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6000" b="1" i="1">
                <a:solidFill>
                  <a:srgbClr val="C9A84C"/>
                </a:solidFill>
                <a:latin typeface="Georgia"/>
                <a:ea typeface="Georgia"/>
                <a:cs typeface="Georgia"/>
              </a:rPr>
              <a:t>Profiles</a:t>
            </a:r>
          </a:p>
        </p:txBody>
      </p:sp>
      <p:sp>
        <p:nvSpPr>
          <p:cNvPr id="13" name="Text 11">
            <a:extLst xmlns:a="http://schemas.openxmlformats.org/drawingml/2006/main">
              <a:ext uri="{FF2B5EF4-FFF2-40B4-BE49-F238E27FC236}">
                <a16:creationId xmlns:a16="http://schemas.microsoft.com/office/drawing/2014/main" id="{0ADE9F95-F557-4802-B6FE-7A4237701200}"/>
              </a:ext>
            </a:extLst>
          </p:cNvPr>
          <p:cNvSpPr>
            <a:spLocks xmlns:a="http://schemas.openxmlformats.org/drawingml/2006/main" noGrp="1"/>
          </p:cNvSpPr>
          <p:nvPr/>
        </p:nvSpPr>
        <p:spPr>
          <a:xfrm xmlns:a="http://schemas.openxmlformats.org/drawingml/2006/main">
            <a:off x="502920" y="3977640"/>
            <a:ext cx="8229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a:solidFill>
                  <a:srgbClr val="AAAAAA"/>
                </a:solidFill>
                <a:latin typeface="Calibri"/>
                <a:ea typeface="Calibri"/>
                <a:cs typeface="Calibri"/>
              </a:rPr>
              <a:t>BUS331 Investments  ·  Endicott College  ·  </a:t>
            </a:r>
            <a:r>
              <a:rPr sz="1300">
                <a:solidFill>
                  <a:srgbClr val="AAAAAA"/>
                </a:solidFill>
                <a:latin typeface="Calibri"/>
                <a:ea typeface="Calibri"/>
                <a:cs typeface="Calibri"/>
              </a:rPr>
              <a:t>Fall 2026</a:t>
            </a:r>
          </a:p>
        </p:txBody>
      </p:sp>
      <p:sp>
        <p:nvSpPr>
          <p:cNvPr id="14" name="Shape 12">
            <a:extLst xmlns:a="http://schemas.openxmlformats.org/drawingml/2006/main">
              <a:ext uri="{FF2B5EF4-FFF2-40B4-BE49-F238E27FC236}">
                <a16:creationId xmlns:a16="http://schemas.microsoft.com/office/drawing/2014/main" id="{1A45F269-B400-4088-8EE1-CA6C339D5598}"/>
              </a:ext>
            </a:extLst>
          </p:cNvPr>
          <p:cNvSpPr>
            <a:spLocks xmlns:a="http://schemas.openxmlformats.org/drawingml/2006/main" noGrp="1"/>
          </p:cNvSpPr>
          <p:nvPr/>
        </p:nvSpPr>
        <p:spPr>
          <a:xfrm xmlns:a="http://schemas.openxmlformats.org/drawingml/2006/main">
            <a:off x="9601200" y="1188720"/>
            <a:ext cx="2194560" cy="566928"/>
          </a:xfrm>
          <a:prstGeom xmlns:a="http://schemas.openxmlformats.org/drawingml/2006/main" prst="rect">
            <a:avLst/>
          </a:prstGeom>
          <a:solidFill xmlns:a="http://schemas.openxmlformats.org/drawingml/2006/main">
            <a:srgbClr val="2B4A6B"/>
          </a:solidFill>
          <a:ln xmlns:a="http://schemas.openxmlformats.org/drawingml/2006/main" w="12700">
            <a:solidFill>
              <a:srgbClr val="2B4A6B"/>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B555731D-43B7-415D-AF13-41021B336001}"/>
              </a:ext>
            </a:extLst>
          </p:cNvPr>
          <p:cNvSpPr>
            <a:spLocks xmlns:a="http://schemas.openxmlformats.org/drawingml/2006/main" noGrp="1"/>
          </p:cNvSpPr>
          <p:nvPr/>
        </p:nvSpPr>
        <p:spPr>
          <a:xfrm xmlns:a="http://schemas.openxmlformats.org/drawingml/2006/main">
            <a:off x="9601200" y="1188720"/>
            <a:ext cx="21945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Georgia"/>
                <a:ea typeface="Georgia"/>
                <a:cs typeface="Georgia"/>
              </a:rPr>
              <a:t>Team 1</a:t>
            </a:r>
          </a:p>
        </p:txBody>
      </p:sp>
      <p:sp>
        <p:nvSpPr>
          <p:cNvPr id="16" name="Shape 14">
            <a:extLst xmlns:a="http://schemas.openxmlformats.org/drawingml/2006/main">
              <a:ext uri="{FF2B5EF4-FFF2-40B4-BE49-F238E27FC236}">
                <a16:creationId xmlns:a16="http://schemas.microsoft.com/office/drawing/2014/main" id="{749E823C-4BD9-45FA-BB34-A7775FCEC2F7}"/>
              </a:ext>
            </a:extLst>
          </p:cNvPr>
          <p:cNvSpPr>
            <a:spLocks xmlns:a="http://schemas.openxmlformats.org/drawingml/2006/main" noGrp="1"/>
          </p:cNvSpPr>
          <p:nvPr/>
        </p:nvSpPr>
        <p:spPr>
          <a:xfrm xmlns:a="http://schemas.openxmlformats.org/drawingml/2006/main">
            <a:off x="9601200" y="1993392"/>
            <a:ext cx="2194560" cy="566928"/>
          </a:xfrm>
          <a:prstGeom xmlns:a="http://schemas.openxmlformats.org/drawingml/2006/main" prst="rect">
            <a:avLst/>
          </a:prstGeom>
          <a:solidFill xmlns:a="http://schemas.openxmlformats.org/drawingml/2006/main">
            <a:srgbClr val="6B3A1F"/>
          </a:solidFill>
          <a:ln xmlns:a="http://schemas.openxmlformats.org/drawingml/2006/main" w="12700">
            <a:solidFill>
              <a:srgbClr val="6B3A1F"/>
            </a:solidFill>
            <a:prstDash val="solid"/>
          </a:ln>
        </p:spPr>
        <p:txBody>
          <a:bodyPr xmlns:a="http://schemas.openxmlformats.org/drawingml/2006/main"/>
          <a:lstStyle xmlns:a="http://schemas.openxmlformats.org/drawingml/2006/main"/>
          <a:p xmlns:a="http://schemas.openxmlformats.org/drawingml/2006/main"/>
        </p:txBody>
      </p:sp>
      <p:sp>
        <p:nvSpPr>
          <p:cNvPr id="17" name="Text 15">
            <a:extLst xmlns:a="http://schemas.openxmlformats.org/drawingml/2006/main">
              <a:ext uri="{FF2B5EF4-FFF2-40B4-BE49-F238E27FC236}">
                <a16:creationId xmlns:a16="http://schemas.microsoft.com/office/drawing/2014/main" id="{4254696B-C4E4-43B4-AB87-685DEAD7E6B7}"/>
              </a:ext>
            </a:extLst>
          </p:cNvPr>
          <p:cNvSpPr>
            <a:spLocks xmlns:a="http://schemas.openxmlformats.org/drawingml/2006/main" noGrp="1"/>
          </p:cNvSpPr>
          <p:nvPr/>
        </p:nvSpPr>
        <p:spPr>
          <a:xfrm xmlns:a="http://schemas.openxmlformats.org/drawingml/2006/main">
            <a:off x="9601200" y="1993392"/>
            <a:ext cx="21945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Georgia"/>
                <a:ea typeface="Georgia"/>
                <a:cs typeface="Georgia"/>
              </a:rPr>
              <a:t>Team 2</a:t>
            </a:r>
          </a:p>
        </p:txBody>
      </p:sp>
      <p:sp>
        <p:nvSpPr>
          <p:cNvPr id="18" name="Shape 16">
            <a:extLst xmlns:a="http://schemas.openxmlformats.org/drawingml/2006/main">
              <a:ext uri="{FF2B5EF4-FFF2-40B4-BE49-F238E27FC236}">
                <a16:creationId xmlns:a16="http://schemas.microsoft.com/office/drawing/2014/main" id="{1E1C815A-DCE5-49D6-BFB1-D01037554DD7}"/>
              </a:ext>
            </a:extLst>
          </p:cNvPr>
          <p:cNvSpPr>
            <a:spLocks xmlns:a="http://schemas.openxmlformats.org/drawingml/2006/main" noGrp="1"/>
          </p:cNvSpPr>
          <p:nvPr/>
        </p:nvSpPr>
        <p:spPr>
          <a:xfrm xmlns:a="http://schemas.openxmlformats.org/drawingml/2006/main">
            <a:off x="9601200" y="2798064"/>
            <a:ext cx="2194560" cy="566928"/>
          </a:xfrm>
          <a:prstGeom xmlns:a="http://schemas.openxmlformats.org/drawingml/2006/main" prst="rect">
            <a:avLst/>
          </a:prstGeom>
          <a:solidFill xmlns:a="http://schemas.openxmlformats.org/drawingml/2006/main">
            <a:srgbClr val="2D5A3D"/>
          </a:solidFill>
          <a:ln xmlns:a="http://schemas.openxmlformats.org/drawingml/2006/main" w="12700">
            <a:solidFill>
              <a:srgbClr val="2D5A3D"/>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46DE137E-8E2F-43E1-BC5F-7E1D4F648C9F}"/>
              </a:ext>
            </a:extLst>
          </p:cNvPr>
          <p:cNvSpPr>
            <a:spLocks xmlns:a="http://schemas.openxmlformats.org/drawingml/2006/main" noGrp="1"/>
          </p:cNvSpPr>
          <p:nvPr/>
        </p:nvSpPr>
        <p:spPr>
          <a:xfrm xmlns:a="http://schemas.openxmlformats.org/drawingml/2006/main">
            <a:off x="9601200" y="2798064"/>
            <a:ext cx="21945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Georgia"/>
                <a:ea typeface="Georgia"/>
                <a:cs typeface="Georgia"/>
              </a:rPr>
              <a:t>Team 3</a:t>
            </a:r>
          </a:p>
        </p:txBody>
      </p:sp>
      <p:sp>
        <p:nvSpPr>
          <p:cNvPr id="20" name="Shape 18">
            <a:extLst xmlns:a="http://schemas.openxmlformats.org/drawingml/2006/main">
              <a:ext uri="{FF2B5EF4-FFF2-40B4-BE49-F238E27FC236}">
                <a16:creationId xmlns:a16="http://schemas.microsoft.com/office/drawing/2014/main" id="{EA2072C6-E5D2-4A3A-9EFD-208D0632C71B}"/>
              </a:ext>
            </a:extLst>
          </p:cNvPr>
          <p:cNvSpPr>
            <a:spLocks xmlns:a="http://schemas.openxmlformats.org/drawingml/2006/main" noGrp="1"/>
          </p:cNvSpPr>
          <p:nvPr/>
        </p:nvSpPr>
        <p:spPr>
          <a:xfrm xmlns:a="http://schemas.openxmlformats.org/drawingml/2006/main">
            <a:off x="9601200" y="3602736"/>
            <a:ext cx="2194560" cy="566928"/>
          </a:xfrm>
          <a:prstGeom xmlns:a="http://schemas.openxmlformats.org/drawingml/2006/main" prst="rect">
            <a:avLst/>
          </a:prstGeom>
          <a:solidFill xmlns:a="http://schemas.openxmlformats.org/drawingml/2006/main">
            <a:srgbClr val="4A2060"/>
          </a:solidFill>
          <a:ln xmlns:a="http://schemas.openxmlformats.org/drawingml/2006/main" w="12700">
            <a:solidFill>
              <a:srgbClr val="4A2060"/>
            </a:solidFill>
            <a:prstDash val="solid"/>
          </a:ln>
        </p:spPr>
        <p:txBody>
          <a:bodyPr xmlns:a="http://schemas.openxmlformats.org/drawingml/2006/main"/>
          <a:lstStyle xmlns:a="http://schemas.openxmlformats.org/drawingml/2006/main"/>
          <a:p xmlns:a="http://schemas.openxmlformats.org/drawingml/2006/main"/>
        </p:txBody>
      </p:sp>
      <p:sp>
        <p:nvSpPr>
          <p:cNvPr id="21" name="Text 19">
            <a:extLst xmlns:a="http://schemas.openxmlformats.org/drawingml/2006/main">
              <a:ext uri="{FF2B5EF4-FFF2-40B4-BE49-F238E27FC236}">
                <a16:creationId xmlns:a16="http://schemas.microsoft.com/office/drawing/2014/main" id="{30E764BB-DBA8-4108-8B07-DC8D69C773B8}"/>
              </a:ext>
            </a:extLst>
          </p:cNvPr>
          <p:cNvSpPr>
            <a:spLocks xmlns:a="http://schemas.openxmlformats.org/drawingml/2006/main" noGrp="1"/>
          </p:cNvSpPr>
          <p:nvPr/>
        </p:nvSpPr>
        <p:spPr>
          <a:xfrm xmlns:a="http://schemas.openxmlformats.org/drawingml/2006/main">
            <a:off x="9601200" y="3602736"/>
            <a:ext cx="21945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Georgia"/>
                <a:ea typeface="Georgia"/>
                <a:cs typeface="Georgia"/>
              </a:rPr>
              <a:t>Team 4</a:t>
            </a:r>
          </a:p>
        </p:txBody>
      </p:sp>
      <p:sp>
        <p:nvSpPr>
          <p:cNvPr id="22" name="Shape 20">
            <a:extLst xmlns:a="http://schemas.openxmlformats.org/drawingml/2006/main">
              <a:ext uri="{FF2B5EF4-FFF2-40B4-BE49-F238E27FC236}">
                <a16:creationId xmlns:a16="http://schemas.microsoft.com/office/drawing/2014/main" id="{981C6F79-76D9-41B8-8B05-1B8F6D6436BF}"/>
              </a:ext>
            </a:extLst>
          </p:cNvPr>
          <p:cNvSpPr>
            <a:spLocks xmlns:a="http://schemas.openxmlformats.org/drawingml/2006/main" noGrp="1"/>
          </p:cNvSpPr>
          <p:nvPr/>
        </p:nvSpPr>
        <p:spPr>
          <a:xfrm xmlns:a="http://schemas.openxmlformats.org/drawingml/2006/main">
            <a:off x="9601200" y="4407408"/>
            <a:ext cx="2194560" cy="566928"/>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23" name="Text 21">
            <a:extLst xmlns:a="http://schemas.openxmlformats.org/drawingml/2006/main">
              <a:ext uri="{FF2B5EF4-FFF2-40B4-BE49-F238E27FC236}">
                <a16:creationId xmlns:a16="http://schemas.microsoft.com/office/drawing/2014/main" id="{6DCFE6B5-4AC5-439D-821B-BED572BF7D5E}"/>
              </a:ext>
            </a:extLst>
          </p:cNvPr>
          <p:cNvSpPr>
            <a:spLocks xmlns:a="http://schemas.openxmlformats.org/drawingml/2006/main" noGrp="1"/>
          </p:cNvSpPr>
          <p:nvPr/>
        </p:nvSpPr>
        <p:spPr>
          <a:xfrm xmlns:a="http://schemas.openxmlformats.org/drawingml/2006/main">
            <a:off x="9601200" y="4407408"/>
            <a:ext cx="21945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Georgia"/>
                <a:ea typeface="Georgia"/>
                <a:cs typeface="Georgia"/>
              </a:rPr>
              <a:t>Teams 5–6</a:t>
            </a:r>
          </a:p>
        </p:txBody>
      </p:sp>
      <p:sp>
        <p:nvSpPr>
          <p:cNvPr id="24" name="Shape 22">
            <a:extLst xmlns:a="http://schemas.openxmlformats.org/drawingml/2006/main">
              <a:ext uri="{FF2B5EF4-FFF2-40B4-BE49-F238E27FC236}">
                <a16:creationId xmlns:a16="http://schemas.microsoft.com/office/drawing/2014/main" id="{4FFBCA0B-19E1-4B22-AC3F-1478752EFBD9}"/>
              </a:ext>
            </a:extLst>
          </p:cNvPr>
          <p:cNvSpPr>
            <a:spLocks xmlns:a="http://schemas.openxmlformats.org/drawingml/2006/main" noGrp="1"/>
          </p:cNvSpPr>
          <p:nvPr/>
        </p:nvSpPr>
        <p:spPr>
          <a:xfrm xmlns:a="http://schemas.openxmlformats.org/drawingml/2006/main">
            <a:off x="0" y="6492240"/>
            <a:ext cx="12161520" cy="365760"/>
          </a:xfrm>
          <a:prstGeom xmlns:a="http://schemas.openxmlformats.org/drawingml/2006/main" prst="rect">
            <a:avLst/>
          </a:prstGeom>
          <a:solidFill xmlns:a="http://schemas.openxmlformats.org/drawingml/2006/main">
            <a:srgbClr val="111111"/>
          </a:solidFill>
          <a:ln xmlns:a="http://schemas.openxmlformats.org/drawingml/2006/main" w="12700">
            <a:solidFill>
              <a:srgbClr val="111111"/>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2008074272"/>
      </p:ext>
    </p:extLst>
  </p:cSld>
</p:sld>
</file>

<file path=ppt/slides/slide2.xml><?xml version="1.0" encoding="utf-8"?>
<p:sld xmlns:p="http://schemas.openxmlformats.org/presentationml/2006/main">
  <p:cSld>
    <p:bg>
      <p:bgPr>
        <a:solidFill xmlns:a="http://schemas.openxmlformats.org/drawingml/2006/main">
          <a:srgbClr val="F5F0E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6BCA1CA-E6D1-4153-8CBA-4833A5C738E0}"/>
              </a:ext>
            </a:extLst>
          </p:cNvPr>
          <p:cNvSpPr>
            <a:spLocks xmlns:a="http://schemas.openxmlformats.org/drawingml/2006/main" noGrp="1"/>
          </p:cNvSpPr>
          <p:nvPr/>
        </p:nvSpPr>
        <p:spPr>
          <a:xfrm xmlns:a="http://schemas.openxmlformats.org/drawingml/2006/main">
            <a:off x="0" y="0"/>
            <a:ext cx="12161520" cy="1005840"/>
          </a:xfrm>
          <a:prstGeom xmlns:a="http://schemas.openxmlformats.org/drawingml/2006/main" prst="rect">
            <a:avLst/>
          </a:prstGeom>
          <a:solidFill xmlns:a="http://schemas.openxmlformats.org/drawingml/2006/main">
            <a:srgbClr val="2B4A6B"/>
          </a:solidFill>
          <a:ln xmlns:a="http://schemas.openxmlformats.org/drawingml/2006/main" w="12700">
            <a:solidFill>
              <a:srgbClr val="2B4A6B"/>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C49049CC-E390-48F6-84A0-D51544F5D4DF}"/>
              </a:ext>
            </a:extLst>
          </p:cNvPr>
          <p:cNvSpPr>
            <a:spLocks xmlns:a="http://schemas.openxmlformats.org/drawingml/2006/main" noGrp="1"/>
          </p:cNvSpPr>
          <p:nvPr/>
        </p:nvSpPr>
        <p:spPr>
          <a:xfrm xmlns:a="http://schemas.openxmlformats.org/drawingml/2006/main">
            <a:off x="91440" y="-45720"/>
            <a:ext cx="1463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200" b="1">
                <a:solidFill>
                  <a:srgbClr val="FFFFFF">
                    <a:alpha val="25000"/>
                  </a:srgbClr>
                </a:solidFill>
                <a:latin typeface="Georgia"/>
                <a:ea typeface="Georgia"/>
                <a:cs typeface="Georgia"/>
              </a:rPr>
              <a:t>01</a:t>
            </a:r>
          </a:p>
        </p:txBody>
      </p:sp>
      <p:sp>
        <p:nvSpPr>
          <p:cNvPr id="4" name="Text 2">
            <a:extLst xmlns:a="http://schemas.openxmlformats.org/drawingml/2006/main">
              <a:ext uri="{FF2B5EF4-FFF2-40B4-BE49-F238E27FC236}">
                <a16:creationId xmlns:a16="http://schemas.microsoft.com/office/drawing/2014/main" id="{F804A4AC-0546-43A0-86FE-7A326CEC4736}"/>
              </a:ext>
            </a:extLst>
          </p:cNvPr>
          <p:cNvSpPr>
            <a:spLocks xmlns:a="http://schemas.openxmlformats.org/drawingml/2006/main" noGrp="1"/>
          </p:cNvSpPr>
          <p:nvPr/>
        </p:nvSpPr>
        <p:spPr>
          <a:xfrm xmlns:a="http://schemas.openxmlformats.org/drawingml/2006/main">
            <a:off x="1371600" y="73152"/>
            <a:ext cx="4572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FFFFFF">
                    <a:alpha val="60000"/>
                  </a:srgbClr>
                </a:solidFill>
                <a:latin typeface="Calibri"/>
                <a:ea typeface="Calibri"/>
                <a:cs typeface="Calibri"/>
              </a:rPr>
              <a:t>TEAM ONE</a:t>
            </a:r>
          </a:p>
        </p:txBody>
      </p:sp>
      <p:sp>
        <p:nvSpPr>
          <p:cNvPr id="5" name="Text 3">
            <a:extLst xmlns:a="http://schemas.openxmlformats.org/drawingml/2006/main">
              <a:ext uri="{FF2B5EF4-FFF2-40B4-BE49-F238E27FC236}">
                <a16:creationId xmlns:a16="http://schemas.microsoft.com/office/drawing/2014/main" id="{C496E79D-A5A3-4292-8B1E-D906E9A67A7A}"/>
              </a:ext>
            </a:extLst>
          </p:cNvPr>
          <p:cNvSpPr>
            <a:spLocks xmlns:a="http://schemas.openxmlformats.org/drawingml/2006/main" noGrp="1"/>
          </p:cNvSpPr>
          <p:nvPr/>
        </p:nvSpPr>
        <p:spPr>
          <a:xfrm xmlns:a="http://schemas.openxmlformats.org/drawingml/2006/main">
            <a:off x="1371600" y="457200"/>
            <a:ext cx="7315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Georgia"/>
                <a:ea typeface="Georgia"/>
                <a:cs typeface="Georgia"/>
              </a:rPr>
              <a:t>Team One · Client Profiles</a:t>
            </a:r>
          </a:p>
        </p:txBody>
      </p:sp>
      <p:sp>
        <p:nvSpPr>
          <p:cNvPr id="6" name="Text 4">
            <a:extLst xmlns:a="http://schemas.openxmlformats.org/drawingml/2006/main">
              <a:ext uri="{FF2B5EF4-FFF2-40B4-BE49-F238E27FC236}">
                <a16:creationId xmlns:a16="http://schemas.microsoft.com/office/drawing/2014/main" id="{10AE0205-8A6D-441F-A7EF-76B59F83EBE3}"/>
              </a:ext>
            </a:extLst>
          </p:cNvPr>
          <p:cNvSpPr>
            <a:spLocks xmlns:a="http://schemas.openxmlformats.org/drawingml/2006/main" noGrp="1"/>
          </p:cNvSpPr>
          <p:nvPr/>
        </p:nvSpPr>
        <p:spPr>
          <a:xfrm xmlns:a="http://schemas.openxmlformats.org/drawingml/2006/main">
            <a:off x="10789920" y="274320"/>
            <a:ext cx="1188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FFFFFF">
                    <a:alpha val="50000"/>
                  </a:srgbClr>
                </a:solidFill>
                <a:latin typeface="Calibri"/>
                <a:ea typeface="Calibri"/>
                <a:cs typeface="Calibri"/>
              </a:rPr>
              <a:t>1 / 6</a:t>
            </a:r>
          </a:p>
        </p:txBody>
      </p:sp>
      <p:sp>
        <p:nvSpPr>
          <p:cNvPr id="7" name="Shape 5">
            <a:extLst xmlns:a="http://schemas.openxmlformats.org/drawingml/2006/main">
              <a:ext uri="{FF2B5EF4-FFF2-40B4-BE49-F238E27FC236}">
                <a16:creationId xmlns:a16="http://schemas.microsoft.com/office/drawing/2014/main" id="{3480F595-628C-4EFB-8BE0-C039D3705A55}"/>
              </a:ext>
            </a:extLst>
          </p:cNvPr>
          <p:cNvSpPr>
            <a:spLocks xmlns:a="http://schemas.openxmlformats.org/drawingml/2006/main" noGrp="1"/>
          </p:cNvSpPr>
          <p:nvPr/>
        </p:nvSpPr>
        <p:spPr>
          <a:xfrm xmlns:a="http://schemas.openxmlformats.org/drawingml/2006/main">
            <a:off x="137160"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07297E81-4AA1-443D-8C76-BEC2FB4F9296}"/>
              </a:ext>
            </a:extLst>
          </p:cNvPr>
          <p:cNvSpPr>
            <a:spLocks xmlns:a="http://schemas.openxmlformats.org/drawingml/2006/main" noGrp="1"/>
          </p:cNvSpPr>
          <p:nvPr/>
        </p:nvSpPr>
        <p:spPr>
          <a:xfrm xmlns:a="http://schemas.openxmlformats.org/drawingml/2006/main">
            <a:off x="137160" y="1188720"/>
            <a:ext cx="3749040" cy="109728"/>
          </a:xfrm>
          <a:prstGeom xmlns:a="http://schemas.openxmlformats.org/drawingml/2006/main" prst="rect">
            <a:avLst/>
          </a:prstGeom>
          <a:solidFill xmlns:a="http://schemas.openxmlformats.org/drawingml/2006/main">
            <a:srgbClr val="2B4A6B"/>
          </a:solidFill>
          <a:ln xmlns:a="http://schemas.openxmlformats.org/drawingml/2006/main" w="12700">
            <a:solidFill>
              <a:srgbClr val="2B4A6B"/>
            </a:solidFill>
            <a:prstDash val="solid"/>
          </a:ln>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AF9AAA03-57CB-41E1-A719-9ECFAB9F23E0}"/>
              </a:ext>
            </a:extLst>
          </p:cNvPr>
          <p:cNvSpPr>
            <a:spLocks xmlns:a="http://schemas.openxmlformats.org/drawingml/2006/main" noGrp="1"/>
          </p:cNvSpPr>
          <p:nvPr/>
        </p:nvSpPr>
        <p:spPr>
          <a:xfrm xmlns:a="http://schemas.openxmlformats.org/drawingml/2006/main">
            <a:off x="365760" y="1444752"/>
            <a:ext cx="749808" cy="749808"/>
          </a:xfrm>
          <a:prstGeom xmlns:a="http://schemas.openxmlformats.org/drawingml/2006/main" prst="ellipse">
            <a:avLst/>
          </a:prstGeom>
          <a:solidFill xmlns:a="http://schemas.openxmlformats.org/drawingml/2006/main">
            <a:srgbClr val="2B4A6B"/>
          </a:solidFill>
          <a:ln xmlns:a="http://schemas.openxmlformats.org/drawingml/2006/main" w="12700">
            <a:solidFill>
              <a:srgbClr val="2B4A6B"/>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0F9E22C4-2991-4532-AEC1-B70174FB9EBB}"/>
              </a:ext>
            </a:extLst>
          </p:cNvPr>
          <p:cNvSpPr>
            <a:spLocks xmlns:a="http://schemas.openxmlformats.org/drawingml/2006/main" noGrp="1"/>
          </p:cNvSpPr>
          <p:nvPr/>
        </p:nvSpPr>
        <p:spPr>
          <a:xfrm xmlns:a="http://schemas.openxmlformats.org/drawingml/2006/main">
            <a:off x="2423160"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#01</a:t>
            </a:r>
          </a:p>
        </p:txBody>
      </p:sp>
      <p:sp>
        <p:nvSpPr>
          <p:cNvPr id="12" name="Text 10">
            <a:extLst xmlns:a="http://schemas.openxmlformats.org/drawingml/2006/main">
              <a:ext uri="{FF2B5EF4-FFF2-40B4-BE49-F238E27FC236}">
                <a16:creationId xmlns:a16="http://schemas.microsoft.com/office/drawing/2014/main" id="{2D17D43B-26DF-4851-AF2E-EF222EAFE3DE}"/>
              </a:ext>
            </a:extLst>
          </p:cNvPr>
          <p:cNvSpPr>
            <a:spLocks xmlns:a="http://schemas.openxmlformats.org/drawingml/2006/main" noGrp="1"/>
          </p:cNvSpPr>
          <p:nvPr/>
        </p:nvSpPr>
        <p:spPr>
          <a:xfrm xmlns:a="http://schemas.openxmlformats.org/drawingml/2006/main">
            <a:off x="1216152"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Eleanor Vance</a:t>
            </a:r>
          </a:p>
        </p:txBody>
      </p:sp>
      <p:sp>
        <p:nvSpPr>
          <p:cNvPr id="13" name="Text 11">
            <a:extLst xmlns:a="http://schemas.openxmlformats.org/drawingml/2006/main">
              <a:ext uri="{FF2B5EF4-FFF2-40B4-BE49-F238E27FC236}">
                <a16:creationId xmlns:a16="http://schemas.microsoft.com/office/drawing/2014/main" id="{1CF26304-C8A7-40E9-B0EA-61EAAFEEC57D}"/>
              </a:ext>
            </a:extLst>
          </p:cNvPr>
          <p:cNvSpPr>
            <a:spLocks xmlns:a="http://schemas.openxmlformats.org/drawingml/2006/main" noGrp="1"/>
          </p:cNvSpPr>
          <p:nvPr/>
        </p:nvSpPr>
        <p:spPr>
          <a:xfrm xmlns:a="http://schemas.openxmlformats.org/drawingml/2006/main">
            <a:off x="1216152"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72  ·  Retired Librarian</a:t>
            </a:r>
          </a:p>
        </p:txBody>
      </p:sp>
      <p:sp>
        <p:nvSpPr>
          <p:cNvPr id="14" name="Shape 12">
            <a:extLst xmlns:a="http://schemas.openxmlformats.org/drawingml/2006/main">
              <a:ext uri="{FF2B5EF4-FFF2-40B4-BE49-F238E27FC236}">
                <a16:creationId xmlns:a16="http://schemas.microsoft.com/office/drawing/2014/main" id="{010B59BC-2CCA-4A2D-B183-49D9291EC005}"/>
              </a:ext>
            </a:extLst>
          </p:cNvPr>
          <p:cNvSpPr>
            <a:spLocks xmlns:a="http://schemas.openxmlformats.org/drawingml/2006/main" noGrp="1"/>
          </p:cNvSpPr>
          <p:nvPr/>
        </p:nvSpPr>
        <p:spPr>
          <a:xfrm xmlns:a="http://schemas.openxmlformats.org/drawingml/2006/main">
            <a:off x="365760" y="2322576"/>
            <a:ext cx="1325880" cy="237744"/>
          </a:xfrm>
          <a:prstGeom xmlns:a="http://schemas.openxmlformats.org/drawingml/2006/main" prst="rect">
            <a:avLst/>
          </a:prstGeom>
          <a:solidFill xmlns:a="http://schemas.openxmlformats.org/drawingml/2006/main">
            <a:srgbClr val="FFF0E8"/>
          </a:solidFill>
          <a:ln xmlns:a="http://schemas.openxmlformats.org/drawingml/2006/main" w="12700">
            <a:solidFill>
              <a:srgbClr val="FFF0E8"/>
            </a:solidFill>
            <a:prstDash val="solid"/>
          </a:ln>
        </p:spPr>
        <p:txBody>
          <a:bodyPr xmlns:a="http://schemas.openxmlformats.org/drawingml/2006/main"/>
          <a:lstStyle xmlns:a="http://schemas.openxmlformats.org/drawingml/2006/main"/>
          <a:p xmlns:a="http://schemas.openxmlformats.org/drawingml/2006/main"/>
        </p:txBody>
      </p:sp>
      <p:sp>
        <p:nvSpPr>
          <p:cNvPr id="15" name="Shape 13">
            <a:extLst xmlns:a="http://schemas.openxmlformats.org/drawingml/2006/main">
              <a:ext uri="{FF2B5EF4-FFF2-40B4-BE49-F238E27FC236}">
                <a16:creationId xmlns:a16="http://schemas.microsoft.com/office/drawing/2014/main" id="{8367A2F9-03C0-453B-9363-C6DD69A77BEA}"/>
              </a:ext>
            </a:extLst>
          </p:cNvPr>
          <p:cNvSpPr>
            <a:spLocks xmlns:a="http://schemas.openxmlformats.org/drawingml/2006/main" noGrp="1"/>
          </p:cNvSpPr>
          <p:nvPr/>
        </p:nvSpPr>
        <p:spPr>
          <a:xfrm xmlns:a="http://schemas.openxmlformats.org/drawingml/2006/main">
            <a:off x="429768" y="2382012"/>
            <a:ext cx="91440" cy="91440"/>
          </a:xfrm>
          <a:prstGeom xmlns:a="http://schemas.openxmlformats.org/drawingml/2006/main" prst="ellipse">
            <a:avLst/>
          </a:prstGeom>
          <a:solidFill xmlns:a="http://schemas.openxmlformats.org/drawingml/2006/main">
            <a:srgbClr val="C05B30"/>
          </a:solidFill>
          <a:ln xmlns:a="http://schemas.openxmlformats.org/drawingml/2006/main" w="12700">
            <a:solidFill>
              <a:srgbClr val="C05B30"/>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7FD721EC-CA94-482C-A801-74722723ADED}"/>
              </a:ext>
            </a:extLst>
          </p:cNvPr>
          <p:cNvSpPr>
            <a:spLocks xmlns:a="http://schemas.openxmlformats.org/drawingml/2006/main" noGrp="1"/>
          </p:cNvSpPr>
          <p:nvPr/>
        </p:nvSpPr>
        <p:spPr>
          <a:xfrm xmlns:a="http://schemas.openxmlformats.org/drawingml/2006/main">
            <a:off x="557784"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C05B30"/>
                </a:solidFill>
                <a:latin typeface="Calibri"/>
                <a:ea typeface="Calibri"/>
                <a:cs typeface="Calibri"/>
              </a:rPr>
              <a:t>RISK AVERSE</a:t>
            </a:r>
          </a:p>
        </p:txBody>
      </p:sp>
      <p:sp>
        <p:nvSpPr>
          <p:cNvPr id="17" name="Shape 15">
            <a:extLst xmlns:a="http://schemas.openxmlformats.org/drawingml/2006/main">
              <a:ext uri="{FF2B5EF4-FFF2-40B4-BE49-F238E27FC236}">
                <a16:creationId xmlns:a16="http://schemas.microsoft.com/office/drawing/2014/main" id="{FE345067-8786-4E07-87F6-8BEA39D8CCAE}"/>
              </a:ext>
            </a:extLst>
          </p:cNvPr>
          <p:cNvSpPr>
            <a:spLocks xmlns:a="http://schemas.openxmlformats.org/drawingml/2006/main" noGrp="1"/>
          </p:cNvSpPr>
          <p:nvPr/>
        </p:nvSpPr>
        <p:spPr>
          <a:xfrm xmlns:a="http://schemas.openxmlformats.org/drawingml/2006/main">
            <a:off x="365760"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4F12DED5-B56E-4563-A5F0-CCADB21B6DF1}"/>
              </a:ext>
            </a:extLst>
          </p:cNvPr>
          <p:cNvSpPr>
            <a:spLocks xmlns:a="http://schemas.openxmlformats.org/drawingml/2006/main" noGrp="1"/>
          </p:cNvSpPr>
          <p:nvPr/>
        </p:nvSpPr>
        <p:spPr>
          <a:xfrm xmlns:a="http://schemas.openxmlformats.org/drawingml/2006/main">
            <a:off x="36576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19" name="Text 17">
            <a:extLst xmlns:a="http://schemas.openxmlformats.org/drawingml/2006/main">
              <a:ext uri="{FF2B5EF4-FFF2-40B4-BE49-F238E27FC236}">
                <a16:creationId xmlns:a16="http://schemas.microsoft.com/office/drawing/2014/main" id="{BCBB6AB9-CFDE-42C0-837C-DEFFF871D028}"/>
              </a:ext>
            </a:extLst>
          </p:cNvPr>
          <p:cNvSpPr>
            <a:spLocks xmlns:a="http://schemas.openxmlformats.org/drawingml/2006/main" noGrp="1"/>
          </p:cNvSpPr>
          <p:nvPr/>
        </p:nvSpPr>
        <p:spPr>
          <a:xfrm xmlns:a="http://schemas.openxmlformats.org/drawingml/2006/main">
            <a:off x="36576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$30,000 (Pension)</a:t>
            </a:r>
          </a:p>
        </p:txBody>
      </p:sp>
      <p:sp>
        <p:nvSpPr>
          <p:cNvPr id="20" name="Text 18">
            <a:extLst xmlns:a="http://schemas.openxmlformats.org/drawingml/2006/main">
              <a:ext uri="{FF2B5EF4-FFF2-40B4-BE49-F238E27FC236}">
                <a16:creationId xmlns:a16="http://schemas.microsoft.com/office/drawing/2014/main" id="{ED20EBCF-72ED-41F4-976D-6B0D0CF77CA9}"/>
              </a:ext>
            </a:extLst>
          </p:cNvPr>
          <p:cNvSpPr>
            <a:spLocks xmlns:a="http://schemas.openxmlformats.org/drawingml/2006/main" noGrp="1"/>
          </p:cNvSpPr>
          <p:nvPr/>
        </p:nvSpPr>
        <p:spPr>
          <a:xfrm xmlns:a="http://schemas.openxmlformats.org/drawingml/2006/main">
            <a:off x="210312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21" name="Text 19">
            <a:extLst xmlns:a="http://schemas.openxmlformats.org/drawingml/2006/main">
              <a:ext uri="{FF2B5EF4-FFF2-40B4-BE49-F238E27FC236}">
                <a16:creationId xmlns:a16="http://schemas.microsoft.com/office/drawing/2014/main" id="{DBD2CF29-DEBB-4B3D-84F2-EB6C02A1164C}"/>
              </a:ext>
            </a:extLst>
          </p:cNvPr>
          <p:cNvSpPr>
            <a:spLocks xmlns:a="http://schemas.openxmlformats.org/drawingml/2006/main" noGrp="1"/>
          </p:cNvSpPr>
          <p:nvPr/>
        </p:nvSpPr>
        <p:spPr>
          <a:xfrm xmlns:a="http://schemas.openxmlformats.org/drawingml/2006/main">
            <a:off x="210312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$1.2M</a:t>
            </a:r>
          </a:p>
        </p:txBody>
      </p:sp>
      <p:sp>
        <p:nvSpPr>
          <p:cNvPr id="22" name="Shape 20">
            <a:extLst xmlns:a="http://schemas.openxmlformats.org/drawingml/2006/main">
              <a:ext uri="{FF2B5EF4-FFF2-40B4-BE49-F238E27FC236}">
                <a16:creationId xmlns:a16="http://schemas.microsoft.com/office/drawing/2014/main" id="{C988716A-6621-43D4-90B8-3F8ED626E079}"/>
              </a:ext>
            </a:extLst>
          </p:cNvPr>
          <p:cNvSpPr>
            <a:spLocks xmlns:a="http://schemas.openxmlformats.org/drawingml/2006/main" noGrp="1"/>
          </p:cNvSpPr>
          <p:nvPr/>
        </p:nvSpPr>
        <p:spPr>
          <a:xfrm xmlns:a="http://schemas.openxmlformats.org/drawingml/2006/main">
            <a:off x="365760" y="3456432"/>
            <a:ext cx="3291840" cy="804672"/>
          </a:xfrm>
          <a:prstGeom xmlns:a="http://schemas.openxmlformats.org/drawingml/2006/main" prst="rect">
            <a:avLst/>
          </a:prstGeom>
          <a:solidFill xmlns:a="http://schemas.openxmlformats.org/drawingml/2006/main">
            <a:srgbClr val="D6E4F0"/>
          </a:solidFill>
          <a:ln xmlns:a="http://schemas.openxmlformats.org/drawingml/2006/main" w="12700">
            <a:solidFill>
              <a:srgbClr val="D6E4F0"/>
            </a:solidFill>
            <a:prstDash val="solid"/>
          </a:ln>
        </p:spPr>
        <p:txBody>
          <a:bodyPr xmlns:a="http://schemas.openxmlformats.org/drawingml/2006/main"/>
          <a:lstStyle xmlns:a="http://schemas.openxmlformats.org/drawingml/2006/main"/>
          <a:p xmlns:a="http://schemas.openxmlformats.org/drawingml/2006/main"/>
        </p:txBody>
      </p:sp>
      <p:sp>
        <p:nvSpPr>
          <p:cNvPr id="23" name="Shape 21">
            <a:extLst xmlns:a="http://schemas.openxmlformats.org/drawingml/2006/main">
              <a:ext uri="{FF2B5EF4-FFF2-40B4-BE49-F238E27FC236}">
                <a16:creationId xmlns:a16="http://schemas.microsoft.com/office/drawing/2014/main" id="{14B7A770-6B66-46A2-8892-C67243F50EB6}"/>
              </a:ext>
            </a:extLst>
          </p:cNvPr>
          <p:cNvSpPr>
            <a:spLocks xmlns:a="http://schemas.openxmlformats.org/drawingml/2006/main" noGrp="1"/>
          </p:cNvSpPr>
          <p:nvPr/>
        </p:nvSpPr>
        <p:spPr>
          <a:xfrm xmlns:a="http://schemas.openxmlformats.org/drawingml/2006/main">
            <a:off x="365760" y="3456432"/>
            <a:ext cx="54864" cy="804672"/>
          </a:xfrm>
          <a:prstGeom xmlns:a="http://schemas.openxmlformats.org/drawingml/2006/main" prst="rect">
            <a:avLst/>
          </a:prstGeom>
          <a:solidFill xmlns:a="http://schemas.openxmlformats.org/drawingml/2006/main">
            <a:srgbClr val="2B4A6B"/>
          </a:solidFill>
          <a:ln xmlns:a="http://schemas.openxmlformats.org/drawingml/2006/main" w="12700">
            <a:solidFill>
              <a:srgbClr val="2B4A6B"/>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0EBB4D1E-1968-49BC-8925-9C20CF713B5F}"/>
              </a:ext>
            </a:extLst>
          </p:cNvPr>
          <p:cNvSpPr>
            <a:spLocks xmlns:a="http://schemas.openxmlformats.org/drawingml/2006/main" noGrp="1"/>
          </p:cNvSpPr>
          <p:nvPr/>
        </p:nvSpPr>
        <p:spPr>
          <a:xfrm xmlns:a="http://schemas.openxmlformats.org/drawingml/2006/main">
            <a:off x="484632"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2B4A6B"/>
                </a:solidFill>
                <a:latin typeface="Calibri"/>
                <a:ea typeface="Calibri"/>
                <a:cs typeface="Calibri"/>
              </a:rPr>
              <a:t>PRIMARY GOAL</a:t>
            </a:r>
          </a:p>
        </p:txBody>
      </p:sp>
      <p:sp>
        <p:nvSpPr>
          <p:cNvPr id="25" name="Text 23">
            <a:extLst xmlns:a="http://schemas.openxmlformats.org/drawingml/2006/main">
              <a:ext uri="{FF2B5EF4-FFF2-40B4-BE49-F238E27FC236}">
                <a16:creationId xmlns:a16="http://schemas.microsoft.com/office/drawing/2014/main" id="{1FB8D28E-FB9C-449B-B56B-6CC3E7A61FAD}"/>
              </a:ext>
            </a:extLst>
          </p:cNvPr>
          <p:cNvSpPr>
            <a:spLocks xmlns:a="http://schemas.openxmlformats.org/drawingml/2006/main" noGrp="1"/>
          </p:cNvSpPr>
          <p:nvPr/>
        </p:nvSpPr>
        <p:spPr>
          <a:xfrm xmlns:a="http://schemas.openxmlformats.org/drawingml/2006/main">
            <a:off x="484632"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Capital Preservation / Income</a:t>
            </a:r>
          </a:p>
        </p:txBody>
      </p:sp>
      <p:sp>
        <p:nvSpPr>
          <p:cNvPr id="26" name="Shape 24">
            <a:extLst xmlns:a="http://schemas.openxmlformats.org/drawingml/2006/main">
              <a:ext uri="{FF2B5EF4-FFF2-40B4-BE49-F238E27FC236}">
                <a16:creationId xmlns:a16="http://schemas.microsoft.com/office/drawing/2014/main" id="{0F9B047B-C98D-4287-BC58-58D7DFB8686A}"/>
              </a:ext>
            </a:extLst>
          </p:cNvPr>
          <p:cNvSpPr>
            <a:spLocks xmlns:a="http://schemas.openxmlformats.org/drawingml/2006/main" noGrp="1"/>
          </p:cNvSpPr>
          <p:nvPr/>
        </p:nvSpPr>
        <p:spPr>
          <a:xfrm xmlns:a="http://schemas.openxmlformats.org/drawingml/2006/main">
            <a:off x="365760"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C13B2A85-2798-42B4-B7B3-7266A5E76834}"/>
              </a:ext>
            </a:extLst>
          </p:cNvPr>
          <p:cNvSpPr>
            <a:spLocks xmlns:a="http://schemas.openxmlformats.org/drawingml/2006/main" noGrp="1"/>
          </p:cNvSpPr>
          <p:nvPr/>
        </p:nvSpPr>
        <p:spPr>
          <a:xfrm xmlns:a="http://schemas.openxmlformats.org/drawingml/2006/main">
            <a:off x="484632"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28" name="Text 26">
            <a:extLst xmlns:a="http://schemas.openxmlformats.org/drawingml/2006/main">
              <a:ext uri="{FF2B5EF4-FFF2-40B4-BE49-F238E27FC236}">
                <a16:creationId xmlns:a16="http://schemas.microsoft.com/office/drawing/2014/main" id="{F10360C4-43A3-4689-83AC-1F38AC517487}"/>
              </a:ext>
            </a:extLst>
          </p:cNvPr>
          <p:cNvSpPr>
            <a:spLocks xmlns:a="http://schemas.openxmlformats.org/drawingml/2006/main" noGrp="1"/>
          </p:cNvSpPr>
          <p:nvPr/>
        </p:nvSpPr>
        <p:spPr>
          <a:xfrm xmlns:a="http://schemas.openxmlformats.org/drawingml/2006/main">
            <a:off x="484632"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High liquidity needs for medical; 2-5yr horizon</a:t>
            </a:r>
          </a:p>
        </p:txBody>
      </p:sp>
      <p:sp>
        <p:nvSpPr>
          <p:cNvPr id="29" name="Shape 27">
            <a:extLst xmlns:a="http://schemas.openxmlformats.org/drawingml/2006/main">
              <a:ext uri="{FF2B5EF4-FFF2-40B4-BE49-F238E27FC236}">
                <a16:creationId xmlns:a16="http://schemas.microsoft.com/office/drawing/2014/main" id="{277ADAE9-E17E-4F21-A9D5-8BA7FA720B7E}"/>
              </a:ext>
            </a:extLst>
          </p:cNvPr>
          <p:cNvSpPr>
            <a:spLocks xmlns:a="http://schemas.openxmlformats.org/drawingml/2006/main" noGrp="1"/>
          </p:cNvSpPr>
          <p:nvPr/>
        </p:nvSpPr>
        <p:spPr>
          <a:xfrm xmlns:a="http://schemas.openxmlformats.org/drawingml/2006/main">
            <a:off x="365760" y="5230368"/>
            <a:ext cx="1097280" cy="877824"/>
          </a:xfrm>
          <a:prstGeom xmlns:a="http://schemas.openxmlformats.org/drawingml/2006/main" prst="rect">
            <a:avLst/>
          </a:prstGeom>
          <a:solidFill xmlns:a="http://schemas.openxmlformats.org/drawingml/2006/main">
            <a:srgbClr val="2B4A6B"/>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0A28655A-3278-4051-ABF2-A0DEE3389118}"/>
              </a:ext>
            </a:extLst>
          </p:cNvPr>
          <p:cNvSpPr>
            <a:spLocks xmlns:a="http://schemas.openxmlformats.org/drawingml/2006/main" noGrp="1"/>
          </p:cNvSpPr>
          <p:nvPr/>
        </p:nvSpPr>
        <p:spPr>
          <a:xfrm xmlns:a="http://schemas.openxmlformats.org/drawingml/2006/main">
            <a:off x="38404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31" name="Text 29">
            <a:extLst xmlns:a="http://schemas.openxmlformats.org/drawingml/2006/main">
              <a:ext uri="{FF2B5EF4-FFF2-40B4-BE49-F238E27FC236}">
                <a16:creationId xmlns:a16="http://schemas.microsoft.com/office/drawing/2014/main" id="{08952397-D07B-4F51-B0FA-8B17F26FB494}"/>
              </a:ext>
            </a:extLst>
          </p:cNvPr>
          <p:cNvSpPr>
            <a:spLocks xmlns:a="http://schemas.openxmlformats.org/drawingml/2006/main" noGrp="1"/>
          </p:cNvSpPr>
          <p:nvPr/>
        </p:nvSpPr>
        <p:spPr>
          <a:xfrm xmlns:a="http://schemas.openxmlformats.org/drawingml/2006/main">
            <a:off x="41148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4.5%</a:t>
            </a:r>
          </a:p>
        </p:txBody>
      </p:sp>
      <p:sp>
        <p:nvSpPr>
          <p:cNvPr id="32" name="Shape 30">
            <a:extLst xmlns:a="http://schemas.openxmlformats.org/drawingml/2006/main">
              <a:ext uri="{FF2B5EF4-FFF2-40B4-BE49-F238E27FC236}">
                <a16:creationId xmlns:a16="http://schemas.microsoft.com/office/drawing/2014/main" id="{DBDED1D8-ECC7-42A8-9698-25F9A12E7F36}"/>
              </a:ext>
            </a:extLst>
          </p:cNvPr>
          <p:cNvSpPr>
            <a:spLocks xmlns:a="http://schemas.openxmlformats.org/drawingml/2006/main" noGrp="1"/>
          </p:cNvSpPr>
          <p:nvPr/>
        </p:nvSpPr>
        <p:spPr>
          <a:xfrm xmlns:a="http://schemas.openxmlformats.org/drawingml/2006/main">
            <a:off x="1463040"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8E2FB383-7998-479D-B37C-3B314AF6D82C}"/>
              </a:ext>
            </a:extLst>
          </p:cNvPr>
          <p:cNvSpPr>
            <a:spLocks xmlns:a="http://schemas.openxmlformats.org/drawingml/2006/main" noGrp="1"/>
          </p:cNvSpPr>
          <p:nvPr/>
        </p:nvSpPr>
        <p:spPr>
          <a:xfrm xmlns:a="http://schemas.openxmlformats.org/drawingml/2006/main">
            <a:off x="148132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34" name="Text 32">
            <a:extLst xmlns:a="http://schemas.openxmlformats.org/drawingml/2006/main">
              <a:ext uri="{FF2B5EF4-FFF2-40B4-BE49-F238E27FC236}">
                <a16:creationId xmlns:a16="http://schemas.microsoft.com/office/drawing/2014/main" id="{CE090004-AEAE-4EE2-A165-F061A03289D8}"/>
              </a:ext>
            </a:extLst>
          </p:cNvPr>
          <p:cNvSpPr>
            <a:spLocks xmlns:a="http://schemas.openxmlformats.org/drawingml/2006/main" noGrp="1"/>
          </p:cNvSpPr>
          <p:nvPr/>
        </p:nvSpPr>
        <p:spPr>
          <a:xfrm xmlns:a="http://schemas.openxmlformats.org/drawingml/2006/main">
            <a:off x="150876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6.0%</a:t>
            </a:r>
          </a:p>
        </p:txBody>
      </p:sp>
      <p:sp>
        <p:nvSpPr>
          <p:cNvPr id="35" name="Shape 33">
            <a:extLst xmlns:a="http://schemas.openxmlformats.org/drawingml/2006/main">
              <a:ext uri="{FF2B5EF4-FFF2-40B4-BE49-F238E27FC236}">
                <a16:creationId xmlns:a16="http://schemas.microsoft.com/office/drawing/2014/main" id="{CEF41AEE-58A5-469B-A971-A4E148A64BC5}"/>
              </a:ext>
            </a:extLst>
          </p:cNvPr>
          <p:cNvSpPr>
            <a:spLocks xmlns:a="http://schemas.openxmlformats.org/drawingml/2006/main" noGrp="1"/>
          </p:cNvSpPr>
          <p:nvPr/>
        </p:nvSpPr>
        <p:spPr>
          <a:xfrm xmlns:a="http://schemas.openxmlformats.org/drawingml/2006/main">
            <a:off x="2560320"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DF14DCFC-ADE3-4242-86FC-D96BC08213C2}"/>
              </a:ext>
            </a:extLst>
          </p:cNvPr>
          <p:cNvSpPr>
            <a:spLocks xmlns:a="http://schemas.openxmlformats.org/drawingml/2006/main" noGrp="1"/>
          </p:cNvSpPr>
          <p:nvPr/>
        </p:nvSpPr>
        <p:spPr>
          <a:xfrm xmlns:a="http://schemas.openxmlformats.org/drawingml/2006/main">
            <a:off x="257860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37" name="Text 35">
            <a:extLst xmlns:a="http://schemas.openxmlformats.org/drawingml/2006/main">
              <a:ext uri="{FF2B5EF4-FFF2-40B4-BE49-F238E27FC236}">
                <a16:creationId xmlns:a16="http://schemas.microsoft.com/office/drawing/2014/main" id="{C7C621EF-DC8D-40BC-928A-3760AECECEB4}"/>
              </a:ext>
            </a:extLst>
          </p:cNvPr>
          <p:cNvSpPr>
            <a:spLocks xmlns:a="http://schemas.openxmlformats.org/drawingml/2006/main" noGrp="1"/>
          </p:cNvSpPr>
          <p:nvPr/>
        </p:nvSpPr>
        <p:spPr>
          <a:xfrm xmlns:a="http://schemas.openxmlformats.org/drawingml/2006/main">
            <a:off x="260604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8.0</a:t>
            </a:r>
          </a:p>
        </p:txBody>
      </p:sp>
      <p:sp>
        <p:nvSpPr>
          <p:cNvPr id="38" name="Shape 36">
            <a:extLst xmlns:a="http://schemas.openxmlformats.org/drawingml/2006/main">
              <a:ext uri="{FF2B5EF4-FFF2-40B4-BE49-F238E27FC236}">
                <a16:creationId xmlns:a16="http://schemas.microsoft.com/office/drawing/2014/main" id="{B98BE0B4-CA65-4FA4-BE1D-EE03BBBAB2F9}"/>
              </a:ext>
            </a:extLst>
          </p:cNvPr>
          <p:cNvSpPr>
            <a:spLocks xmlns:a="http://schemas.openxmlformats.org/drawingml/2006/main" noGrp="1"/>
          </p:cNvSpPr>
          <p:nvPr/>
        </p:nvSpPr>
        <p:spPr>
          <a:xfrm xmlns:a="http://schemas.openxmlformats.org/drawingml/2006/main">
            <a:off x="4041648"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39" name="Shape 37">
            <a:extLst xmlns:a="http://schemas.openxmlformats.org/drawingml/2006/main">
              <a:ext uri="{FF2B5EF4-FFF2-40B4-BE49-F238E27FC236}">
                <a16:creationId xmlns:a16="http://schemas.microsoft.com/office/drawing/2014/main" id="{D5E98A67-D4E4-4F42-9AF9-CFF6B59BD8B5}"/>
              </a:ext>
            </a:extLst>
          </p:cNvPr>
          <p:cNvSpPr>
            <a:spLocks xmlns:a="http://schemas.openxmlformats.org/drawingml/2006/main" noGrp="1"/>
          </p:cNvSpPr>
          <p:nvPr/>
        </p:nvSpPr>
        <p:spPr>
          <a:xfrm xmlns:a="http://schemas.openxmlformats.org/drawingml/2006/main">
            <a:off x="4041648" y="1188720"/>
            <a:ext cx="3749040" cy="109728"/>
          </a:xfrm>
          <a:prstGeom xmlns:a="http://schemas.openxmlformats.org/drawingml/2006/main" prst="rect">
            <a:avLst/>
          </a:prstGeom>
          <a:solidFill xmlns:a="http://schemas.openxmlformats.org/drawingml/2006/main">
            <a:srgbClr val="2B4A6B"/>
          </a:solidFill>
          <a:ln xmlns:a="http://schemas.openxmlformats.org/drawingml/2006/main" w="12700">
            <a:solidFill>
              <a:srgbClr val="2B4A6B"/>
            </a:solidFill>
            <a:prstDash val="solid"/>
          </a:ln>
        </p:spPr>
        <p:txBody>
          <a:bodyPr xmlns:a="http://schemas.openxmlformats.org/drawingml/2006/main"/>
          <a:lstStyle xmlns:a="http://schemas.openxmlformats.org/drawingml/2006/main"/>
          <a:p xmlns:a="http://schemas.openxmlformats.org/drawingml/2006/main"/>
        </p:txBody>
      </p:sp>
      <p:sp>
        <p:nvSpPr>
          <p:cNvPr id="40" name="Shape 38">
            <a:extLst xmlns:a="http://schemas.openxmlformats.org/drawingml/2006/main">
              <a:ext uri="{FF2B5EF4-FFF2-40B4-BE49-F238E27FC236}">
                <a16:creationId xmlns:a16="http://schemas.microsoft.com/office/drawing/2014/main" id="{440B6199-332A-41B9-8933-DB193386F08B}"/>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ellipse">
            <a:avLst/>
          </a:prstGeom>
          <a:solidFill xmlns:a="http://schemas.openxmlformats.org/drawingml/2006/main">
            <a:srgbClr val="2B4A6B"/>
          </a:solidFill>
          <a:ln xmlns:a="http://schemas.openxmlformats.org/drawingml/2006/main" w="12700">
            <a:solidFill>
              <a:srgbClr val="2B4A6B"/>
            </a:solidFill>
            <a:prstDash val="solid"/>
          </a:ln>
        </p:spPr>
        <p:txBody>
          <a:bodyPr xmlns:a="http://schemas.openxmlformats.org/drawingml/2006/main"/>
          <a:lstStyle xmlns:a="http://schemas.openxmlformats.org/drawingml/2006/main"/>
          <a:p xmlns:a="http://schemas.openxmlformats.org/drawingml/2006/main"/>
        </p:txBody>
      </p:sp>
      <p:sp>
        <p:nvSpPr>
          <p:cNvPr id="41" name="Text 39">
            <a:extLst xmlns:a="http://schemas.openxmlformats.org/drawingml/2006/main">
              <a:ext uri="{FF2B5EF4-FFF2-40B4-BE49-F238E27FC236}">
                <a16:creationId xmlns:a16="http://schemas.microsoft.com/office/drawing/2014/main" id="{073A1D6B-D6C5-467F-B360-871F06000D46}"/>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MC</a:t>
            </a:r>
          </a:p>
        </p:txBody>
      </p:sp>
      <p:sp>
        <p:nvSpPr>
          <p:cNvPr id="42" name="Text 40">
            <a:extLst xmlns:a="http://schemas.openxmlformats.org/drawingml/2006/main">
              <a:ext uri="{FF2B5EF4-FFF2-40B4-BE49-F238E27FC236}">
                <a16:creationId xmlns:a16="http://schemas.microsoft.com/office/drawing/2014/main" id="{2EC3A9F6-1138-4F20-9C58-EE78F5D6C89F}"/>
              </a:ext>
            </a:extLst>
          </p:cNvPr>
          <p:cNvSpPr>
            <a:spLocks xmlns:a="http://schemas.openxmlformats.org/drawingml/2006/main" noGrp="1"/>
          </p:cNvSpPr>
          <p:nvPr/>
        </p:nvSpPr>
        <p:spPr>
          <a:xfrm xmlns:a="http://schemas.openxmlformats.org/drawingml/2006/main">
            <a:off x="6327648"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#02</a:t>
            </a:r>
          </a:p>
        </p:txBody>
      </p:sp>
      <p:sp>
        <p:nvSpPr>
          <p:cNvPr id="43" name="Text 41">
            <a:extLst xmlns:a="http://schemas.openxmlformats.org/drawingml/2006/main">
              <a:ext uri="{FF2B5EF4-FFF2-40B4-BE49-F238E27FC236}">
                <a16:creationId xmlns:a16="http://schemas.microsoft.com/office/drawing/2014/main" id="{6A7730DE-2FB1-42DD-AB4A-0D944AE17DD2}"/>
              </a:ext>
            </a:extLst>
          </p:cNvPr>
          <p:cNvSpPr>
            <a:spLocks xmlns:a="http://schemas.openxmlformats.org/drawingml/2006/main" noGrp="1"/>
          </p:cNvSpPr>
          <p:nvPr/>
        </p:nvSpPr>
        <p:spPr>
          <a:xfrm xmlns:a="http://schemas.openxmlformats.org/drawingml/2006/main">
            <a:off x="5120640"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Marcus Chen</a:t>
            </a:r>
          </a:p>
        </p:txBody>
      </p:sp>
      <p:sp>
        <p:nvSpPr>
          <p:cNvPr id="44" name="Text 42">
            <a:extLst xmlns:a="http://schemas.openxmlformats.org/drawingml/2006/main">
              <a:ext uri="{FF2B5EF4-FFF2-40B4-BE49-F238E27FC236}">
                <a16:creationId xmlns:a16="http://schemas.microsoft.com/office/drawing/2014/main" id="{020C9E17-87CD-4D84-A6AD-BABD1A3A44F8}"/>
              </a:ext>
            </a:extLst>
          </p:cNvPr>
          <p:cNvSpPr>
            <a:spLocks xmlns:a="http://schemas.openxmlformats.org/drawingml/2006/main" noGrp="1"/>
          </p:cNvSpPr>
          <p:nvPr/>
        </p:nvSpPr>
        <p:spPr>
          <a:xfrm xmlns:a="http://schemas.openxmlformats.org/drawingml/2006/main">
            <a:off x="5120640"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29  ·  Software Engineer</a:t>
            </a:r>
          </a:p>
        </p:txBody>
      </p:sp>
      <p:sp>
        <p:nvSpPr>
          <p:cNvPr id="45" name="Shape 43">
            <a:extLst xmlns:a="http://schemas.openxmlformats.org/drawingml/2006/main">
              <a:ext uri="{FF2B5EF4-FFF2-40B4-BE49-F238E27FC236}">
                <a16:creationId xmlns:a16="http://schemas.microsoft.com/office/drawing/2014/main" id="{6FA17EF6-9298-417B-9E89-E2F75B7234C5}"/>
              </a:ext>
            </a:extLst>
          </p:cNvPr>
          <p:cNvSpPr>
            <a:spLocks xmlns:a="http://schemas.openxmlformats.org/drawingml/2006/main" noGrp="1"/>
          </p:cNvSpPr>
          <p:nvPr/>
        </p:nvSpPr>
        <p:spPr>
          <a:xfrm xmlns:a="http://schemas.openxmlformats.org/drawingml/2006/main">
            <a:off x="4270248" y="2322576"/>
            <a:ext cx="1325880" cy="237744"/>
          </a:xfrm>
          <a:prstGeom xmlns:a="http://schemas.openxmlformats.org/drawingml/2006/main" prst="rect">
            <a:avLst/>
          </a:prstGeom>
          <a:solidFill xmlns:a="http://schemas.openxmlformats.org/drawingml/2006/main">
            <a:srgbClr val="E8F5EE"/>
          </a:solidFill>
          <a:ln xmlns:a="http://schemas.openxmlformats.org/drawingml/2006/main" w="12700">
            <a:solidFill>
              <a:srgbClr val="E8F5EE"/>
            </a:solidFill>
            <a:prstDash val="solid"/>
          </a:ln>
        </p:spPr>
        <p:txBody>
          <a:bodyPr xmlns:a="http://schemas.openxmlformats.org/drawingml/2006/main"/>
          <a:lstStyle xmlns:a="http://schemas.openxmlformats.org/drawingml/2006/main"/>
          <a:p xmlns:a="http://schemas.openxmlformats.org/drawingml/2006/main"/>
        </p:txBody>
      </p:sp>
      <p:sp>
        <p:nvSpPr>
          <p:cNvPr id="46" name="Shape 44">
            <a:extLst xmlns:a="http://schemas.openxmlformats.org/drawingml/2006/main">
              <a:ext uri="{FF2B5EF4-FFF2-40B4-BE49-F238E27FC236}">
                <a16:creationId xmlns:a16="http://schemas.microsoft.com/office/drawing/2014/main" id="{9C52A305-2959-4C19-9AE9-0B2E7AE57784}"/>
              </a:ext>
            </a:extLst>
          </p:cNvPr>
          <p:cNvSpPr>
            <a:spLocks xmlns:a="http://schemas.openxmlformats.org/drawingml/2006/main" noGrp="1"/>
          </p:cNvSpPr>
          <p:nvPr/>
        </p:nvSpPr>
        <p:spPr>
          <a:xfrm xmlns:a="http://schemas.openxmlformats.org/drawingml/2006/main">
            <a:off x="4334256" y="2382012"/>
            <a:ext cx="91440" cy="91440"/>
          </a:xfrm>
          <a:prstGeom xmlns:a="http://schemas.openxmlformats.org/drawingml/2006/main" prst="ellipse">
            <a:avLst/>
          </a:prstGeom>
          <a:solidFill xmlns:a="http://schemas.openxmlformats.org/drawingml/2006/main">
            <a:srgbClr val="2D8A5E"/>
          </a:solidFill>
          <a:ln xmlns:a="http://schemas.openxmlformats.org/drawingml/2006/main" w="12700">
            <a:solidFill>
              <a:srgbClr val="2D8A5E"/>
            </a:solidFill>
            <a:prstDash val="solid"/>
          </a:ln>
        </p:spPr>
        <p:txBody>
          <a:bodyPr xmlns:a="http://schemas.openxmlformats.org/drawingml/2006/main"/>
          <a:lstStyle xmlns:a="http://schemas.openxmlformats.org/drawingml/2006/main"/>
          <a:p xmlns:a="http://schemas.openxmlformats.org/drawingml/2006/main"/>
        </p:txBody>
      </p:sp>
      <p:sp>
        <p:nvSpPr>
          <p:cNvPr id="47" name="Text 45">
            <a:extLst xmlns:a="http://schemas.openxmlformats.org/drawingml/2006/main">
              <a:ext uri="{FF2B5EF4-FFF2-40B4-BE49-F238E27FC236}">
                <a16:creationId xmlns:a16="http://schemas.microsoft.com/office/drawing/2014/main" id="{A9D9D15E-4F5C-47E7-9D1E-2E0CB5B2B479}"/>
              </a:ext>
            </a:extLst>
          </p:cNvPr>
          <p:cNvSpPr>
            <a:spLocks xmlns:a="http://schemas.openxmlformats.org/drawingml/2006/main" noGrp="1"/>
          </p:cNvSpPr>
          <p:nvPr/>
        </p:nvSpPr>
        <p:spPr>
          <a:xfrm xmlns:a="http://schemas.openxmlformats.org/drawingml/2006/main">
            <a:off x="4462272"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2D8A5E"/>
                </a:solidFill>
                <a:latin typeface="Calibri"/>
                <a:ea typeface="Calibri"/>
                <a:cs typeface="Calibri"/>
              </a:rPr>
              <a:t>RISK SEEKING</a:t>
            </a:r>
          </a:p>
        </p:txBody>
      </p:sp>
      <p:sp>
        <p:nvSpPr>
          <p:cNvPr id="48" name="Shape 46">
            <a:extLst xmlns:a="http://schemas.openxmlformats.org/drawingml/2006/main">
              <a:ext uri="{FF2B5EF4-FFF2-40B4-BE49-F238E27FC236}">
                <a16:creationId xmlns:a16="http://schemas.microsoft.com/office/drawing/2014/main" id="{8AAAE289-CF98-4E32-9274-F5663B76FB1E}"/>
              </a:ext>
            </a:extLst>
          </p:cNvPr>
          <p:cNvSpPr>
            <a:spLocks xmlns:a="http://schemas.openxmlformats.org/drawingml/2006/main" noGrp="1"/>
          </p:cNvSpPr>
          <p:nvPr/>
        </p:nvSpPr>
        <p:spPr>
          <a:xfrm xmlns:a="http://schemas.openxmlformats.org/drawingml/2006/main">
            <a:off x="4270248"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49" name="Text 47">
            <a:extLst xmlns:a="http://schemas.openxmlformats.org/drawingml/2006/main">
              <a:ext uri="{FF2B5EF4-FFF2-40B4-BE49-F238E27FC236}">
                <a16:creationId xmlns:a16="http://schemas.microsoft.com/office/drawing/2014/main" id="{0E55EED8-029F-4D05-A0C4-E84DE4907005}"/>
              </a:ext>
            </a:extLst>
          </p:cNvPr>
          <p:cNvSpPr>
            <a:spLocks xmlns:a="http://schemas.openxmlformats.org/drawingml/2006/main" noGrp="1"/>
          </p:cNvSpPr>
          <p:nvPr/>
        </p:nvSpPr>
        <p:spPr>
          <a:xfrm xmlns:a="http://schemas.openxmlformats.org/drawingml/2006/main">
            <a:off x="427024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50" name="Text 48">
            <a:extLst xmlns:a="http://schemas.openxmlformats.org/drawingml/2006/main">
              <a:ext uri="{FF2B5EF4-FFF2-40B4-BE49-F238E27FC236}">
                <a16:creationId xmlns:a16="http://schemas.microsoft.com/office/drawing/2014/main" id="{E21FDBAA-E5FA-4CCD-86C6-B0503F711F02}"/>
              </a:ext>
            </a:extLst>
          </p:cNvPr>
          <p:cNvSpPr>
            <a:spLocks xmlns:a="http://schemas.openxmlformats.org/drawingml/2006/main" noGrp="1"/>
          </p:cNvSpPr>
          <p:nvPr/>
        </p:nvSpPr>
        <p:spPr>
          <a:xfrm xmlns:a="http://schemas.openxmlformats.org/drawingml/2006/main">
            <a:off x="427024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$210,000</a:t>
            </a:r>
          </a:p>
        </p:txBody>
      </p:sp>
      <p:sp>
        <p:nvSpPr>
          <p:cNvPr id="51" name="Text 49">
            <a:extLst xmlns:a="http://schemas.openxmlformats.org/drawingml/2006/main">
              <a:ext uri="{FF2B5EF4-FFF2-40B4-BE49-F238E27FC236}">
                <a16:creationId xmlns:a16="http://schemas.microsoft.com/office/drawing/2014/main" id="{0DCF2203-C28E-443A-BC29-84FB29CB0453}"/>
              </a:ext>
            </a:extLst>
          </p:cNvPr>
          <p:cNvSpPr>
            <a:spLocks xmlns:a="http://schemas.openxmlformats.org/drawingml/2006/main" noGrp="1"/>
          </p:cNvSpPr>
          <p:nvPr/>
        </p:nvSpPr>
        <p:spPr>
          <a:xfrm xmlns:a="http://schemas.openxmlformats.org/drawingml/2006/main">
            <a:off x="600760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52" name="Text 50">
            <a:extLst xmlns:a="http://schemas.openxmlformats.org/drawingml/2006/main">
              <a:ext uri="{FF2B5EF4-FFF2-40B4-BE49-F238E27FC236}">
                <a16:creationId xmlns:a16="http://schemas.microsoft.com/office/drawing/2014/main" id="{54CD83CD-3B3D-4411-956F-D7D143711803}"/>
              </a:ext>
            </a:extLst>
          </p:cNvPr>
          <p:cNvSpPr>
            <a:spLocks xmlns:a="http://schemas.openxmlformats.org/drawingml/2006/main" noGrp="1"/>
          </p:cNvSpPr>
          <p:nvPr/>
        </p:nvSpPr>
        <p:spPr>
          <a:xfrm xmlns:a="http://schemas.openxmlformats.org/drawingml/2006/main">
            <a:off x="600760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$150,000</a:t>
            </a:r>
          </a:p>
        </p:txBody>
      </p:sp>
      <p:sp>
        <p:nvSpPr>
          <p:cNvPr id="53" name="Shape 51">
            <a:extLst xmlns:a="http://schemas.openxmlformats.org/drawingml/2006/main">
              <a:ext uri="{FF2B5EF4-FFF2-40B4-BE49-F238E27FC236}">
                <a16:creationId xmlns:a16="http://schemas.microsoft.com/office/drawing/2014/main" id="{D0906372-40C5-4DD7-8083-236E7CFE30C1}"/>
              </a:ext>
            </a:extLst>
          </p:cNvPr>
          <p:cNvSpPr>
            <a:spLocks xmlns:a="http://schemas.openxmlformats.org/drawingml/2006/main" noGrp="1"/>
          </p:cNvSpPr>
          <p:nvPr/>
        </p:nvSpPr>
        <p:spPr>
          <a:xfrm xmlns:a="http://schemas.openxmlformats.org/drawingml/2006/main">
            <a:off x="4270248" y="3456432"/>
            <a:ext cx="3291840" cy="804672"/>
          </a:xfrm>
          <a:prstGeom xmlns:a="http://schemas.openxmlformats.org/drawingml/2006/main" prst="rect">
            <a:avLst/>
          </a:prstGeom>
          <a:solidFill xmlns:a="http://schemas.openxmlformats.org/drawingml/2006/main">
            <a:srgbClr val="D6E4F0"/>
          </a:solidFill>
          <a:ln xmlns:a="http://schemas.openxmlformats.org/drawingml/2006/main" w="12700">
            <a:solidFill>
              <a:srgbClr val="D6E4F0"/>
            </a:solidFill>
            <a:prstDash val="solid"/>
          </a:ln>
        </p:spPr>
        <p:txBody>
          <a:bodyPr xmlns:a="http://schemas.openxmlformats.org/drawingml/2006/main"/>
          <a:lstStyle xmlns:a="http://schemas.openxmlformats.org/drawingml/2006/main"/>
          <a:p xmlns:a="http://schemas.openxmlformats.org/drawingml/2006/main"/>
        </p:txBody>
      </p:sp>
      <p:sp>
        <p:nvSpPr>
          <p:cNvPr id="54" name="Shape 52">
            <a:extLst xmlns:a="http://schemas.openxmlformats.org/drawingml/2006/main">
              <a:ext uri="{FF2B5EF4-FFF2-40B4-BE49-F238E27FC236}">
                <a16:creationId xmlns:a16="http://schemas.microsoft.com/office/drawing/2014/main" id="{D41FFB01-EB3F-4827-A93C-4FC998E3FFF2}"/>
              </a:ext>
            </a:extLst>
          </p:cNvPr>
          <p:cNvSpPr>
            <a:spLocks xmlns:a="http://schemas.openxmlformats.org/drawingml/2006/main" noGrp="1"/>
          </p:cNvSpPr>
          <p:nvPr/>
        </p:nvSpPr>
        <p:spPr>
          <a:xfrm xmlns:a="http://schemas.openxmlformats.org/drawingml/2006/main">
            <a:off x="4270248" y="3456432"/>
            <a:ext cx="54864" cy="804672"/>
          </a:xfrm>
          <a:prstGeom xmlns:a="http://schemas.openxmlformats.org/drawingml/2006/main" prst="rect">
            <a:avLst/>
          </a:prstGeom>
          <a:solidFill xmlns:a="http://schemas.openxmlformats.org/drawingml/2006/main">
            <a:srgbClr val="2B4A6B"/>
          </a:solidFill>
          <a:ln xmlns:a="http://schemas.openxmlformats.org/drawingml/2006/main" w="12700">
            <a:solidFill>
              <a:srgbClr val="2B4A6B"/>
            </a:solidFill>
            <a:prstDash val="solid"/>
          </a:ln>
        </p:spPr>
        <p:txBody>
          <a:bodyPr xmlns:a="http://schemas.openxmlformats.org/drawingml/2006/main"/>
          <a:lstStyle xmlns:a="http://schemas.openxmlformats.org/drawingml/2006/main"/>
          <a:p xmlns:a="http://schemas.openxmlformats.org/drawingml/2006/main"/>
        </p:txBody>
      </p:sp>
      <p:sp>
        <p:nvSpPr>
          <p:cNvPr id="55" name="Text 53">
            <a:extLst xmlns:a="http://schemas.openxmlformats.org/drawingml/2006/main">
              <a:ext uri="{FF2B5EF4-FFF2-40B4-BE49-F238E27FC236}">
                <a16:creationId xmlns:a16="http://schemas.microsoft.com/office/drawing/2014/main" id="{FB61829C-5221-4D56-B708-9CDF2961C3DB}"/>
              </a:ext>
            </a:extLst>
          </p:cNvPr>
          <p:cNvSpPr>
            <a:spLocks xmlns:a="http://schemas.openxmlformats.org/drawingml/2006/main" noGrp="1"/>
          </p:cNvSpPr>
          <p:nvPr/>
        </p:nvSpPr>
        <p:spPr>
          <a:xfrm xmlns:a="http://schemas.openxmlformats.org/drawingml/2006/main">
            <a:off x="4389120"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2B4A6B"/>
                </a:solidFill>
                <a:latin typeface="Calibri"/>
                <a:ea typeface="Calibri"/>
                <a:cs typeface="Calibri"/>
              </a:rPr>
              <a:t>PRIMARY GOAL</a:t>
            </a:r>
          </a:p>
        </p:txBody>
      </p:sp>
      <p:sp>
        <p:nvSpPr>
          <p:cNvPr id="56" name="Text 54">
            <a:extLst xmlns:a="http://schemas.openxmlformats.org/drawingml/2006/main">
              <a:ext uri="{FF2B5EF4-FFF2-40B4-BE49-F238E27FC236}">
                <a16:creationId xmlns:a16="http://schemas.microsoft.com/office/drawing/2014/main" id="{3CEF4D0E-A69D-4B92-BD9D-FF3FE63EDA1A}"/>
              </a:ext>
            </a:extLst>
          </p:cNvPr>
          <p:cNvSpPr>
            <a:spLocks xmlns:a="http://schemas.openxmlformats.org/drawingml/2006/main" noGrp="1"/>
          </p:cNvSpPr>
          <p:nvPr/>
        </p:nvSpPr>
        <p:spPr>
          <a:xfrm xmlns:a="http://schemas.openxmlformats.org/drawingml/2006/main">
            <a:off x="4389120"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Aggressive Growth / Early Retirement</a:t>
            </a:r>
          </a:p>
        </p:txBody>
      </p:sp>
      <p:sp>
        <p:nvSpPr>
          <p:cNvPr id="57" name="Shape 55">
            <a:extLst xmlns:a="http://schemas.openxmlformats.org/drawingml/2006/main">
              <a:ext uri="{FF2B5EF4-FFF2-40B4-BE49-F238E27FC236}">
                <a16:creationId xmlns:a16="http://schemas.microsoft.com/office/drawing/2014/main" id="{7288B2FC-D652-4DE2-A2EB-FC66CF6EB2FE}"/>
              </a:ext>
            </a:extLst>
          </p:cNvPr>
          <p:cNvSpPr>
            <a:spLocks xmlns:a="http://schemas.openxmlformats.org/drawingml/2006/main" noGrp="1"/>
          </p:cNvSpPr>
          <p:nvPr/>
        </p:nvSpPr>
        <p:spPr>
          <a:xfrm xmlns:a="http://schemas.openxmlformats.org/drawingml/2006/main">
            <a:off x="4270248"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58" name="Text 56">
            <a:extLst xmlns:a="http://schemas.openxmlformats.org/drawingml/2006/main">
              <a:ext uri="{FF2B5EF4-FFF2-40B4-BE49-F238E27FC236}">
                <a16:creationId xmlns:a16="http://schemas.microsoft.com/office/drawing/2014/main" id="{299AD1D4-5F87-408C-A899-37FF5B00684C}"/>
              </a:ext>
            </a:extLst>
          </p:cNvPr>
          <p:cNvSpPr>
            <a:spLocks xmlns:a="http://schemas.openxmlformats.org/drawingml/2006/main" noGrp="1"/>
          </p:cNvSpPr>
          <p:nvPr/>
        </p:nvSpPr>
        <p:spPr>
          <a:xfrm xmlns:a="http://schemas.openxmlformats.org/drawingml/2006/main">
            <a:off x="4389120"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59" name="Text 57">
            <a:extLst xmlns:a="http://schemas.openxmlformats.org/drawingml/2006/main">
              <a:ext uri="{FF2B5EF4-FFF2-40B4-BE49-F238E27FC236}">
                <a16:creationId xmlns:a16="http://schemas.microsoft.com/office/drawing/2014/main" id="{CC45A43A-81DD-44E2-B364-454FB29E1691}"/>
              </a:ext>
            </a:extLst>
          </p:cNvPr>
          <p:cNvSpPr>
            <a:spLocks xmlns:a="http://schemas.openxmlformats.org/drawingml/2006/main" noGrp="1"/>
          </p:cNvSpPr>
          <p:nvPr/>
        </p:nvSpPr>
        <p:spPr>
          <a:xfrm xmlns:a="http://schemas.openxmlformats.org/drawingml/2006/main">
            <a:off x="4389120"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Tech stock concentration; High volatility</a:t>
            </a:r>
          </a:p>
        </p:txBody>
      </p:sp>
      <p:sp>
        <p:nvSpPr>
          <p:cNvPr id="60" name="Shape 58">
            <a:extLst xmlns:a="http://schemas.openxmlformats.org/drawingml/2006/main">
              <a:ext uri="{FF2B5EF4-FFF2-40B4-BE49-F238E27FC236}">
                <a16:creationId xmlns:a16="http://schemas.microsoft.com/office/drawing/2014/main" id="{8F98F013-8756-47ED-B8F2-6383DC027D45}"/>
              </a:ext>
            </a:extLst>
          </p:cNvPr>
          <p:cNvSpPr>
            <a:spLocks xmlns:a="http://schemas.openxmlformats.org/drawingml/2006/main" noGrp="1"/>
          </p:cNvSpPr>
          <p:nvPr/>
        </p:nvSpPr>
        <p:spPr>
          <a:xfrm xmlns:a="http://schemas.openxmlformats.org/drawingml/2006/main">
            <a:off x="4270248" y="5230368"/>
            <a:ext cx="1097280" cy="877824"/>
          </a:xfrm>
          <a:prstGeom xmlns:a="http://schemas.openxmlformats.org/drawingml/2006/main" prst="rect">
            <a:avLst/>
          </a:prstGeom>
          <a:solidFill xmlns:a="http://schemas.openxmlformats.org/drawingml/2006/main">
            <a:srgbClr val="2B4A6B"/>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1" name="Text 59">
            <a:extLst xmlns:a="http://schemas.openxmlformats.org/drawingml/2006/main">
              <a:ext uri="{FF2B5EF4-FFF2-40B4-BE49-F238E27FC236}">
                <a16:creationId xmlns:a16="http://schemas.microsoft.com/office/drawing/2014/main" id="{7B164F2B-258F-420F-A577-3D082298ECFD}"/>
              </a:ext>
            </a:extLst>
          </p:cNvPr>
          <p:cNvSpPr>
            <a:spLocks xmlns:a="http://schemas.openxmlformats.org/drawingml/2006/main" noGrp="1"/>
          </p:cNvSpPr>
          <p:nvPr/>
        </p:nvSpPr>
        <p:spPr>
          <a:xfrm xmlns:a="http://schemas.openxmlformats.org/drawingml/2006/main">
            <a:off x="428853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62" name="Text 60">
            <a:extLst xmlns:a="http://schemas.openxmlformats.org/drawingml/2006/main">
              <a:ext uri="{FF2B5EF4-FFF2-40B4-BE49-F238E27FC236}">
                <a16:creationId xmlns:a16="http://schemas.microsoft.com/office/drawing/2014/main" id="{A63E7610-A43F-4CF3-A412-59B2CA39335F}"/>
              </a:ext>
            </a:extLst>
          </p:cNvPr>
          <p:cNvSpPr>
            <a:spLocks xmlns:a="http://schemas.openxmlformats.org/drawingml/2006/main" noGrp="1"/>
          </p:cNvSpPr>
          <p:nvPr/>
        </p:nvSpPr>
        <p:spPr>
          <a:xfrm xmlns:a="http://schemas.openxmlformats.org/drawingml/2006/main">
            <a:off x="431596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11.0%</a:t>
            </a:r>
          </a:p>
        </p:txBody>
      </p:sp>
      <p:sp>
        <p:nvSpPr>
          <p:cNvPr id="63" name="Shape 61">
            <a:extLst xmlns:a="http://schemas.openxmlformats.org/drawingml/2006/main">
              <a:ext uri="{FF2B5EF4-FFF2-40B4-BE49-F238E27FC236}">
                <a16:creationId xmlns:a16="http://schemas.microsoft.com/office/drawing/2014/main" id="{6AC9277D-E9D3-45AC-9CDD-840C7FC675F9}"/>
              </a:ext>
            </a:extLst>
          </p:cNvPr>
          <p:cNvSpPr>
            <a:spLocks xmlns:a="http://schemas.openxmlformats.org/drawingml/2006/main" noGrp="1"/>
          </p:cNvSpPr>
          <p:nvPr/>
        </p:nvSpPr>
        <p:spPr>
          <a:xfrm xmlns:a="http://schemas.openxmlformats.org/drawingml/2006/main">
            <a:off x="5367528"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4" name="Text 62">
            <a:extLst xmlns:a="http://schemas.openxmlformats.org/drawingml/2006/main">
              <a:ext uri="{FF2B5EF4-FFF2-40B4-BE49-F238E27FC236}">
                <a16:creationId xmlns:a16="http://schemas.microsoft.com/office/drawing/2014/main" id="{53575A05-A067-443F-92A9-DE918E1DADF3}"/>
              </a:ext>
            </a:extLst>
          </p:cNvPr>
          <p:cNvSpPr>
            <a:spLocks xmlns:a="http://schemas.openxmlformats.org/drawingml/2006/main" noGrp="1"/>
          </p:cNvSpPr>
          <p:nvPr/>
        </p:nvSpPr>
        <p:spPr>
          <a:xfrm xmlns:a="http://schemas.openxmlformats.org/drawingml/2006/main">
            <a:off x="538581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65" name="Text 63">
            <a:extLst xmlns:a="http://schemas.openxmlformats.org/drawingml/2006/main">
              <a:ext uri="{FF2B5EF4-FFF2-40B4-BE49-F238E27FC236}">
                <a16:creationId xmlns:a16="http://schemas.microsoft.com/office/drawing/2014/main" id="{44AE9492-51B0-4FEB-A7A4-6EF6483674B3}"/>
              </a:ext>
            </a:extLst>
          </p:cNvPr>
          <p:cNvSpPr>
            <a:spLocks xmlns:a="http://schemas.openxmlformats.org/drawingml/2006/main" noGrp="1"/>
          </p:cNvSpPr>
          <p:nvPr/>
        </p:nvSpPr>
        <p:spPr>
          <a:xfrm xmlns:a="http://schemas.openxmlformats.org/drawingml/2006/main">
            <a:off x="541324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22.0%</a:t>
            </a:r>
          </a:p>
        </p:txBody>
      </p:sp>
      <p:sp>
        <p:nvSpPr>
          <p:cNvPr id="66" name="Shape 64">
            <a:extLst xmlns:a="http://schemas.openxmlformats.org/drawingml/2006/main">
              <a:ext uri="{FF2B5EF4-FFF2-40B4-BE49-F238E27FC236}">
                <a16:creationId xmlns:a16="http://schemas.microsoft.com/office/drawing/2014/main" id="{0B136451-170B-41FC-AC0B-523A4DBEDD02}"/>
              </a:ext>
            </a:extLst>
          </p:cNvPr>
          <p:cNvSpPr>
            <a:spLocks xmlns:a="http://schemas.openxmlformats.org/drawingml/2006/main" noGrp="1"/>
          </p:cNvSpPr>
          <p:nvPr/>
        </p:nvSpPr>
        <p:spPr>
          <a:xfrm xmlns:a="http://schemas.openxmlformats.org/drawingml/2006/main">
            <a:off x="6464808"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7" name="Text 65">
            <a:extLst xmlns:a="http://schemas.openxmlformats.org/drawingml/2006/main">
              <a:ext uri="{FF2B5EF4-FFF2-40B4-BE49-F238E27FC236}">
                <a16:creationId xmlns:a16="http://schemas.microsoft.com/office/drawing/2014/main" id="{126BE530-5D38-4BBF-8ABE-802C64D2D06D}"/>
              </a:ext>
            </a:extLst>
          </p:cNvPr>
          <p:cNvSpPr>
            <a:spLocks xmlns:a="http://schemas.openxmlformats.org/drawingml/2006/main" noGrp="1"/>
          </p:cNvSpPr>
          <p:nvPr/>
        </p:nvSpPr>
        <p:spPr>
          <a:xfrm xmlns:a="http://schemas.openxmlformats.org/drawingml/2006/main">
            <a:off x="648309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68" name="Text 66">
            <a:extLst xmlns:a="http://schemas.openxmlformats.org/drawingml/2006/main">
              <a:ext uri="{FF2B5EF4-FFF2-40B4-BE49-F238E27FC236}">
                <a16:creationId xmlns:a16="http://schemas.microsoft.com/office/drawing/2014/main" id="{DDE950CB-1C82-4DDF-8E76-9033C1DEB5D5}"/>
              </a:ext>
            </a:extLst>
          </p:cNvPr>
          <p:cNvSpPr>
            <a:spLocks xmlns:a="http://schemas.openxmlformats.org/drawingml/2006/main" noGrp="1"/>
          </p:cNvSpPr>
          <p:nvPr/>
        </p:nvSpPr>
        <p:spPr>
          <a:xfrm xmlns:a="http://schemas.openxmlformats.org/drawingml/2006/main">
            <a:off x="651052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1.5</a:t>
            </a:r>
          </a:p>
        </p:txBody>
      </p:sp>
      <p:sp>
        <p:nvSpPr>
          <p:cNvPr id="69" name="Shape 67">
            <a:extLst xmlns:a="http://schemas.openxmlformats.org/drawingml/2006/main">
              <a:ext uri="{FF2B5EF4-FFF2-40B4-BE49-F238E27FC236}">
                <a16:creationId xmlns:a16="http://schemas.microsoft.com/office/drawing/2014/main" id="{31EED5B8-8E9F-483D-BE5F-55A759444928}"/>
              </a:ext>
            </a:extLst>
          </p:cNvPr>
          <p:cNvSpPr>
            <a:spLocks xmlns:a="http://schemas.openxmlformats.org/drawingml/2006/main" noGrp="1"/>
          </p:cNvSpPr>
          <p:nvPr/>
        </p:nvSpPr>
        <p:spPr>
          <a:xfrm xmlns:a="http://schemas.openxmlformats.org/drawingml/2006/main">
            <a:off x="7946136"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70" name="Shape 68">
            <a:extLst xmlns:a="http://schemas.openxmlformats.org/drawingml/2006/main">
              <a:ext uri="{FF2B5EF4-FFF2-40B4-BE49-F238E27FC236}">
                <a16:creationId xmlns:a16="http://schemas.microsoft.com/office/drawing/2014/main" id="{EE8ADDB2-C138-4032-9B22-FF9CC640538A}"/>
              </a:ext>
            </a:extLst>
          </p:cNvPr>
          <p:cNvSpPr>
            <a:spLocks xmlns:a="http://schemas.openxmlformats.org/drawingml/2006/main" noGrp="1"/>
          </p:cNvSpPr>
          <p:nvPr/>
        </p:nvSpPr>
        <p:spPr>
          <a:xfrm xmlns:a="http://schemas.openxmlformats.org/drawingml/2006/main">
            <a:off x="7946136" y="1188720"/>
            <a:ext cx="3749040" cy="109728"/>
          </a:xfrm>
          <a:prstGeom xmlns:a="http://schemas.openxmlformats.org/drawingml/2006/main" prst="rect">
            <a:avLst/>
          </a:prstGeom>
          <a:solidFill xmlns:a="http://schemas.openxmlformats.org/drawingml/2006/main">
            <a:srgbClr val="2B4A6B"/>
          </a:solidFill>
          <a:ln xmlns:a="http://schemas.openxmlformats.org/drawingml/2006/main" w="12700">
            <a:solidFill>
              <a:srgbClr val="2B4A6B"/>
            </a:solidFill>
            <a:prstDash val="solid"/>
          </a:ln>
        </p:spPr>
        <p:txBody>
          <a:bodyPr xmlns:a="http://schemas.openxmlformats.org/drawingml/2006/main"/>
          <a:lstStyle xmlns:a="http://schemas.openxmlformats.org/drawingml/2006/main"/>
          <a:p xmlns:a="http://schemas.openxmlformats.org/drawingml/2006/main"/>
        </p:txBody>
      </p:sp>
      <p:sp>
        <p:nvSpPr>
          <p:cNvPr id="71" name="Shape 69">
            <a:extLst xmlns:a="http://schemas.openxmlformats.org/drawingml/2006/main">
              <a:ext uri="{FF2B5EF4-FFF2-40B4-BE49-F238E27FC236}">
                <a16:creationId xmlns:a16="http://schemas.microsoft.com/office/drawing/2014/main" id="{1F23E4CC-2793-4980-8CB5-AA9B61C04138}"/>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ellipse">
            <a:avLst/>
          </a:prstGeom>
          <a:solidFill xmlns:a="http://schemas.openxmlformats.org/drawingml/2006/main">
            <a:srgbClr val="2B4A6B"/>
          </a:solidFill>
          <a:ln xmlns:a="http://schemas.openxmlformats.org/drawingml/2006/main" w="12700">
            <a:solidFill>
              <a:srgbClr val="2B4A6B"/>
            </a:solidFill>
            <a:prstDash val="solid"/>
          </a:ln>
        </p:spPr>
        <p:txBody>
          <a:bodyPr xmlns:a="http://schemas.openxmlformats.org/drawingml/2006/main"/>
          <a:lstStyle xmlns:a="http://schemas.openxmlformats.org/drawingml/2006/main"/>
          <a:p xmlns:a="http://schemas.openxmlformats.org/drawingml/2006/main"/>
        </p:txBody>
      </p:sp>
      <p:sp>
        <p:nvSpPr>
          <p:cNvPr id="72" name="Text 70">
            <a:extLst xmlns:a="http://schemas.openxmlformats.org/drawingml/2006/main">
              <a:ext uri="{FF2B5EF4-FFF2-40B4-BE49-F238E27FC236}">
                <a16:creationId xmlns:a16="http://schemas.microsoft.com/office/drawing/2014/main" id="{52DDE2C0-4234-494F-95A5-F49CA307A972}"/>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DS</a:t>
            </a:r>
          </a:p>
        </p:txBody>
      </p:sp>
      <p:sp>
        <p:nvSpPr>
          <p:cNvPr id="73" name="Text 71">
            <a:extLst xmlns:a="http://schemas.openxmlformats.org/drawingml/2006/main">
              <a:ext uri="{FF2B5EF4-FFF2-40B4-BE49-F238E27FC236}">
                <a16:creationId xmlns:a16="http://schemas.microsoft.com/office/drawing/2014/main" id="{09188069-6BCC-4BE0-AE28-D1361289587D}"/>
              </a:ext>
            </a:extLst>
          </p:cNvPr>
          <p:cNvSpPr>
            <a:spLocks xmlns:a="http://schemas.openxmlformats.org/drawingml/2006/main" noGrp="1"/>
          </p:cNvSpPr>
          <p:nvPr/>
        </p:nvSpPr>
        <p:spPr>
          <a:xfrm xmlns:a="http://schemas.openxmlformats.org/drawingml/2006/main">
            <a:off x="10232136"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#03</a:t>
            </a:r>
          </a:p>
        </p:txBody>
      </p:sp>
      <p:sp>
        <p:nvSpPr>
          <p:cNvPr id="74" name="Text 72">
            <a:extLst xmlns:a="http://schemas.openxmlformats.org/drawingml/2006/main">
              <a:ext uri="{FF2B5EF4-FFF2-40B4-BE49-F238E27FC236}">
                <a16:creationId xmlns:a16="http://schemas.microsoft.com/office/drawing/2014/main" id="{08345A29-7381-4B60-B300-BD446B0BB8FA}"/>
              </a:ext>
            </a:extLst>
          </p:cNvPr>
          <p:cNvSpPr>
            <a:spLocks xmlns:a="http://schemas.openxmlformats.org/drawingml/2006/main" noGrp="1"/>
          </p:cNvSpPr>
          <p:nvPr/>
        </p:nvSpPr>
        <p:spPr>
          <a:xfrm xmlns:a="http://schemas.openxmlformats.org/drawingml/2006/main">
            <a:off x="9025128"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David &amp; Sarah Miller</a:t>
            </a:r>
          </a:p>
        </p:txBody>
      </p:sp>
      <p:sp>
        <p:nvSpPr>
          <p:cNvPr id="75" name="Text 73">
            <a:extLst xmlns:a="http://schemas.openxmlformats.org/drawingml/2006/main">
              <a:ext uri="{FF2B5EF4-FFF2-40B4-BE49-F238E27FC236}">
                <a16:creationId xmlns:a16="http://schemas.microsoft.com/office/drawing/2014/main" id="{605A993F-AD81-4C3D-A4A1-4F56F21892CC}"/>
              </a:ext>
            </a:extLst>
          </p:cNvPr>
          <p:cNvSpPr>
            <a:spLocks xmlns:a="http://schemas.openxmlformats.org/drawingml/2006/main" noGrp="1"/>
          </p:cNvSpPr>
          <p:nvPr/>
        </p:nvSpPr>
        <p:spPr>
          <a:xfrm xmlns:a="http://schemas.openxmlformats.org/drawingml/2006/main">
            <a:off x="9025128"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48/46  ·  Middle Management</a:t>
            </a:r>
          </a:p>
        </p:txBody>
      </p:sp>
      <p:sp>
        <p:nvSpPr>
          <p:cNvPr id="76" name="Shape 74">
            <a:extLst xmlns:a="http://schemas.openxmlformats.org/drawingml/2006/main">
              <a:ext uri="{FF2B5EF4-FFF2-40B4-BE49-F238E27FC236}">
                <a16:creationId xmlns:a16="http://schemas.microsoft.com/office/drawing/2014/main" id="{D47399CE-5BD3-4B11-BF25-D7031EEE9257}"/>
              </a:ext>
            </a:extLst>
          </p:cNvPr>
          <p:cNvSpPr>
            <a:spLocks xmlns:a="http://schemas.openxmlformats.org/drawingml/2006/main" noGrp="1"/>
          </p:cNvSpPr>
          <p:nvPr/>
        </p:nvSpPr>
        <p:spPr>
          <a:xfrm xmlns:a="http://schemas.openxmlformats.org/drawingml/2006/main">
            <a:off x="8174736" y="2322576"/>
            <a:ext cx="1325880" cy="237744"/>
          </a:xfrm>
          <a:prstGeom xmlns:a="http://schemas.openxmlformats.org/drawingml/2006/main" prst="rect">
            <a:avLst/>
          </a:prstGeom>
          <a:solidFill xmlns:a="http://schemas.openxmlformats.org/drawingml/2006/main">
            <a:srgbClr val="E8F0FF"/>
          </a:solidFill>
          <a:ln xmlns:a="http://schemas.openxmlformats.org/drawingml/2006/main" w="12700">
            <a:solidFill>
              <a:srgbClr val="E8F0FF"/>
            </a:solidFill>
            <a:prstDash val="solid"/>
          </a:ln>
        </p:spPr>
        <p:txBody>
          <a:bodyPr xmlns:a="http://schemas.openxmlformats.org/drawingml/2006/main"/>
          <a:lstStyle xmlns:a="http://schemas.openxmlformats.org/drawingml/2006/main"/>
          <a:p xmlns:a="http://schemas.openxmlformats.org/drawingml/2006/main"/>
        </p:txBody>
      </p:sp>
      <p:sp>
        <p:nvSpPr>
          <p:cNvPr id="77" name="Shape 75">
            <a:extLst xmlns:a="http://schemas.openxmlformats.org/drawingml/2006/main">
              <a:ext uri="{FF2B5EF4-FFF2-40B4-BE49-F238E27FC236}">
                <a16:creationId xmlns:a16="http://schemas.microsoft.com/office/drawing/2014/main" id="{92754AAF-E40C-444A-B8DF-721AECD56F4E}"/>
              </a:ext>
            </a:extLst>
          </p:cNvPr>
          <p:cNvSpPr>
            <a:spLocks xmlns:a="http://schemas.openxmlformats.org/drawingml/2006/main" noGrp="1"/>
          </p:cNvSpPr>
          <p:nvPr/>
        </p:nvSpPr>
        <p:spPr>
          <a:xfrm xmlns:a="http://schemas.openxmlformats.org/drawingml/2006/main">
            <a:off x="8238744" y="2382012"/>
            <a:ext cx="91440" cy="91440"/>
          </a:xfrm>
          <a:prstGeom xmlns:a="http://schemas.openxmlformats.org/drawingml/2006/main" prst="ellipse">
            <a:avLst/>
          </a:prstGeom>
          <a:solidFill xmlns:a="http://schemas.openxmlformats.org/drawingml/2006/main">
            <a:srgbClr val="3A6EA5"/>
          </a:solidFill>
          <a:ln xmlns:a="http://schemas.openxmlformats.org/drawingml/2006/main" w="12700">
            <a:solidFill>
              <a:srgbClr val="3A6EA5"/>
            </a:solidFill>
            <a:prstDash val="solid"/>
          </a:ln>
        </p:spPr>
        <p:txBody>
          <a:bodyPr xmlns:a="http://schemas.openxmlformats.org/drawingml/2006/main"/>
          <a:lstStyle xmlns:a="http://schemas.openxmlformats.org/drawingml/2006/main"/>
          <a:p xmlns:a="http://schemas.openxmlformats.org/drawingml/2006/main"/>
        </p:txBody>
      </p:sp>
      <p:sp>
        <p:nvSpPr>
          <p:cNvPr id="78" name="Text 76">
            <a:extLst xmlns:a="http://schemas.openxmlformats.org/drawingml/2006/main">
              <a:ext uri="{FF2B5EF4-FFF2-40B4-BE49-F238E27FC236}">
                <a16:creationId xmlns:a16="http://schemas.microsoft.com/office/drawing/2014/main" id="{7366B86E-6B0C-4EFB-A1C0-EDAEE5D279B3}"/>
              </a:ext>
            </a:extLst>
          </p:cNvPr>
          <p:cNvSpPr>
            <a:spLocks xmlns:a="http://schemas.openxmlformats.org/drawingml/2006/main" noGrp="1"/>
          </p:cNvSpPr>
          <p:nvPr/>
        </p:nvSpPr>
        <p:spPr>
          <a:xfrm xmlns:a="http://schemas.openxmlformats.org/drawingml/2006/main">
            <a:off x="8366760"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3A6EA5"/>
                </a:solidFill>
                <a:latin typeface="Calibri"/>
                <a:ea typeface="Calibri"/>
                <a:cs typeface="Calibri"/>
              </a:rPr>
              <a:t>RISK NEUTRAL</a:t>
            </a:r>
          </a:p>
        </p:txBody>
      </p:sp>
      <p:sp>
        <p:nvSpPr>
          <p:cNvPr id="79" name="Shape 77">
            <a:extLst xmlns:a="http://schemas.openxmlformats.org/drawingml/2006/main">
              <a:ext uri="{FF2B5EF4-FFF2-40B4-BE49-F238E27FC236}">
                <a16:creationId xmlns:a16="http://schemas.microsoft.com/office/drawing/2014/main" id="{F0C2BA63-BA0F-4DDF-8CFE-49248FB37D6D}"/>
              </a:ext>
            </a:extLst>
          </p:cNvPr>
          <p:cNvSpPr>
            <a:spLocks xmlns:a="http://schemas.openxmlformats.org/drawingml/2006/main" noGrp="1"/>
          </p:cNvSpPr>
          <p:nvPr/>
        </p:nvSpPr>
        <p:spPr>
          <a:xfrm xmlns:a="http://schemas.openxmlformats.org/drawingml/2006/main">
            <a:off x="8174736"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80" name="Text 78">
            <a:extLst xmlns:a="http://schemas.openxmlformats.org/drawingml/2006/main">
              <a:ext uri="{FF2B5EF4-FFF2-40B4-BE49-F238E27FC236}">
                <a16:creationId xmlns:a16="http://schemas.microsoft.com/office/drawing/2014/main" id="{375447F2-6FC1-4766-9E64-E375F1274474}"/>
              </a:ext>
            </a:extLst>
          </p:cNvPr>
          <p:cNvSpPr>
            <a:spLocks xmlns:a="http://schemas.openxmlformats.org/drawingml/2006/main" noGrp="1"/>
          </p:cNvSpPr>
          <p:nvPr/>
        </p:nvSpPr>
        <p:spPr>
          <a:xfrm xmlns:a="http://schemas.openxmlformats.org/drawingml/2006/main">
            <a:off x="817473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81" name="Text 79">
            <a:extLst xmlns:a="http://schemas.openxmlformats.org/drawingml/2006/main">
              <a:ext uri="{FF2B5EF4-FFF2-40B4-BE49-F238E27FC236}">
                <a16:creationId xmlns:a16="http://schemas.microsoft.com/office/drawing/2014/main" id="{850FB151-8365-47E2-8CF2-BD9385B6EE86}"/>
              </a:ext>
            </a:extLst>
          </p:cNvPr>
          <p:cNvSpPr>
            <a:spLocks xmlns:a="http://schemas.openxmlformats.org/drawingml/2006/main" noGrp="1"/>
          </p:cNvSpPr>
          <p:nvPr/>
        </p:nvSpPr>
        <p:spPr>
          <a:xfrm xmlns:a="http://schemas.openxmlformats.org/drawingml/2006/main">
            <a:off x="817473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$165,000</a:t>
            </a:r>
          </a:p>
        </p:txBody>
      </p:sp>
      <p:sp>
        <p:nvSpPr>
          <p:cNvPr id="82" name="Text 80">
            <a:extLst xmlns:a="http://schemas.openxmlformats.org/drawingml/2006/main">
              <a:ext uri="{FF2B5EF4-FFF2-40B4-BE49-F238E27FC236}">
                <a16:creationId xmlns:a16="http://schemas.microsoft.com/office/drawing/2014/main" id="{C327D61A-97A6-449F-9D5B-8A8842ED9593}"/>
              </a:ext>
            </a:extLst>
          </p:cNvPr>
          <p:cNvSpPr>
            <a:spLocks xmlns:a="http://schemas.openxmlformats.org/drawingml/2006/main" noGrp="1"/>
          </p:cNvSpPr>
          <p:nvPr/>
        </p:nvSpPr>
        <p:spPr>
          <a:xfrm xmlns:a="http://schemas.openxmlformats.org/drawingml/2006/main">
            <a:off x="991209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83" name="Text 81">
            <a:extLst xmlns:a="http://schemas.openxmlformats.org/drawingml/2006/main">
              <a:ext uri="{FF2B5EF4-FFF2-40B4-BE49-F238E27FC236}">
                <a16:creationId xmlns:a16="http://schemas.microsoft.com/office/drawing/2014/main" id="{2D46D9BE-AC0B-43E4-8B60-ABAB86309556}"/>
              </a:ext>
            </a:extLst>
          </p:cNvPr>
          <p:cNvSpPr>
            <a:spLocks xmlns:a="http://schemas.openxmlformats.org/drawingml/2006/main" noGrp="1"/>
          </p:cNvSpPr>
          <p:nvPr/>
        </p:nvSpPr>
        <p:spPr>
          <a:xfrm xmlns:a="http://schemas.openxmlformats.org/drawingml/2006/main">
            <a:off x="991209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$450,000</a:t>
            </a:r>
          </a:p>
        </p:txBody>
      </p:sp>
      <p:sp>
        <p:nvSpPr>
          <p:cNvPr id="84" name="Shape 82">
            <a:extLst xmlns:a="http://schemas.openxmlformats.org/drawingml/2006/main">
              <a:ext uri="{FF2B5EF4-FFF2-40B4-BE49-F238E27FC236}">
                <a16:creationId xmlns:a16="http://schemas.microsoft.com/office/drawing/2014/main" id="{165D82DB-8EAA-4509-942F-396CA9B15576}"/>
              </a:ext>
            </a:extLst>
          </p:cNvPr>
          <p:cNvSpPr>
            <a:spLocks xmlns:a="http://schemas.openxmlformats.org/drawingml/2006/main" noGrp="1"/>
          </p:cNvSpPr>
          <p:nvPr/>
        </p:nvSpPr>
        <p:spPr>
          <a:xfrm xmlns:a="http://schemas.openxmlformats.org/drawingml/2006/main">
            <a:off x="8174736" y="3456432"/>
            <a:ext cx="3291840" cy="804672"/>
          </a:xfrm>
          <a:prstGeom xmlns:a="http://schemas.openxmlformats.org/drawingml/2006/main" prst="rect">
            <a:avLst/>
          </a:prstGeom>
          <a:solidFill xmlns:a="http://schemas.openxmlformats.org/drawingml/2006/main">
            <a:srgbClr val="D6E4F0"/>
          </a:solidFill>
          <a:ln xmlns:a="http://schemas.openxmlformats.org/drawingml/2006/main" w="12700">
            <a:solidFill>
              <a:srgbClr val="D6E4F0"/>
            </a:solidFill>
            <a:prstDash val="solid"/>
          </a:ln>
        </p:spPr>
        <p:txBody>
          <a:bodyPr xmlns:a="http://schemas.openxmlformats.org/drawingml/2006/main"/>
          <a:lstStyle xmlns:a="http://schemas.openxmlformats.org/drawingml/2006/main"/>
          <a:p xmlns:a="http://schemas.openxmlformats.org/drawingml/2006/main"/>
        </p:txBody>
      </p:sp>
      <p:sp>
        <p:nvSpPr>
          <p:cNvPr id="85" name="Shape 83">
            <a:extLst xmlns:a="http://schemas.openxmlformats.org/drawingml/2006/main">
              <a:ext uri="{FF2B5EF4-FFF2-40B4-BE49-F238E27FC236}">
                <a16:creationId xmlns:a16="http://schemas.microsoft.com/office/drawing/2014/main" id="{203753FC-EF26-4EC2-8504-C12ABFBFAFC5}"/>
              </a:ext>
            </a:extLst>
          </p:cNvPr>
          <p:cNvSpPr>
            <a:spLocks xmlns:a="http://schemas.openxmlformats.org/drawingml/2006/main" noGrp="1"/>
          </p:cNvSpPr>
          <p:nvPr/>
        </p:nvSpPr>
        <p:spPr>
          <a:xfrm xmlns:a="http://schemas.openxmlformats.org/drawingml/2006/main">
            <a:off x="8174736" y="3456432"/>
            <a:ext cx="54864" cy="804672"/>
          </a:xfrm>
          <a:prstGeom xmlns:a="http://schemas.openxmlformats.org/drawingml/2006/main" prst="rect">
            <a:avLst/>
          </a:prstGeom>
          <a:solidFill xmlns:a="http://schemas.openxmlformats.org/drawingml/2006/main">
            <a:srgbClr val="2B4A6B"/>
          </a:solidFill>
          <a:ln xmlns:a="http://schemas.openxmlformats.org/drawingml/2006/main" w="12700">
            <a:solidFill>
              <a:srgbClr val="2B4A6B"/>
            </a:solidFill>
            <a:prstDash val="solid"/>
          </a:ln>
        </p:spPr>
        <p:txBody>
          <a:bodyPr xmlns:a="http://schemas.openxmlformats.org/drawingml/2006/main"/>
          <a:lstStyle xmlns:a="http://schemas.openxmlformats.org/drawingml/2006/main"/>
          <a:p xmlns:a="http://schemas.openxmlformats.org/drawingml/2006/main"/>
        </p:txBody>
      </p:sp>
      <p:sp>
        <p:nvSpPr>
          <p:cNvPr id="86" name="Text 84">
            <a:extLst xmlns:a="http://schemas.openxmlformats.org/drawingml/2006/main">
              <a:ext uri="{FF2B5EF4-FFF2-40B4-BE49-F238E27FC236}">
                <a16:creationId xmlns:a16="http://schemas.microsoft.com/office/drawing/2014/main" id="{60F289A7-B4D5-4ED2-8B27-2C57C7343031}"/>
              </a:ext>
            </a:extLst>
          </p:cNvPr>
          <p:cNvSpPr>
            <a:spLocks xmlns:a="http://schemas.openxmlformats.org/drawingml/2006/main" noGrp="1"/>
          </p:cNvSpPr>
          <p:nvPr/>
        </p:nvSpPr>
        <p:spPr>
          <a:xfrm xmlns:a="http://schemas.openxmlformats.org/drawingml/2006/main">
            <a:off x="8293608"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2B4A6B"/>
                </a:solidFill>
                <a:latin typeface="Calibri"/>
                <a:ea typeface="Calibri"/>
                <a:cs typeface="Calibri"/>
              </a:rPr>
              <a:t>PRIMARY GOAL</a:t>
            </a:r>
          </a:p>
        </p:txBody>
      </p:sp>
      <p:sp>
        <p:nvSpPr>
          <p:cNvPr id="87" name="Text 85">
            <a:extLst xmlns:a="http://schemas.openxmlformats.org/drawingml/2006/main">
              <a:ext uri="{FF2B5EF4-FFF2-40B4-BE49-F238E27FC236}">
                <a16:creationId xmlns:a16="http://schemas.microsoft.com/office/drawing/2014/main" id="{B648A4FD-C687-4FA3-97FD-8860503AC72B}"/>
              </a:ext>
            </a:extLst>
          </p:cNvPr>
          <p:cNvSpPr>
            <a:spLocks xmlns:a="http://schemas.openxmlformats.org/drawingml/2006/main" noGrp="1"/>
          </p:cNvSpPr>
          <p:nvPr/>
        </p:nvSpPr>
        <p:spPr>
          <a:xfrm xmlns:a="http://schemas.openxmlformats.org/drawingml/2006/main">
            <a:off x="8293608"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College Funding / Retirement</a:t>
            </a:r>
          </a:p>
        </p:txBody>
      </p:sp>
      <p:sp>
        <p:nvSpPr>
          <p:cNvPr id="88" name="Shape 86">
            <a:extLst xmlns:a="http://schemas.openxmlformats.org/drawingml/2006/main">
              <a:ext uri="{FF2B5EF4-FFF2-40B4-BE49-F238E27FC236}">
                <a16:creationId xmlns:a16="http://schemas.microsoft.com/office/drawing/2014/main" id="{3E57E217-B71B-4DCC-800D-3ABD4C23EDF2}"/>
              </a:ext>
            </a:extLst>
          </p:cNvPr>
          <p:cNvSpPr>
            <a:spLocks xmlns:a="http://schemas.openxmlformats.org/drawingml/2006/main" noGrp="1"/>
          </p:cNvSpPr>
          <p:nvPr/>
        </p:nvSpPr>
        <p:spPr>
          <a:xfrm xmlns:a="http://schemas.openxmlformats.org/drawingml/2006/main">
            <a:off x="8174736"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89" name="Text 87">
            <a:extLst xmlns:a="http://schemas.openxmlformats.org/drawingml/2006/main">
              <a:ext uri="{FF2B5EF4-FFF2-40B4-BE49-F238E27FC236}">
                <a16:creationId xmlns:a16="http://schemas.microsoft.com/office/drawing/2014/main" id="{892A2389-55FD-41B3-A30E-29FD5C766491}"/>
              </a:ext>
            </a:extLst>
          </p:cNvPr>
          <p:cNvSpPr>
            <a:spLocks xmlns:a="http://schemas.openxmlformats.org/drawingml/2006/main" noGrp="1"/>
          </p:cNvSpPr>
          <p:nvPr/>
        </p:nvSpPr>
        <p:spPr>
          <a:xfrm xmlns:a="http://schemas.openxmlformats.org/drawingml/2006/main">
            <a:off x="8293608"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90" name="Text 88">
            <a:extLst xmlns:a="http://schemas.openxmlformats.org/drawingml/2006/main">
              <a:ext uri="{FF2B5EF4-FFF2-40B4-BE49-F238E27FC236}">
                <a16:creationId xmlns:a16="http://schemas.microsoft.com/office/drawing/2014/main" id="{911F74C0-5B5C-49D4-8EDA-7E54FC715AF4}"/>
              </a:ext>
            </a:extLst>
          </p:cNvPr>
          <p:cNvSpPr>
            <a:spLocks xmlns:a="http://schemas.openxmlformats.org/drawingml/2006/main" noGrp="1"/>
          </p:cNvSpPr>
          <p:nvPr/>
        </p:nvSpPr>
        <p:spPr>
          <a:xfrm xmlns:a="http://schemas.openxmlformats.org/drawingml/2006/main">
            <a:off x="8293608"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Tuition payments starting in 3 years</a:t>
            </a:r>
          </a:p>
        </p:txBody>
      </p:sp>
      <p:sp>
        <p:nvSpPr>
          <p:cNvPr id="91" name="Shape 89">
            <a:extLst xmlns:a="http://schemas.openxmlformats.org/drawingml/2006/main">
              <a:ext uri="{FF2B5EF4-FFF2-40B4-BE49-F238E27FC236}">
                <a16:creationId xmlns:a16="http://schemas.microsoft.com/office/drawing/2014/main" id="{60DE4DFB-F495-4C29-AB93-627EEAA6D3C7}"/>
              </a:ext>
            </a:extLst>
          </p:cNvPr>
          <p:cNvSpPr>
            <a:spLocks xmlns:a="http://schemas.openxmlformats.org/drawingml/2006/main" noGrp="1"/>
          </p:cNvSpPr>
          <p:nvPr/>
        </p:nvSpPr>
        <p:spPr>
          <a:xfrm xmlns:a="http://schemas.openxmlformats.org/drawingml/2006/main">
            <a:off x="8174736" y="5230368"/>
            <a:ext cx="1097280" cy="877824"/>
          </a:xfrm>
          <a:prstGeom xmlns:a="http://schemas.openxmlformats.org/drawingml/2006/main" prst="rect">
            <a:avLst/>
          </a:prstGeom>
          <a:solidFill xmlns:a="http://schemas.openxmlformats.org/drawingml/2006/main">
            <a:srgbClr val="2B4A6B"/>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2" name="Text 90">
            <a:extLst xmlns:a="http://schemas.openxmlformats.org/drawingml/2006/main">
              <a:ext uri="{FF2B5EF4-FFF2-40B4-BE49-F238E27FC236}">
                <a16:creationId xmlns:a16="http://schemas.microsoft.com/office/drawing/2014/main" id="{C854E9AA-8C08-4054-BD6E-465E2F5A4B7F}"/>
              </a:ext>
            </a:extLst>
          </p:cNvPr>
          <p:cNvSpPr>
            <a:spLocks xmlns:a="http://schemas.openxmlformats.org/drawingml/2006/main" noGrp="1"/>
          </p:cNvSpPr>
          <p:nvPr/>
        </p:nvSpPr>
        <p:spPr>
          <a:xfrm xmlns:a="http://schemas.openxmlformats.org/drawingml/2006/main">
            <a:off x="819302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93" name="Text 91">
            <a:extLst xmlns:a="http://schemas.openxmlformats.org/drawingml/2006/main">
              <a:ext uri="{FF2B5EF4-FFF2-40B4-BE49-F238E27FC236}">
                <a16:creationId xmlns:a16="http://schemas.microsoft.com/office/drawing/2014/main" id="{F61B1559-0EBA-4E88-BB23-B94B79CBB725}"/>
              </a:ext>
            </a:extLst>
          </p:cNvPr>
          <p:cNvSpPr>
            <a:spLocks xmlns:a="http://schemas.openxmlformats.org/drawingml/2006/main" noGrp="1"/>
          </p:cNvSpPr>
          <p:nvPr/>
        </p:nvSpPr>
        <p:spPr>
          <a:xfrm xmlns:a="http://schemas.openxmlformats.org/drawingml/2006/main">
            <a:off x="822045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7.0%</a:t>
            </a:r>
          </a:p>
        </p:txBody>
      </p:sp>
      <p:sp>
        <p:nvSpPr>
          <p:cNvPr id="94" name="Shape 92">
            <a:extLst xmlns:a="http://schemas.openxmlformats.org/drawingml/2006/main">
              <a:ext uri="{FF2B5EF4-FFF2-40B4-BE49-F238E27FC236}">
                <a16:creationId xmlns:a16="http://schemas.microsoft.com/office/drawing/2014/main" id="{4E9CA86D-CCE3-4569-B146-7E16C5E1417B}"/>
              </a:ext>
            </a:extLst>
          </p:cNvPr>
          <p:cNvSpPr>
            <a:spLocks xmlns:a="http://schemas.openxmlformats.org/drawingml/2006/main" noGrp="1"/>
          </p:cNvSpPr>
          <p:nvPr/>
        </p:nvSpPr>
        <p:spPr>
          <a:xfrm xmlns:a="http://schemas.openxmlformats.org/drawingml/2006/main">
            <a:off x="9272016"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5" name="Text 93">
            <a:extLst xmlns:a="http://schemas.openxmlformats.org/drawingml/2006/main">
              <a:ext uri="{FF2B5EF4-FFF2-40B4-BE49-F238E27FC236}">
                <a16:creationId xmlns:a16="http://schemas.microsoft.com/office/drawing/2014/main" id="{0BF172E1-1C96-4D3F-8713-3793BA0B0D25}"/>
              </a:ext>
            </a:extLst>
          </p:cNvPr>
          <p:cNvSpPr>
            <a:spLocks xmlns:a="http://schemas.openxmlformats.org/drawingml/2006/main" noGrp="1"/>
          </p:cNvSpPr>
          <p:nvPr/>
        </p:nvSpPr>
        <p:spPr>
          <a:xfrm xmlns:a="http://schemas.openxmlformats.org/drawingml/2006/main">
            <a:off x="929030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96" name="Text 94">
            <a:extLst xmlns:a="http://schemas.openxmlformats.org/drawingml/2006/main">
              <a:ext uri="{FF2B5EF4-FFF2-40B4-BE49-F238E27FC236}">
                <a16:creationId xmlns:a16="http://schemas.microsoft.com/office/drawing/2014/main" id="{F5424ED3-3FBA-4120-AA04-EEC7AE48A20A}"/>
              </a:ext>
            </a:extLst>
          </p:cNvPr>
          <p:cNvSpPr>
            <a:spLocks xmlns:a="http://schemas.openxmlformats.org/drawingml/2006/main" noGrp="1"/>
          </p:cNvSpPr>
          <p:nvPr/>
        </p:nvSpPr>
        <p:spPr>
          <a:xfrm xmlns:a="http://schemas.openxmlformats.org/drawingml/2006/main">
            <a:off x="931773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12.0%</a:t>
            </a:r>
          </a:p>
        </p:txBody>
      </p:sp>
      <p:sp>
        <p:nvSpPr>
          <p:cNvPr id="97" name="Shape 95">
            <a:extLst xmlns:a="http://schemas.openxmlformats.org/drawingml/2006/main">
              <a:ext uri="{FF2B5EF4-FFF2-40B4-BE49-F238E27FC236}">
                <a16:creationId xmlns:a16="http://schemas.microsoft.com/office/drawing/2014/main" id="{F37885E7-3EDA-48E2-8326-CD79BF03F8A8}"/>
              </a:ext>
            </a:extLst>
          </p:cNvPr>
          <p:cNvSpPr>
            <a:spLocks xmlns:a="http://schemas.openxmlformats.org/drawingml/2006/main" noGrp="1"/>
          </p:cNvSpPr>
          <p:nvPr/>
        </p:nvSpPr>
        <p:spPr>
          <a:xfrm xmlns:a="http://schemas.openxmlformats.org/drawingml/2006/main">
            <a:off x="10369296"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8" name="Text 96">
            <a:extLst xmlns:a="http://schemas.openxmlformats.org/drawingml/2006/main">
              <a:ext uri="{FF2B5EF4-FFF2-40B4-BE49-F238E27FC236}">
                <a16:creationId xmlns:a16="http://schemas.microsoft.com/office/drawing/2014/main" id="{8B832916-15C5-409C-8AC3-1081A0A6C213}"/>
              </a:ext>
            </a:extLst>
          </p:cNvPr>
          <p:cNvSpPr>
            <a:spLocks xmlns:a="http://schemas.openxmlformats.org/drawingml/2006/main" noGrp="1"/>
          </p:cNvSpPr>
          <p:nvPr/>
        </p:nvSpPr>
        <p:spPr>
          <a:xfrm xmlns:a="http://schemas.openxmlformats.org/drawingml/2006/main">
            <a:off x="1038758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99" name="Text 97">
            <a:extLst xmlns:a="http://schemas.openxmlformats.org/drawingml/2006/main">
              <a:ext uri="{FF2B5EF4-FFF2-40B4-BE49-F238E27FC236}">
                <a16:creationId xmlns:a16="http://schemas.microsoft.com/office/drawing/2014/main" id="{BC1635FA-9B85-4860-9AC7-7E4A4994C817}"/>
              </a:ext>
            </a:extLst>
          </p:cNvPr>
          <p:cNvSpPr>
            <a:spLocks xmlns:a="http://schemas.openxmlformats.org/drawingml/2006/main" noGrp="1"/>
          </p:cNvSpPr>
          <p:nvPr/>
        </p:nvSpPr>
        <p:spPr>
          <a:xfrm xmlns:a="http://schemas.openxmlformats.org/drawingml/2006/main">
            <a:off x="1041501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4.0</a:t>
            </a:r>
          </a:p>
        </p:txBody>
      </p:sp>
      <p:sp>
        <p:nvSpPr>
          <p:cNvPr id="100" name="Shape 98">
            <a:extLst xmlns:a="http://schemas.openxmlformats.org/drawingml/2006/main">
              <a:ext uri="{FF2B5EF4-FFF2-40B4-BE49-F238E27FC236}">
                <a16:creationId xmlns:a16="http://schemas.microsoft.com/office/drawing/2014/main" id="{1B1CADC9-369D-4697-B7EF-A7A39C143CEB}"/>
              </a:ext>
            </a:extLst>
          </p:cNvPr>
          <p:cNvSpPr>
            <a:spLocks xmlns:a="http://schemas.openxmlformats.org/drawingml/2006/main" noGrp="1"/>
          </p:cNvSpPr>
          <p:nvPr/>
        </p:nvSpPr>
        <p:spPr>
          <a:xfrm xmlns:a="http://schemas.openxmlformats.org/drawingml/2006/main">
            <a:off x="0" y="6565392"/>
            <a:ext cx="12161520" cy="292608"/>
          </a:xfrm>
          <a:prstGeom xmlns:a="http://schemas.openxmlformats.org/drawingml/2006/main" prst="rect">
            <a:avLst/>
          </a:prstGeom>
          <a:solidFill xmlns:a="http://schemas.openxmlformats.org/drawingml/2006/main">
            <a:srgbClr val="2B4A6B"/>
          </a:solidFill>
          <a:ln xmlns:a="http://schemas.openxmlformats.org/drawingml/2006/main" w="12700">
            <a:solidFill>
              <a:srgbClr val="2B4A6B"/>
            </a:solidFill>
            <a:prstDash val="solid"/>
          </a:ln>
        </p:spPr>
        <p:txBody>
          <a:bodyPr xmlns:a="http://schemas.openxmlformats.org/drawingml/2006/main"/>
          <a:lstStyle xmlns:a="http://schemas.openxmlformats.org/drawingml/2006/main"/>
          <a:p xmlns:a="http://schemas.openxmlformats.org/drawingml/2006/main"/>
        </p:txBody>
      </p:sp>
      <p:sp>
        <p:nvSpPr>
          <p:cNvPr id="101" name="Text 99">
            <a:extLst xmlns:a="http://schemas.openxmlformats.org/drawingml/2006/main">
              <a:ext uri="{FF2B5EF4-FFF2-40B4-BE49-F238E27FC236}">
                <a16:creationId xmlns:a16="http://schemas.microsoft.com/office/drawing/2014/main" id="{00365737-9632-41B5-97D5-042509DDF16E}"/>
              </a:ext>
            </a:extLst>
          </p:cNvPr>
          <p:cNvSpPr>
            <a:spLocks xmlns:a="http://schemas.openxmlformats.org/drawingml/2006/main" noGrp="1"/>
          </p:cNvSpPr>
          <p:nvPr/>
        </p:nvSpPr>
        <p:spPr>
          <a:xfrm xmlns:a="http://schemas.openxmlformats.org/drawingml/2006/main">
            <a:off x="274320" y="6565392"/>
            <a:ext cx="11612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FFFFFF">
                    <a:alpha val="65000"/>
                  </a:srgbClr>
                </a:solidFill>
                <a:latin typeface="Calibri"/>
                <a:ea typeface="Calibri"/>
                <a:cs typeface="Calibri"/>
              </a:rPr>
              <a:t>BUS331 Investments  ·  Endicott College  ·  Team One</a:t>
            </a:r>
          </a:p>
        </p:txBody>
      </p:sp>
      <p:sp>
        <p:nvSpPr>
          <p:cNvPr id="104" name="Text 39">
            <a:extLst xmlns:a="http://schemas.openxmlformats.org/drawingml/2006/main">
              <a:ext uri="{FF2B5EF4-FFF2-40B4-BE49-F238E27FC236}">
                <a16:creationId xmlns:a16="http://schemas.microsoft.com/office/drawing/2014/main" id="{701936F2-F6CB-2411-1711-A20E17F6CF15}"/>
              </a:ext>
            </a:extLst>
          </p:cNvPr>
          <p:cNvSpPr>
            <a:spLocks xmlns:a="http://schemas.openxmlformats.org/drawingml/2006/main" noGrp="1"/>
          </p:cNvSpPr>
          <p:nvPr/>
        </p:nvSpPr>
        <p:spPr>
          <a:xfrm xmlns:a="http://schemas.openxmlformats.org/drawingml/2006/main">
            <a:off x="379476" y="1463040"/>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EV</a:t>
            </a:r>
          </a:p>
        </p:txBody>
      </p:sp>
    </p:spTree>
    <p:extLst>
      <p:ext uri="{BB962C8B-B14F-4D97-AF65-F5344CB8AC3E}">
        <p14:creationId xmlns:p14="http://schemas.microsoft.com/office/powerpoint/2010/main" val="4099662099"/>
      </p:ext>
    </p:extLst>
  </p:cSld>
</p:sld>
</file>

<file path=ppt/slides/slide3.xml><?xml version="1.0" encoding="utf-8"?>
<p:sld xmlns:p="http://schemas.openxmlformats.org/presentationml/2006/main">
  <p:cSld>
    <p:bg>
      <p:bgPr>
        <a:solidFill xmlns:a="http://schemas.openxmlformats.org/drawingml/2006/main">
          <a:srgbClr val="F5F0E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A10587-971B-450E-A93B-F9B77BC6374C}"/>
              </a:ext>
            </a:extLst>
          </p:cNvPr>
          <p:cNvSpPr>
            <a:spLocks xmlns:a="http://schemas.openxmlformats.org/drawingml/2006/main" noGrp="1"/>
          </p:cNvSpPr>
          <p:nvPr/>
        </p:nvSpPr>
        <p:spPr>
          <a:xfrm xmlns:a="http://schemas.openxmlformats.org/drawingml/2006/main">
            <a:off x="0" y="0"/>
            <a:ext cx="12161520" cy="1005840"/>
          </a:xfrm>
          <a:prstGeom xmlns:a="http://schemas.openxmlformats.org/drawingml/2006/main" prst="rect">
            <a:avLst/>
          </a:prstGeom>
          <a:solidFill xmlns:a="http://schemas.openxmlformats.org/drawingml/2006/main">
            <a:srgbClr val="6B3A1F"/>
          </a:solidFill>
          <a:ln xmlns:a="http://schemas.openxmlformats.org/drawingml/2006/main" w="12700">
            <a:solidFill>
              <a:srgbClr val="6B3A1F"/>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665CAB45-6928-405A-A74A-F03E3F395696}"/>
              </a:ext>
            </a:extLst>
          </p:cNvPr>
          <p:cNvSpPr>
            <a:spLocks xmlns:a="http://schemas.openxmlformats.org/drawingml/2006/main" noGrp="1"/>
          </p:cNvSpPr>
          <p:nvPr/>
        </p:nvSpPr>
        <p:spPr>
          <a:xfrm xmlns:a="http://schemas.openxmlformats.org/drawingml/2006/main">
            <a:off x="91440" y="-45720"/>
            <a:ext cx="1463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200" b="1">
                <a:solidFill>
                  <a:srgbClr val="FFFFFF">
                    <a:alpha val="25000"/>
                  </a:srgbClr>
                </a:solidFill>
                <a:latin typeface="Georgia"/>
                <a:ea typeface="Georgia"/>
                <a:cs typeface="Georgia"/>
              </a:rPr>
              <a:t>02</a:t>
            </a:r>
          </a:p>
        </p:txBody>
      </p:sp>
      <p:sp>
        <p:nvSpPr>
          <p:cNvPr id="4" name="Text 2">
            <a:extLst xmlns:a="http://schemas.openxmlformats.org/drawingml/2006/main">
              <a:ext uri="{FF2B5EF4-FFF2-40B4-BE49-F238E27FC236}">
                <a16:creationId xmlns:a16="http://schemas.microsoft.com/office/drawing/2014/main" id="{63988E5A-C993-4C8A-8CBC-46C5347A01B3}"/>
              </a:ext>
            </a:extLst>
          </p:cNvPr>
          <p:cNvSpPr>
            <a:spLocks xmlns:a="http://schemas.openxmlformats.org/drawingml/2006/main" noGrp="1"/>
          </p:cNvSpPr>
          <p:nvPr/>
        </p:nvSpPr>
        <p:spPr>
          <a:xfrm xmlns:a="http://schemas.openxmlformats.org/drawingml/2006/main">
            <a:off x="1371600" y="73152"/>
            <a:ext cx="4572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FFFFFF">
                    <a:alpha val="60000"/>
                  </a:srgbClr>
                </a:solidFill>
                <a:latin typeface="Calibri"/>
                <a:ea typeface="Calibri"/>
                <a:cs typeface="Calibri"/>
              </a:rPr>
              <a:t>TEAM TWO</a:t>
            </a:r>
          </a:p>
        </p:txBody>
      </p:sp>
      <p:sp>
        <p:nvSpPr>
          <p:cNvPr id="5" name="Text 3">
            <a:extLst xmlns:a="http://schemas.openxmlformats.org/drawingml/2006/main">
              <a:ext uri="{FF2B5EF4-FFF2-40B4-BE49-F238E27FC236}">
                <a16:creationId xmlns:a16="http://schemas.microsoft.com/office/drawing/2014/main" id="{8B88839D-0CE6-4A24-AD95-C61CE0FEA9AA}"/>
              </a:ext>
            </a:extLst>
          </p:cNvPr>
          <p:cNvSpPr>
            <a:spLocks xmlns:a="http://schemas.openxmlformats.org/drawingml/2006/main" noGrp="1"/>
          </p:cNvSpPr>
          <p:nvPr/>
        </p:nvSpPr>
        <p:spPr>
          <a:xfrm xmlns:a="http://schemas.openxmlformats.org/drawingml/2006/main">
            <a:off x="1371600" y="457200"/>
            <a:ext cx="7315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Georgia"/>
                <a:ea typeface="Georgia"/>
                <a:cs typeface="Georgia"/>
              </a:rPr>
              <a:t>Team Two · Client Profiles</a:t>
            </a:r>
          </a:p>
        </p:txBody>
      </p:sp>
      <p:sp>
        <p:nvSpPr>
          <p:cNvPr id="6" name="Text 4">
            <a:extLst xmlns:a="http://schemas.openxmlformats.org/drawingml/2006/main">
              <a:ext uri="{FF2B5EF4-FFF2-40B4-BE49-F238E27FC236}">
                <a16:creationId xmlns:a16="http://schemas.microsoft.com/office/drawing/2014/main" id="{1A81E9F0-88CD-4429-8033-2B0295782348}"/>
              </a:ext>
            </a:extLst>
          </p:cNvPr>
          <p:cNvSpPr>
            <a:spLocks xmlns:a="http://schemas.openxmlformats.org/drawingml/2006/main" noGrp="1"/>
          </p:cNvSpPr>
          <p:nvPr/>
        </p:nvSpPr>
        <p:spPr>
          <a:xfrm xmlns:a="http://schemas.openxmlformats.org/drawingml/2006/main">
            <a:off x="10789920" y="274320"/>
            <a:ext cx="1188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FFFFFF">
                    <a:alpha val="50000"/>
                  </a:srgbClr>
                </a:solidFill>
                <a:latin typeface="Calibri"/>
                <a:ea typeface="Calibri"/>
                <a:cs typeface="Calibri"/>
              </a:rPr>
              <a:t>2 / 6</a:t>
            </a:r>
          </a:p>
        </p:txBody>
      </p:sp>
      <p:sp>
        <p:nvSpPr>
          <p:cNvPr id="7" name="Shape 5">
            <a:extLst xmlns:a="http://schemas.openxmlformats.org/drawingml/2006/main">
              <a:ext uri="{FF2B5EF4-FFF2-40B4-BE49-F238E27FC236}">
                <a16:creationId xmlns:a16="http://schemas.microsoft.com/office/drawing/2014/main" id="{E1A08AE2-AA1C-4F12-97A1-02BD3B46E0D5}"/>
              </a:ext>
            </a:extLst>
          </p:cNvPr>
          <p:cNvSpPr>
            <a:spLocks xmlns:a="http://schemas.openxmlformats.org/drawingml/2006/main" noGrp="1"/>
          </p:cNvSpPr>
          <p:nvPr/>
        </p:nvSpPr>
        <p:spPr>
          <a:xfrm xmlns:a="http://schemas.openxmlformats.org/drawingml/2006/main">
            <a:off x="137160"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21D1CAF5-C55B-4DB6-A02F-A02C7F7F89CB}"/>
              </a:ext>
            </a:extLst>
          </p:cNvPr>
          <p:cNvSpPr>
            <a:spLocks xmlns:a="http://schemas.openxmlformats.org/drawingml/2006/main" noGrp="1"/>
          </p:cNvSpPr>
          <p:nvPr/>
        </p:nvSpPr>
        <p:spPr>
          <a:xfrm xmlns:a="http://schemas.openxmlformats.org/drawingml/2006/main">
            <a:off x="137160" y="1188720"/>
            <a:ext cx="3749040" cy="109728"/>
          </a:xfrm>
          <a:prstGeom xmlns:a="http://schemas.openxmlformats.org/drawingml/2006/main" prst="rect">
            <a:avLst/>
          </a:prstGeom>
          <a:solidFill xmlns:a="http://schemas.openxmlformats.org/drawingml/2006/main">
            <a:srgbClr val="6B3A1F"/>
          </a:solidFill>
          <a:ln xmlns:a="http://schemas.openxmlformats.org/drawingml/2006/main" w="12700">
            <a:solidFill>
              <a:srgbClr val="6B3A1F"/>
            </a:solidFill>
            <a:prstDash val="solid"/>
          </a:ln>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53A8AA9E-F341-4BAA-8F49-A5BD04287B67}"/>
              </a:ext>
            </a:extLst>
          </p:cNvPr>
          <p:cNvSpPr>
            <a:spLocks xmlns:a="http://schemas.openxmlformats.org/drawingml/2006/main" noGrp="1"/>
          </p:cNvSpPr>
          <p:nvPr/>
        </p:nvSpPr>
        <p:spPr>
          <a:xfrm xmlns:a="http://schemas.openxmlformats.org/drawingml/2006/main">
            <a:off x="365760" y="1444752"/>
            <a:ext cx="749808" cy="749808"/>
          </a:xfrm>
          <a:prstGeom xmlns:a="http://schemas.openxmlformats.org/drawingml/2006/main" prst="ellipse">
            <a:avLst/>
          </a:prstGeom>
          <a:solidFill xmlns:a="http://schemas.openxmlformats.org/drawingml/2006/main">
            <a:srgbClr val="6B3A1F"/>
          </a:solidFill>
          <a:ln xmlns:a="http://schemas.openxmlformats.org/drawingml/2006/main" w="12700">
            <a:solidFill>
              <a:srgbClr val="6B3A1F"/>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5AED3603-B2C2-411F-BF28-1ABD3EB8DF95}"/>
              </a:ext>
            </a:extLst>
          </p:cNvPr>
          <p:cNvSpPr>
            <a:spLocks xmlns:a="http://schemas.openxmlformats.org/drawingml/2006/main" noGrp="1"/>
          </p:cNvSpPr>
          <p:nvPr/>
        </p:nvSpPr>
        <p:spPr>
          <a:xfrm xmlns:a="http://schemas.openxmlformats.org/drawingml/2006/main">
            <a:off x="365760"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JR</a:t>
            </a:r>
          </a:p>
        </p:txBody>
      </p:sp>
      <p:sp>
        <p:nvSpPr>
          <p:cNvPr id="11" name="Text 9">
            <a:extLst xmlns:a="http://schemas.openxmlformats.org/drawingml/2006/main">
              <a:ext uri="{FF2B5EF4-FFF2-40B4-BE49-F238E27FC236}">
                <a16:creationId xmlns:a16="http://schemas.microsoft.com/office/drawing/2014/main" id="{955C6830-B18E-4C7E-A89C-7667E5881EB5}"/>
              </a:ext>
            </a:extLst>
          </p:cNvPr>
          <p:cNvSpPr>
            <a:spLocks xmlns:a="http://schemas.openxmlformats.org/drawingml/2006/main" noGrp="1"/>
          </p:cNvSpPr>
          <p:nvPr/>
        </p:nvSpPr>
        <p:spPr>
          <a:xfrm xmlns:a="http://schemas.openxmlformats.org/drawingml/2006/main">
            <a:off x="2423160"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#05</a:t>
            </a:r>
          </a:p>
        </p:txBody>
      </p:sp>
      <p:sp>
        <p:nvSpPr>
          <p:cNvPr id="12" name="Text 10">
            <a:extLst xmlns:a="http://schemas.openxmlformats.org/drawingml/2006/main">
              <a:ext uri="{FF2B5EF4-FFF2-40B4-BE49-F238E27FC236}">
                <a16:creationId xmlns:a16="http://schemas.microsoft.com/office/drawing/2014/main" id="{232DD23F-C081-47EE-9665-06DFC59F6CFF}"/>
              </a:ext>
            </a:extLst>
          </p:cNvPr>
          <p:cNvSpPr>
            <a:spLocks xmlns:a="http://schemas.openxmlformats.org/drawingml/2006/main" noGrp="1"/>
          </p:cNvSpPr>
          <p:nvPr/>
        </p:nvSpPr>
        <p:spPr>
          <a:xfrm xmlns:a="http://schemas.openxmlformats.org/drawingml/2006/main">
            <a:off x="1216152"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Javier Rodriguez</a:t>
            </a:r>
          </a:p>
        </p:txBody>
      </p:sp>
      <p:sp>
        <p:nvSpPr>
          <p:cNvPr id="13" name="Text 11">
            <a:extLst xmlns:a="http://schemas.openxmlformats.org/drawingml/2006/main">
              <a:ext uri="{FF2B5EF4-FFF2-40B4-BE49-F238E27FC236}">
                <a16:creationId xmlns:a16="http://schemas.microsoft.com/office/drawing/2014/main" id="{283E3724-33AB-42BA-B9DE-622D7E2F5B2A}"/>
              </a:ext>
            </a:extLst>
          </p:cNvPr>
          <p:cNvSpPr>
            <a:spLocks xmlns:a="http://schemas.openxmlformats.org/drawingml/2006/main" noGrp="1"/>
          </p:cNvSpPr>
          <p:nvPr/>
        </p:nvSpPr>
        <p:spPr>
          <a:xfrm xmlns:a="http://schemas.openxmlformats.org/drawingml/2006/main">
            <a:off x="1216152"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55  ·  Business Owner</a:t>
            </a:r>
          </a:p>
        </p:txBody>
      </p:sp>
      <p:sp>
        <p:nvSpPr>
          <p:cNvPr id="14" name="Shape 12">
            <a:extLst xmlns:a="http://schemas.openxmlformats.org/drawingml/2006/main">
              <a:ext uri="{FF2B5EF4-FFF2-40B4-BE49-F238E27FC236}">
                <a16:creationId xmlns:a16="http://schemas.microsoft.com/office/drawing/2014/main" id="{5895F9BB-6E76-43A0-9E4A-3E0CC7D19175}"/>
              </a:ext>
            </a:extLst>
          </p:cNvPr>
          <p:cNvSpPr>
            <a:spLocks xmlns:a="http://schemas.openxmlformats.org/drawingml/2006/main" noGrp="1"/>
          </p:cNvSpPr>
          <p:nvPr/>
        </p:nvSpPr>
        <p:spPr>
          <a:xfrm xmlns:a="http://schemas.openxmlformats.org/drawingml/2006/main">
            <a:off x="365760" y="2322576"/>
            <a:ext cx="1325880" cy="237744"/>
          </a:xfrm>
          <a:prstGeom xmlns:a="http://schemas.openxmlformats.org/drawingml/2006/main" prst="rect">
            <a:avLst/>
          </a:prstGeom>
          <a:solidFill xmlns:a="http://schemas.openxmlformats.org/drawingml/2006/main">
            <a:srgbClr val="E8F0FF"/>
          </a:solidFill>
          <a:ln xmlns:a="http://schemas.openxmlformats.org/drawingml/2006/main" w="12700">
            <a:solidFill>
              <a:srgbClr val="E8F0FF"/>
            </a:solidFill>
            <a:prstDash val="solid"/>
          </a:ln>
        </p:spPr>
        <p:txBody>
          <a:bodyPr xmlns:a="http://schemas.openxmlformats.org/drawingml/2006/main"/>
          <a:lstStyle xmlns:a="http://schemas.openxmlformats.org/drawingml/2006/main"/>
          <a:p xmlns:a="http://schemas.openxmlformats.org/drawingml/2006/main"/>
        </p:txBody>
      </p:sp>
      <p:sp>
        <p:nvSpPr>
          <p:cNvPr id="15" name="Shape 13">
            <a:extLst xmlns:a="http://schemas.openxmlformats.org/drawingml/2006/main">
              <a:ext uri="{FF2B5EF4-FFF2-40B4-BE49-F238E27FC236}">
                <a16:creationId xmlns:a16="http://schemas.microsoft.com/office/drawing/2014/main" id="{4955A5C8-FC0A-4BB9-8EC0-56C08CCED1B1}"/>
              </a:ext>
            </a:extLst>
          </p:cNvPr>
          <p:cNvSpPr>
            <a:spLocks xmlns:a="http://schemas.openxmlformats.org/drawingml/2006/main" noGrp="1"/>
          </p:cNvSpPr>
          <p:nvPr/>
        </p:nvSpPr>
        <p:spPr>
          <a:xfrm xmlns:a="http://schemas.openxmlformats.org/drawingml/2006/main">
            <a:off x="429768" y="2382012"/>
            <a:ext cx="91440" cy="91440"/>
          </a:xfrm>
          <a:prstGeom xmlns:a="http://schemas.openxmlformats.org/drawingml/2006/main" prst="ellipse">
            <a:avLst/>
          </a:prstGeom>
          <a:solidFill xmlns:a="http://schemas.openxmlformats.org/drawingml/2006/main">
            <a:srgbClr val="3A6EA5"/>
          </a:solidFill>
          <a:ln xmlns:a="http://schemas.openxmlformats.org/drawingml/2006/main" w="12700">
            <a:solidFill>
              <a:srgbClr val="3A6EA5"/>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5600485E-030D-4FAF-9FC8-0705560B93D3}"/>
              </a:ext>
            </a:extLst>
          </p:cNvPr>
          <p:cNvSpPr>
            <a:spLocks xmlns:a="http://schemas.openxmlformats.org/drawingml/2006/main" noGrp="1"/>
          </p:cNvSpPr>
          <p:nvPr/>
        </p:nvSpPr>
        <p:spPr>
          <a:xfrm xmlns:a="http://schemas.openxmlformats.org/drawingml/2006/main">
            <a:off x="557784"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3A6EA5"/>
                </a:solidFill>
                <a:latin typeface="Calibri"/>
                <a:ea typeface="Calibri"/>
                <a:cs typeface="Calibri"/>
              </a:rPr>
              <a:t>RISK NEUTRAL</a:t>
            </a:r>
          </a:p>
        </p:txBody>
      </p:sp>
      <p:sp>
        <p:nvSpPr>
          <p:cNvPr id="17" name="Shape 15">
            <a:extLst xmlns:a="http://schemas.openxmlformats.org/drawingml/2006/main">
              <a:ext uri="{FF2B5EF4-FFF2-40B4-BE49-F238E27FC236}">
                <a16:creationId xmlns:a16="http://schemas.microsoft.com/office/drawing/2014/main" id="{BDC8FEED-61A3-42A4-8F14-4913A3852CC0}"/>
              </a:ext>
            </a:extLst>
          </p:cNvPr>
          <p:cNvSpPr>
            <a:spLocks xmlns:a="http://schemas.openxmlformats.org/drawingml/2006/main" noGrp="1"/>
          </p:cNvSpPr>
          <p:nvPr/>
        </p:nvSpPr>
        <p:spPr>
          <a:xfrm xmlns:a="http://schemas.openxmlformats.org/drawingml/2006/main">
            <a:off x="365760"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E48CD4E2-FF23-435E-9DF8-6F63E5B8893E}"/>
              </a:ext>
            </a:extLst>
          </p:cNvPr>
          <p:cNvSpPr>
            <a:spLocks xmlns:a="http://schemas.openxmlformats.org/drawingml/2006/main" noGrp="1"/>
          </p:cNvSpPr>
          <p:nvPr/>
        </p:nvSpPr>
        <p:spPr>
          <a:xfrm xmlns:a="http://schemas.openxmlformats.org/drawingml/2006/main">
            <a:off x="36576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19" name="Text 17">
            <a:extLst xmlns:a="http://schemas.openxmlformats.org/drawingml/2006/main">
              <a:ext uri="{FF2B5EF4-FFF2-40B4-BE49-F238E27FC236}">
                <a16:creationId xmlns:a16="http://schemas.microsoft.com/office/drawing/2014/main" id="{917947F7-02BB-460E-9B03-1F24B217B7A3}"/>
              </a:ext>
            </a:extLst>
          </p:cNvPr>
          <p:cNvSpPr>
            <a:spLocks xmlns:a="http://schemas.openxmlformats.org/drawingml/2006/main" noGrp="1"/>
          </p:cNvSpPr>
          <p:nvPr/>
        </p:nvSpPr>
        <p:spPr>
          <a:xfrm xmlns:a="http://schemas.openxmlformats.org/drawingml/2006/main">
            <a:off x="36576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$200,000</a:t>
            </a:r>
          </a:p>
        </p:txBody>
      </p:sp>
      <p:sp>
        <p:nvSpPr>
          <p:cNvPr id="20" name="Text 18">
            <a:extLst xmlns:a="http://schemas.openxmlformats.org/drawingml/2006/main">
              <a:ext uri="{FF2B5EF4-FFF2-40B4-BE49-F238E27FC236}">
                <a16:creationId xmlns:a16="http://schemas.microsoft.com/office/drawing/2014/main" id="{75618830-6A94-43EC-9B80-83003F9F6874}"/>
              </a:ext>
            </a:extLst>
          </p:cNvPr>
          <p:cNvSpPr>
            <a:spLocks xmlns:a="http://schemas.openxmlformats.org/drawingml/2006/main" noGrp="1"/>
          </p:cNvSpPr>
          <p:nvPr/>
        </p:nvSpPr>
        <p:spPr>
          <a:xfrm xmlns:a="http://schemas.openxmlformats.org/drawingml/2006/main">
            <a:off x="210312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21" name="Text 19">
            <a:extLst xmlns:a="http://schemas.openxmlformats.org/drawingml/2006/main">
              <a:ext uri="{FF2B5EF4-FFF2-40B4-BE49-F238E27FC236}">
                <a16:creationId xmlns:a16="http://schemas.microsoft.com/office/drawing/2014/main" id="{A1099683-AFB1-4BC1-9E17-E5528B305D7F}"/>
              </a:ext>
            </a:extLst>
          </p:cNvPr>
          <p:cNvSpPr>
            <a:spLocks xmlns:a="http://schemas.openxmlformats.org/drawingml/2006/main" noGrp="1"/>
          </p:cNvSpPr>
          <p:nvPr/>
        </p:nvSpPr>
        <p:spPr>
          <a:xfrm xmlns:a="http://schemas.openxmlformats.org/drawingml/2006/main">
            <a:off x="210312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$3.0M</a:t>
            </a:r>
          </a:p>
        </p:txBody>
      </p:sp>
      <p:sp>
        <p:nvSpPr>
          <p:cNvPr id="22" name="Shape 20">
            <a:extLst xmlns:a="http://schemas.openxmlformats.org/drawingml/2006/main">
              <a:ext uri="{FF2B5EF4-FFF2-40B4-BE49-F238E27FC236}">
                <a16:creationId xmlns:a16="http://schemas.microsoft.com/office/drawing/2014/main" id="{373F1CE4-42EB-4D4A-94E1-C6F9DDB77ECC}"/>
              </a:ext>
            </a:extLst>
          </p:cNvPr>
          <p:cNvSpPr>
            <a:spLocks xmlns:a="http://schemas.openxmlformats.org/drawingml/2006/main" noGrp="1"/>
          </p:cNvSpPr>
          <p:nvPr/>
        </p:nvSpPr>
        <p:spPr>
          <a:xfrm xmlns:a="http://schemas.openxmlformats.org/drawingml/2006/main">
            <a:off x="365760" y="3456432"/>
            <a:ext cx="3291840" cy="804672"/>
          </a:xfrm>
          <a:prstGeom xmlns:a="http://schemas.openxmlformats.org/drawingml/2006/main" prst="rect">
            <a:avLst/>
          </a:prstGeom>
          <a:solidFill xmlns:a="http://schemas.openxmlformats.org/drawingml/2006/main">
            <a:srgbClr val="F0E0D0"/>
          </a:solidFill>
          <a:ln xmlns:a="http://schemas.openxmlformats.org/drawingml/2006/main" w="12700">
            <a:solidFill>
              <a:srgbClr val="F0E0D0"/>
            </a:solidFill>
            <a:prstDash val="solid"/>
          </a:ln>
        </p:spPr>
        <p:txBody>
          <a:bodyPr xmlns:a="http://schemas.openxmlformats.org/drawingml/2006/main"/>
          <a:lstStyle xmlns:a="http://schemas.openxmlformats.org/drawingml/2006/main"/>
          <a:p xmlns:a="http://schemas.openxmlformats.org/drawingml/2006/main"/>
        </p:txBody>
      </p:sp>
      <p:sp>
        <p:nvSpPr>
          <p:cNvPr id="23" name="Shape 21">
            <a:extLst xmlns:a="http://schemas.openxmlformats.org/drawingml/2006/main">
              <a:ext uri="{FF2B5EF4-FFF2-40B4-BE49-F238E27FC236}">
                <a16:creationId xmlns:a16="http://schemas.microsoft.com/office/drawing/2014/main" id="{3E446F49-69EC-4C32-90AB-8BCDC316EB8F}"/>
              </a:ext>
            </a:extLst>
          </p:cNvPr>
          <p:cNvSpPr>
            <a:spLocks xmlns:a="http://schemas.openxmlformats.org/drawingml/2006/main" noGrp="1"/>
          </p:cNvSpPr>
          <p:nvPr/>
        </p:nvSpPr>
        <p:spPr>
          <a:xfrm xmlns:a="http://schemas.openxmlformats.org/drawingml/2006/main">
            <a:off x="365760" y="3456432"/>
            <a:ext cx="54864" cy="804672"/>
          </a:xfrm>
          <a:prstGeom xmlns:a="http://schemas.openxmlformats.org/drawingml/2006/main" prst="rect">
            <a:avLst/>
          </a:prstGeom>
          <a:solidFill xmlns:a="http://schemas.openxmlformats.org/drawingml/2006/main">
            <a:srgbClr val="6B3A1F"/>
          </a:solidFill>
          <a:ln xmlns:a="http://schemas.openxmlformats.org/drawingml/2006/main" w="12700">
            <a:solidFill>
              <a:srgbClr val="6B3A1F"/>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6EFAC16C-85F3-48CC-B8D3-24DEC853634C}"/>
              </a:ext>
            </a:extLst>
          </p:cNvPr>
          <p:cNvSpPr>
            <a:spLocks xmlns:a="http://schemas.openxmlformats.org/drawingml/2006/main" noGrp="1"/>
          </p:cNvSpPr>
          <p:nvPr/>
        </p:nvSpPr>
        <p:spPr>
          <a:xfrm xmlns:a="http://schemas.openxmlformats.org/drawingml/2006/main">
            <a:off x="484632"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6B3A1F"/>
                </a:solidFill>
                <a:latin typeface="Calibri"/>
                <a:ea typeface="Calibri"/>
                <a:cs typeface="Calibri"/>
              </a:rPr>
              <a:t>PRIMARY GOAL</a:t>
            </a:r>
          </a:p>
        </p:txBody>
      </p:sp>
      <p:sp>
        <p:nvSpPr>
          <p:cNvPr id="25" name="Text 23">
            <a:extLst xmlns:a="http://schemas.openxmlformats.org/drawingml/2006/main">
              <a:ext uri="{FF2B5EF4-FFF2-40B4-BE49-F238E27FC236}">
                <a16:creationId xmlns:a16="http://schemas.microsoft.com/office/drawing/2014/main" id="{3917B574-02E2-4DBB-B142-D4AC595E549B}"/>
              </a:ext>
            </a:extLst>
          </p:cNvPr>
          <p:cNvSpPr>
            <a:spLocks xmlns:a="http://schemas.openxmlformats.org/drawingml/2006/main" noGrp="1"/>
          </p:cNvSpPr>
          <p:nvPr/>
        </p:nvSpPr>
        <p:spPr>
          <a:xfrm xmlns:a="http://schemas.openxmlformats.org/drawingml/2006/main">
            <a:off x="484632"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Diversification / Business Exit</a:t>
            </a:r>
          </a:p>
        </p:txBody>
      </p:sp>
      <p:sp>
        <p:nvSpPr>
          <p:cNvPr id="26" name="Shape 24">
            <a:extLst xmlns:a="http://schemas.openxmlformats.org/drawingml/2006/main">
              <a:ext uri="{FF2B5EF4-FFF2-40B4-BE49-F238E27FC236}">
                <a16:creationId xmlns:a16="http://schemas.microsoft.com/office/drawing/2014/main" id="{E8964BD7-D015-4C9B-B51D-EBFFD60508DF}"/>
              </a:ext>
            </a:extLst>
          </p:cNvPr>
          <p:cNvSpPr>
            <a:spLocks xmlns:a="http://schemas.openxmlformats.org/drawingml/2006/main" noGrp="1"/>
          </p:cNvSpPr>
          <p:nvPr/>
        </p:nvSpPr>
        <p:spPr>
          <a:xfrm xmlns:a="http://schemas.openxmlformats.org/drawingml/2006/main">
            <a:off x="365760"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EF426927-1D45-45A5-AF39-794866E06589}"/>
              </a:ext>
            </a:extLst>
          </p:cNvPr>
          <p:cNvSpPr>
            <a:spLocks xmlns:a="http://schemas.openxmlformats.org/drawingml/2006/main" noGrp="1"/>
          </p:cNvSpPr>
          <p:nvPr/>
        </p:nvSpPr>
        <p:spPr>
          <a:xfrm xmlns:a="http://schemas.openxmlformats.org/drawingml/2006/main">
            <a:off x="484632"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28" name="Text 26">
            <a:extLst xmlns:a="http://schemas.openxmlformats.org/drawingml/2006/main">
              <a:ext uri="{FF2B5EF4-FFF2-40B4-BE49-F238E27FC236}">
                <a16:creationId xmlns:a16="http://schemas.microsoft.com/office/drawing/2014/main" id="{404D1C8D-373A-4C41-B418-C5BFCD05941B}"/>
              </a:ext>
            </a:extLst>
          </p:cNvPr>
          <p:cNvSpPr>
            <a:spLocks xmlns:a="http://schemas.openxmlformats.org/drawingml/2006/main" noGrp="1"/>
          </p:cNvSpPr>
          <p:nvPr/>
        </p:nvSpPr>
        <p:spPr>
          <a:xfrm xmlns:a="http://schemas.openxmlformats.org/drawingml/2006/main">
            <a:off x="484632"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Illiquid business assets; Tax-sensitive</a:t>
            </a:r>
          </a:p>
        </p:txBody>
      </p:sp>
      <p:sp>
        <p:nvSpPr>
          <p:cNvPr id="29" name="Shape 27">
            <a:extLst xmlns:a="http://schemas.openxmlformats.org/drawingml/2006/main">
              <a:ext uri="{FF2B5EF4-FFF2-40B4-BE49-F238E27FC236}">
                <a16:creationId xmlns:a16="http://schemas.microsoft.com/office/drawing/2014/main" id="{6862F4D0-41B3-41FC-AB0E-57802DBD8F9A}"/>
              </a:ext>
            </a:extLst>
          </p:cNvPr>
          <p:cNvSpPr>
            <a:spLocks xmlns:a="http://schemas.openxmlformats.org/drawingml/2006/main" noGrp="1"/>
          </p:cNvSpPr>
          <p:nvPr/>
        </p:nvSpPr>
        <p:spPr>
          <a:xfrm xmlns:a="http://schemas.openxmlformats.org/drawingml/2006/main">
            <a:off x="365760" y="5230368"/>
            <a:ext cx="1097280" cy="877824"/>
          </a:xfrm>
          <a:prstGeom xmlns:a="http://schemas.openxmlformats.org/drawingml/2006/main" prst="rect">
            <a:avLst/>
          </a:prstGeom>
          <a:solidFill xmlns:a="http://schemas.openxmlformats.org/drawingml/2006/main">
            <a:srgbClr val="6B3A1F"/>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C6FE35B9-3537-4A4F-A1A3-488392E05BCE}"/>
              </a:ext>
            </a:extLst>
          </p:cNvPr>
          <p:cNvSpPr>
            <a:spLocks xmlns:a="http://schemas.openxmlformats.org/drawingml/2006/main" noGrp="1"/>
          </p:cNvSpPr>
          <p:nvPr/>
        </p:nvSpPr>
        <p:spPr>
          <a:xfrm xmlns:a="http://schemas.openxmlformats.org/drawingml/2006/main">
            <a:off x="38404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31" name="Text 29">
            <a:extLst xmlns:a="http://schemas.openxmlformats.org/drawingml/2006/main">
              <a:ext uri="{FF2B5EF4-FFF2-40B4-BE49-F238E27FC236}">
                <a16:creationId xmlns:a16="http://schemas.microsoft.com/office/drawing/2014/main" id="{A9A7BD24-C8C5-4E0C-BE02-157C84035ECC}"/>
              </a:ext>
            </a:extLst>
          </p:cNvPr>
          <p:cNvSpPr>
            <a:spLocks xmlns:a="http://schemas.openxmlformats.org/drawingml/2006/main" noGrp="1"/>
          </p:cNvSpPr>
          <p:nvPr/>
        </p:nvSpPr>
        <p:spPr>
          <a:xfrm xmlns:a="http://schemas.openxmlformats.org/drawingml/2006/main">
            <a:off x="41148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7.5%</a:t>
            </a:r>
          </a:p>
        </p:txBody>
      </p:sp>
      <p:sp>
        <p:nvSpPr>
          <p:cNvPr id="32" name="Shape 30">
            <a:extLst xmlns:a="http://schemas.openxmlformats.org/drawingml/2006/main">
              <a:ext uri="{FF2B5EF4-FFF2-40B4-BE49-F238E27FC236}">
                <a16:creationId xmlns:a16="http://schemas.microsoft.com/office/drawing/2014/main" id="{F5AD5CA1-F447-4D46-969F-ABC19F23F41C}"/>
              </a:ext>
            </a:extLst>
          </p:cNvPr>
          <p:cNvSpPr>
            <a:spLocks xmlns:a="http://schemas.openxmlformats.org/drawingml/2006/main" noGrp="1"/>
          </p:cNvSpPr>
          <p:nvPr/>
        </p:nvSpPr>
        <p:spPr>
          <a:xfrm xmlns:a="http://schemas.openxmlformats.org/drawingml/2006/main">
            <a:off x="1463040"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8DED9E9F-387D-4E0C-9B8E-0FF9F0F1D800}"/>
              </a:ext>
            </a:extLst>
          </p:cNvPr>
          <p:cNvSpPr>
            <a:spLocks xmlns:a="http://schemas.openxmlformats.org/drawingml/2006/main" noGrp="1"/>
          </p:cNvSpPr>
          <p:nvPr/>
        </p:nvSpPr>
        <p:spPr>
          <a:xfrm xmlns:a="http://schemas.openxmlformats.org/drawingml/2006/main">
            <a:off x="148132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34" name="Text 32">
            <a:extLst xmlns:a="http://schemas.openxmlformats.org/drawingml/2006/main">
              <a:ext uri="{FF2B5EF4-FFF2-40B4-BE49-F238E27FC236}">
                <a16:creationId xmlns:a16="http://schemas.microsoft.com/office/drawing/2014/main" id="{26006FEC-5D2F-4805-8310-123F7F4AC05C}"/>
              </a:ext>
            </a:extLst>
          </p:cNvPr>
          <p:cNvSpPr>
            <a:spLocks xmlns:a="http://schemas.openxmlformats.org/drawingml/2006/main" noGrp="1"/>
          </p:cNvSpPr>
          <p:nvPr/>
        </p:nvSpPr>
        <p:spPr>
          <a:xfrm xmlns:a="http://schemas.openxmlformats.org/drawingml/2006/main">
            <a:off x="150876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14.0%</a:t>
            </a:r>
          </a:p>
        </p:txBody>
      </p:sp>
      <p:sp>
        <p:nvSpPr>
          <p:cNvPr id="35" name="Shape 33">
            <a:extLst xmlns:a="http://schemas.openxmlformats.org/drawingml/2006/main">
              <a:ext uri="{FF2B5EF4-FFF2-40B4-BE49-F238E27FC236}">
                <a16:creationId xmlns:a16="http://schemas.microsoft.com/office/drawing/2014/main" id="{86FB12AC-9538-45EA-B24C-9069DD19822E}"/>
              </a:ext>
            </a:extLst>
          </p:cNvPr>
          <p:cNvSpPr>
            <a:spLocks xmlns:a="http://schemas.openxmlformats.org/drawingml/2006/main" noGrp="1"/>
          </p:cNvSpPr>
          <p:nvPr/>
        </p:nvSpPr>
        <p:spPr>
          <a:xfrm xmlns:a="http://schemas.openxmlformats.org/drawingml/2006/main">
            <a:off x="2560320"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4CF10D43-0202-4A51-826D-639B883F87E7}"/>
              </a:ext>
            </a:extLst>
          </p:cNvPr>
          <p:cNvSpPr>
            <a:spLocks xmlns:a="http://schemas.openxmlformats.org/drawingml/2006/main" noGrp="1"/>
          </p:cNvSpPr>
          <p:nvPr/>
        </p:nvSpPr>
        <p:spPr>
          <a:xfrm xmlns:a="http://schemas.openxmlformats.org/drawingml/2006/main">
            <a:off x="257860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37" name="Text 35">
            <a:extLst xmlns:a="http://schemas.openxmlformats.org/drawingml/2006/main">
              <a:ext uri="{FF2B5EF4-FFF2-40B4-BE49-F238E27FC236}">
                <a16:creationId xmlns:a16="http://schemas.microsoft.com/office/drawing/2014/main" id="{FBCB6CFA-A109-423F-9498-31E8BC02CF05}"/>
              </a:ext>
            </a:extLst>
          </p:cNvPr>
          <p:cNvSpPr>
            <a:spLocks xmlns:a="http://schemas.openxmlformats.org/drawingml/2006/main" noGrp="1"/>
          </p:cNvSpPr>
          <p:nvPr/>
        </p:nvSpPr>
        <p:spPr>
          <a:xfrm xmlns:a="http://schemas.openxmlformats.org/drawingml/2006/main">
            <a:off x="260604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4.5</a:t>
            </a:r>
          </a:p>
        </p:txBody>
      </p:sp>
      <p:sp>
        <p:nvSpPr>
          <p:cNvPr id="38" name="Shape 36">
            <a:extLst xmlns:a="http://schemas.openxmlformats.org/drawingml/2006/main">
              <a:ext uri="{FF2B5EF4-FFF2-40B4-BE49-F238E27FC236}">
                <a16:creationId xmlns:a16="http://schemas.microsoft.com/office/drawing/2014/main" id="{487DB41B-14D9-43F4-80B6-40DB8624FBBB}"/>
              </a:ext>
            </a:extLst>
          </p:cNvPr>
          <p:cNvSpPr>
            <a:spLocks xmlns:a="http://schemas.openxmlformats.org/drawingml/2006/main" noGrp="1"/>
          </p:cNvSpPr>
          <p:nvPr/>
        </p:nvSpPr>
        <p:spPr>
          <a:xfrm xmlns:a="http://schemas.openxmlformats.org/drawingml/2006/main">
            <a:off x="4041648"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39" name="Shape 37">
            <a:extLst xmlns:a="http://schemas.openxmlformats.org/drawingml/2006/main">
              <a:ext uri="{FF2B5EF4-FFF2-40B4-BE49-F238E27FC236}">
                <a16:creationId xmlns:a16="http://schemas.microsoft.com/office/drawing/2014/main" id="{65562D8C-E7FB-4B0B-A250-8A32339329F9}"/>
              </a:ext>
            </a:extLst>
          </p:cNvPr>
          <p:cNvSpPr>
            <a:spLocks xmlns:a="http://schemas.openxmlformats.org/drawingml/2006/main" noGrp="1"/>
          </p:cNvSpPr>
          <p:nvPr/>
        </p:nvSpPr>
        <p:spPr>
          <a:xfrm xmlns:a="http://schemas.openxmlformats.org/drawingml/2006/main">
            <a:off x="4041648" y="1188720"/>
            <a:ext cx="3749040" cy="109728"/>
          </a:xfrm>
          <a:prstGeom xmlns:a="http://schemas.openxmlformats.org/drawingml/2006/main" prst="rect">
            <a:avLst/>
          </a:prstGeom>
          <a:solidFill xmlns:a="http://schemas.openxmlformats.org/drawingml/2006/main">
            <a:srgbClr val="6B3A1F"/>
          </a:solidFill>
          <a:ln xmlns:a="http://schemas.openxmlformats.org/drawingml/2006/main" w="12700">
            <a:solidFill>
              <a:srgbClr val="6B3A1F"/>
            </a:solidFill>
            <a:prstDash val="solid"/>
          </a:ln>
        </p:spPr>
        <p:txBody>
          <a:bodyPr xmlns:a="http://schemas.openxmlformats.org/drawingml/2006/main"/>
          <a:lstStyle xmlns:a="http://schemas.openxmlformats.org/drawingml/2006/main"/>
          <a:p xmlns:a="http://schemas.openxmlformats.org/drawingml/2006/main"/>
        </p:txBody>
      </p:sp>
      <p:sp>
        <p:nvSpPr>
          <p:cNvPr id="40" name="Shape 38">
            <a:extLst xmlns:a="http://schemas.openxmlformats.org/drawingml/2006/main">
              <a:ext uri="{FF2B5EF4-FFF2-40B4-BE49-F238E27FC236}">
                <a16:creationId xmlns:a16="http://schemas.microsoft.com/office/drawing/2014/main" id="{89DF0D32-263B-45B1-802B-A9A453E62D16}"/>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ellipse">
            <a:avLst/>
          </a:prstGeom>
          <a:solidFill xmlns:a="http://schemas.openxmlformats.org/drawingml/2006/main">
            <a:srgbClr val="6B3A1F"/>
          </a:solidFill>
          <a:ln xmlns:a="http://schemas.openxmlformats.org/drawingml/2006/main" w="12700">
            <a:solidFill>
              <a:srgbClr val="6B3A1F"/>
            </a:solidFill>
            <a:prstDash val="solid"/>
          </a:ln>
        </p:spPr>
        <p:txBody>
          <a:bodyPr xmlns:a="http://schemas.openxmlformats.org/drawingml/2006/main"/>
          <a:lstStyle xmlns:a="http://schemas.openxmlformats.org/drawingml/2006/main"/>
          <a:p xmlns:a="http://schemas.openxmlformats.org/drawingml/2006/main"/>
        </p:txBody>
      </p:sp>
      <p:sp>
        <p:nvSpPr>
          <p:cNvPr id="41" name="Text 39">
            <a:extLst xmlns:a="http://schemas.openxmlformats.org/drawingml/2006/main">
              <a:ext uri="{FF2B5EF4-FFF2-40B4-BE49-F238E27FC236}">
                <a16:creationId xmlns:a16="http://schemas.microsoft.com/office/drawing/2014/main" id="{6F492E2D-15F6-4687-91FC-CC1A3BD1180E}"/>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LS</a:t>
            </a:r>
          </a:p>
        </p:txBody>
      </p:sp>
      <p:sp>
        <p:nvSpPr>
          <p:cNvPr id="42" name="Text 40">
            <a:extLst xmlns:a="http://schemas.openxmlformats.org/drawingml/2006/main">
              <a:ext uri="{FF2B5EF4-FFF2-40B4-BE49-F238E27FC236}">
                <a16:creationId xmlns:a16="http://schemas.microsoft.com/office/drawing/2014/main" id="{942163C5-1D16-478B-83F2-695DCA811BB9}"/>
              </a:ext>
            </a:extLst>
          </p:cNvPr>
          <p:cNvSpPr>
            <a:spLocks xmlns:a="http://schemas.openxmlformats.org/drawingml/2006/main" noGrp="1"/>
          </p:cNvSpPr>
          <p:nvPr/>
        </p:nvSpPr>
        <p:spPr>
          <a:xfrm xmlns:a="http://schemas.openxmlformats.org/drawingml/2006/main">
            <a:off x="6327648"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#07</a:t>
            </a:r>
          </a:p>
        </p:txBody>
      </p:sp>
      <p:sp>
        <p:nvSpPr>
          <p:cNvPr id="43" name="Text 41">
            <a:extLst xmlns:a="http://schemas.openxmlformats.org/drawingml/2006/main">
              <a:ext uri="{FF2B5EF4-FFF2-40B4-BE49-F238E27FC236}">
                <a16:creationId xmlns:a16="http://schemas.microsoft.com/office/drawing/2014/main" id="{B358675E-08A7-444E-9160-A4A41035B4AA}"/>
              </a:ext>
            </a:extLst>
          </p:cNvPr>
          <p:cNvSpPr>
            <a:spLocks xmlns:a="http://schemas.openxmlformats.org/drawingml/2006/main" noGrp="1"/>
          </p:cNvSpPr>
          <p:nvPr/>
        </p:nvSpPr>
        <p:spPr>
          <a:xfrm xmlns:a="http://schemas.openxmlformats.org/drawingml/2006/main">
            <a:off x="5120640"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Linda Sterling</a:t>
            </a:r>
          </a:p>
        </p:txBody>
      </p:sp>
      <p:sp>
        <p:nvSpPr>
          <p:cNvPr id="44" name="Text 42">
            <a:extLst xmlns:a="http://schemas.openxmlformats.org/drawingml/2006/main">
              <a:ext uri="{FF2B5EF4-FFF2-40B4-BE49-F238E27FC236}">
                <a16:creationId xmlns:a16="http://schemas.microsoft.com/office/drawing/2014/main" id="{972F91AF-1285-443F-86A0-ED2E72648133}"/>
              </a:ext>
            </a:extLst>
          </p:cNvPr>
          <p:cNvSpPr>
            <a:spLocks xmlns:a="http://schemas.openxmlformats.org/drawingml/2006/main" noGrp="1"/>
          </p:cNvSpPr>
          <p:nvPr/>
        </p:nvSpPr>
        <p:spPr>
          <a:xfrm xmlns:a="http://schemas.openxmlformats.org/drawingml/2006/main">
            <a:off x="5120640"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51  ·  Marketing Director</a:t>
            </a:r>
          </a:p>
        </p:txBody>
      </p:sp>
      <p:sp>
        <p:nvSpPr>
          <p:cNvPr id="45" name="Shape 43">
            <a:extLst xmlns:a="http://schemas.openxmlformats.org/drawingml/2006/main">
              <a:ext uri="{FF2B5EF4-FFF2-40B4-BE49-F238E27FC236}">
                <a16:creationId xmlns:a16="http://schemas.microsoft.com/office/drawing/2014/main" id="{CA6D807B-9CCF-4800-94FE-91736B5AFB95}"/>
              </a:ext>
            </a:extLst>
          </p:cNvPr>
          <p:cNvSpPr>
            <a:spLocks xmlns:a="http://schemas.openxmlformats.org/drawingml/2006/main" noGrp="1"/>
          </p:cNvSpPr>
          <p:nvPr/>
        </p:nvSpPr>
        <p:spPr>
          <a:xfrm xmlns:a="http://schemas.openxmlformats.org/drawingml/2006/main">
            <a:off x="4270248" y="2322576"/>
            <a:ext cx="1325880" cy="237744"/>
          </a:xfrm>
          <a:prstGeom xmlns:a="http://schemas.openxmlformats.org/drawingml/2006/main" prst="rect">
            <a:avLst/>
          </a:prstGeom>
          <a:solidFill xmlns:a="http://schemas.openxmlformats.org/drawingml/2006/main">
            <a:srgbClr val="FFF0E8"/>
          </a:solidFill>
          <a:ln xmlns:a="http://schemas.openxmlformats.org/drawingml/2006/main" w="12700">
            <a:solidFill>
              <a:srgbClr val="FFF0E8"/>
            </a:solidFill>
            <a:prstDash val="solid"/>
          </a:ln>
        </p:spPr>
        <p:txBody>
          <a:bodyPr xmlns:a="http://schemas.openxmlformats.org/drawingml/2006/main"/>
          <a:lstStyle xmlns:a="http://schemas.openxmlformats.org/drawingml/2006/main"/>
          <a:p xmlns:a="http://schemas.openxmlformats.org/drawingml/2006/main"/>
        </p:txBody>
      </p:sp>
      <p:sp>
        <p:nvSpPr>
          <p:cNvPr id="46" name="Shape 44">
            <a:extLst xmlns:a="http://schemas.openxmlformats.org/drawingml/2006/main">
              <a:ext uri="{FF2B5EF4-FFF2-40B4-BE49-F238E27FC236}">
                <a16:creationId xmlns:a16="http://schemas.microsoft.com/office/drawing/2014/main" id="{851E3D36-F619-416A-BE76-E50AC73AC5B6}"/>
              </a:ext>
            </a:extLst>
          </p:cNvPr>
          <p:cNvSpPr>
            <a:spLocks xmlns:a="http://schemas.openxmlformats.org/drawingml/2006/main" noGrp="1"/>
          </p:cNvSpPr>
          <p:nvPr/>
        </p:nvSpPr>
        <p:spPr>
          <a:xfrm xmlns:a="http://schemas.openxmlformats.org/drawingml/2006/main">
            <a:off x="4334256" y="2382012"/>
            <a:ext cx="91440" cy="91440"/>
          </a:xfrm>
          <a:prstGeom xmlns:a="http://schemas.openxmlformats.org/drawingml/2006/main" prst="ellipse">
            <a:avLst/>
          </a:prstGeom>
          <a:solidFill xmlns:a="http://schemas.openxmlformats.org/drawingml/2006/main">
            <a:srgbClr val="C05B30"/>
          </a:solidFill>
          <a:ln xmlns:a="http://schemas.openxmlformats.org/drawingml/2006/main" w="12700">
            <a:solidFill>
              <a:srgbClr val="C05B30"/>
            </a:solidFill>
            <a:prstDash val="solid"/>
          </a:ln>
        </p:spPr>
        <p:txBody>
          <a:bodyPr xmlns:a="http://schemas.openxmlformats.org/drawingml/2006/main"/>
          <a:lstStyle xmlns:a="http://schemas.openxmlformats.org/drawingml/2006/main"/>
          <a:p xmlns:a="http://schemas.openxmlformats.org/drawingml/2006/main"/>
        </p:txBody>
      </p:sp>
      <p:sp>
        <p:nvSpPr>
          <p:cNvPr id="47" name="Text 45">
            <a:extLst xmlns:a="http://schemas.openxmlformats.org/drawingml/2006/main">
              <a:ext uri="{FF2B5EF4-FFF2-40B4-BE49-F238E27FC236}">
                <a16:creationId xmlns:a16="http://schemas.microsoft.com/office/drawing/2014/main" id="{B118B5AD-13AF-49E7-8B68-14F966EEB27C}"/>
              </a:ext>
            </a:extLst>
          </p:cNvPr>
          <p:cNvSpPr>
            <a:spLocks xmlns:a="http://schemas.openxmlformats.org/drawingml/2006/main" noGrp="1"/>
          </p:cNvSpPr>
          <p:nvPr/>
        </p:nvSpPr>
        <p:spPr>
          <a:xfrm xmlns:a="http://schemas.openxmlformats.org/drawingml/2006/main">
            <a:off x="4462272"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C05B30"/>
                </a:solidFill>
                <a:latin typeface="Calibri"/>
                <a:ea typeface="Calibri"/>
                <a:cs typeface="Calibri"/>
              </a:rPr>
              <a:t>RISK AVERSE</a:t>
            </a:r>
          </a:p>
        </p:txBody>
      </p:sp>
      <p:sp>
        <p:nvSpPr>
          <p:cNvPr id="48" name="Shape 46">
            <a:extLst xmlns:a="http://schemas.openxmlformats.org/drawingml/2006/main">
              <a:ext uri="{FF2B5EF4-FFF2-40B4-BE49-F238E27FC236}">
                <a16:creationId xmlns:a16="http://schemas.microsoft.com/office/drawing/2014/main" id="{887D40B7-6CE9-478F-B2E4-D6F2959B6D45}"/>
              </a:ext>
            </a:extLst>
          </p:cNvPr>
          <p:cNvSpPr>
            <a:spLocks xmlns:a="http://schemas.openxmlformats.org/drawingml/2006/main" noGrp="1"/>
          </p:cNvSpPr>
          <p:nvPr/>
        </p:nvSpPr>
        <p:spPr>
          <a:xfrm xmlns:a="http://schemas.openxmlformats.org/drawingml/2006/main">
            <a:off x="4270248"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49" name="Text 47">
            <a:extLst xmlns:a="http://schemas.openxmlformats.org/drawingml/2006/main">
              <a:ext uri="{FF2B5EF4-FFF2-40B4-BE49-F238E27FC236}">
                <a16:creationId xmlns:a16="http://schemas.microsoft.com/office/drawing/2014/main" id="{4EC50493-BA96-48D5-9FC9-A2263354FEBA}"/>
              </a:ext>
            </a:extLst>
          </p:cNvPr>
          <p:cNvSpPr>
            <a:spLocks xmlns:a="http://schemas.openxmlformats.org/drawingml/2006/main" noGrp="1"/>
          </p:cNvSpPr>
          <p:nvPr/>
        </p:nvSpPr>
        <p:spPr>
          <a:xfrm xmlns:a="http://schemas.openxmlformats.org/drawingml/2006/main">
            <a:off x="427024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50" name="Text 48">
            <a:extLst xmlns:a="http://schemas.openxmlformats.org/drawingml/2006/main">
              <a:ext uri="{FF2B5EF4-FFF2-40B4-BE49-F238E27FC236}">
                <a16:creationId xmlns:a16="http://schemas.microsoft.com/office/drawing/2014/main" id="{804B54DC-83E7-4381-986D-67433D145FD3}"/>
              </a:ext>
            </a:extLst>
          </p:cNvPr>
          <p:cNvSpPr>
            <a:spLocks xmlns:a="http://schemas.openxmlformats.org/drawingml/2006/main" noGrp="1"/>
          </p:cNvSpPr>
          <p:nvPr/>
        </p:nvSpPr>
        <p:spPr>
          <a:xfrm xmlns:a="http://schemas.openxmlformats.org/drawingml/2006/main">
            <a:off x="427024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$95,000</a:t>
            </a:r>
          </a:p>
        </p:txBody>
      </p:sp>
      <p:sp>
        <p:nvSpPr>
          <p:cNvPr id="51" name="Text 49">
            <a:extLst xmlns:a="http://schemas.openxmlformats.org/drawingml/2006/main">
              <a:ext uri="{FF2B5EF4-FFF2-40B4-BE49-F238E27FC236}">
                <a16:creationId xmlns:a16="http://schemas.microsoft.com/office/drawing/2014/main" id="{3086B2D4-07D5-4CD4-85DE-61B4A79B84BC}"/>
              </a:ext>
            </a:extLst>
          </p:cNvPr>
          <p:cNvSpPr>
            <a:spLocks xmlns:a="http://schemas.openxmlformats.org/drawingml/2006/main" noGrp="1"/>
          </p:cNvSpPr>
          <p:nvPr/>
        </p:nvSpPr>
        <p:spPr>
          <a:xfrm xmlns:a="http://schemas.openxmlformats.org/drawingml/2006/main">
            <a:off x="600760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52" name="Text 50">
            <a:extLst xmlns:a="http://schemas.openxmlformats.org/drawingml/2006/main">
              <a:ext uri="{FF2B5EF4-FFF2-40B4-BE49-F238E27FC236}">
                <a16:creationId xmlns:a16="http://schemas.microsoft.com/office/drawing/2014/main" id="{AF632D10-B758-4FF7-BF78-B1F12B5FE9CD}"/>
              </a:ext>
            </a:extLst>
          </p:cNvPr>
          <p:cNvSpPr>
            <a:spLocks xmlns:a="http://schemas.openxmlformats.org/drawingml/2006/main" noGrp="1"/>
          </p:cNvSpPr>
          <p:nvPr/>
        </p:nvSpPr>
        <p:spPr>
          <a:xfrm xmlns:a="http://schemas.openxmlformats.org/drawingml/2006/main">
            <a:off x="600760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$600,000</a:t>
            </a:r>
          </a:p>
        </p:txBody>
      </p:sp>
      <p:sp>
        <p:nvSpPr>
          <p:cNvPr id="53" name="Shape 51">
            <a:extLst xmlns:a="http://schemas.openxmlformats.org/drawingml/2006/main">
              <a:ext uri="{FF2B5EF4-FFF2-40B4-BE49-F238E27FC236}">
                <a16:creationId xmlns:a16="http://schemas.microsoft.com/office/drawing/2014/main" id="{BFB4C362-510B-40D9-952D-C23FEC730EE6}"/>
              </a:ext>
            </a:extLst>
          </p:cNvPr>
          <p:cNvSpPr>
            <a:spLocks xmlns:a="http://schemas.openxmlformats.org/drawingml/2006/main" noGrp="1"/>
          </p:cNvSpPr>
          <p:nvPr/>
        </p:nvSpPr>
        <p:spPr>
          <a:xfrm xmlns:a="http://schemas.openxmlformats.org/drawingml/2006/main">
            <a:off x="4270248" y="3456432"/>
            <a:ext cx="3291840" cy="804672"/>
          </a:xfrm>
          <a:prstGeom xmlns:a="http://schemas.openxmlformats.org/drawingml/2006/main" prst="rect">
            <a:avLst/>
          </a:prstGeom>
          <a:solidFill xmlns:a="http://schemas.openxmlformats.org/drawingml/2006/main">
            <a:srgbClr val="F0E0D0"/>
          </a:solidFill>
          <a:ln xmlns:a="http://schemas.openxmlformats.org/drawingml/2006/main" w="12700">
            <a:solidFill>
              <a:srgbClr val="F0E0D0"/>
            </a:solidFill>
            <a:prstDash val="solid"/>
          </a:ln>
        </p:spPr>
        <p:txBody>
          <a:bodyPr xmlns:a="http://schemas.openxmlformats.org/drawingml/2006/main"/>
          <a:lstStyle xmlns:a="http://schemas.openxmlformats.org/drawingml/2006/main"/>
          <a:p xmlns:a="http://schemas.openxmlformats.org/drawingml/2006/main"/>
        </p:txBody>
      </p:sp>
      <p:sp>
        <p:nvSpPr>
          <p:cNvPr id="54" name="Shape 52">
            <a:extLst xmlns:a="http://schemas.openxmlformats.org/drawingml/2006/main">
              <a:ext uri="{FF2B5EF4-FFF2-40B4-BE49-F238E27FC236}">
                <a16:creationId xmlns:a16="http://schemas.microsoft.com/office/drawing/2014/main" id="{46CC2297-401B-47B7-B690-31C670908C94}"/>
              </a:ext>
            </a:extLst>
          </p:cNvPr>
          <p:cNvSpPr>
            <a:spLocks xmlns:a="http://schemas.openxmlformats.org/drawingml/2006/main" noGrp="1"/>
          </p:cNvSpPr>
          <p:nvPr/>
        </p:nvSpPr>
        <p:spPr>
          <a:xfrm xmlns:a="http://schemas.openxmlformats.org/drawingml/2006/main">
            <a:off x="4270248" y="3456432"/>
            <a:ext cx="54864" cy="804672"/>
          </a:xfrm>
          <a:prstGeom xmlns:a="http://schemas.openxmlformats.org/drawingml/2006/main" prst="rect">
            <a:avLst/>
          </a:prstGeom>
          <a:solidFill xmlns:a="http://schemas.openxmlformats.org/drawingml/2006/main">
            <a:srgbClr val="6B3A1F"/>
          </a:solidFill>
          <a:ln xmlns:a="http://schemas.openxmlformats.org/drawingml/2006/main" w="12700">
            <a:solidFill>
              <a:srgbClr val="6B3A1F"/>
            </a:solidFill>
            <a:prstDash val="solid"/>
          </a:ln>
        </p:spPr>
        <p:txBody>
          <a:bodyPr xmlns:a="http://schemas.openxmlformats.org/drawingml/2006/main"/>
          <a:lstStyle xmlns:a="http://schemas.openxmlformats.org/drawingml/2006/main"/>
          <a:p xmlns:a="http://schemas.openxmlformats.org/drawingml/2006/main"/>
        </p:txBody>
      </p:sp>
      <p:sp>
        <p:nvSpPr>
          <p:cNvPr id="55" name="Text 53">
            <a:extLst xmlns:a="http://schemas.openxmlformats.org/drawingml/2006/main">
              <a:ext uri="{FF2B5EF4-FFF2-40B4-BE49-F238E27FC236}">
                <a16:creationId xmlns:a16="http://schemas.microsoft.com/office/drawing/2014/main" id="{CFD4777A-1E77-430B-9E42-302A56726973}"/>
              </a:ext>
            </a:extLst>
          </p:cNvPr>
          <p:cNvSpPr>
            <a:spLocks xmlns:a="http://schemas.openxmlformats.org/drawingml/2006/main" noGrp="1"/>
          </p:cNvSpPr>
          <p:nvPr/>
        </p:nvSpPr>
        <p:spPr>
          <a:xfrm xmlns:a="http://schemas.openxmlformats.org/drawingml/2006/main">
            <a:off x="4389120"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6B3A1F"/>
                </a:solidFill>
                <a:latin typeface="Calibri"/>
                <a:ea typeface="Calibri"/>
                <a:cs typeface="Calibri"/>
              </a:rPr>
              <a:t>PRIMARY GOAL</a:t>
            </a:r>
          </a:p>
        </p:txBody>
      </p:sp>
      <p:sp>
        <p:nvSpPr>
          <p:cNvPr id="56" name="Text 54">
            <a:extLst xmlns:a="http://schemas.openxmlformats.org/drawingml/2006/main">
              <a:ext uri="{FF2B5EF4-FFF2-40B4-BE49-F238E27FC236}">
                <a16:creationId xmlns:a16="http://schemas.microsoft.com/office/drawing/2014/main" id="{2E8CDC9E-C388-42DF-B24C-408EDEF76429}"/>
              </a:ext>
            </a:extLst>
          </p:cNvPr>
          <p:cNvSpPr>
            <a:spLocks xmlns:a="http://schemas.openxmlformats.org/drawingml/2006/main" noGrp="1"/>
          </p:cNvSpPr>
          <p:nvPr/>
        </p:nvSpPr>
        <p:spPr>
          <a:xfrm xmlns:a="http://schemas.openxmlformats.org/drawingml/2006/main">
            <a:off x="4389120"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Stability / Home Purchase</a:t>
            </a:r>
          </a:p>
        </p:txBody>
      </p:sp>
      <p:sp>
        <p:nvSpPr>
          <p:cNvPr id="57" name="Shape 55">
            <a:extLst xmlns:a="http://schemas.openxmlformats.org/drawingml/2006/main">
              <a:ext uri="{FF2B5EF4-FFF2-40B4-BE49-F238E27FC236}">
                <a16:creationId xmlns:a16="http://schemas.microsoft.com/office/drawing/2014/main" id="{FF8DC47D-4102-495F-9294-D5C17E696E03}"/>
              </a:ext>
            </a:extLst>
          </p:cNvPr>
          <p:cNvSpPr>
            <a:spLocks xmlns:a="http://schemas.openxmlformats.org/drawingml/2006/main" noGrp="1"/>
          </p:cNvSpPr>
          <p:nvPr/>
        </p:nvSpPr>
        <p:spPr>
          <a:xfrm xmlns:a="http://schemas.openxmlformats.org/drawingml/2006/main">
            <a:off x="4270248"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58" name="Text 56">
            <a:extLst xmlns:a="http://schemas.openxmlformats.org/drawingml/2006/main">
              <a:ext uri="{FF2B5EF4-FFF2-40B4-BE49-F238E27FC236}">
                <a16:creationId xmlns:a16="http://schemas.microsoft.com/office/drawing/2014/main" id="{ECE0FD0A-DAAE-47C3-A6BA-E6213DE2FA09}"/>
              </a:ext>
            </a:extLst>
          </p:cNvPr>
          <p:cNvSpPr>
            <a:spLocks xmlns:a="http://schemas.openxmlformats.org/drawingml/2006/main" noGrp="1"/>
          </p:cNvSpPr>
          <p:nvPr/>
        </p:nvSpPr>
        <p:spPr>
          <a:xfrm xmlns:a="http://schemas.openxmlformats.org/drawingml/2006/main">
            <a:off x="4389120"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59" name="Text 57">
            <a:extLst xmlns:a="http://schemas.openxmlformats.org/drawingml/2006/main">
              <a:ext uri="{FF2B5EF4-FFF2-40B4-BE49-F238E27FC236}">
                <a16:creationId xmlns:a16="http://schemas.microsoft.com/office/drawing/2014/main" id="{A41FFBA3-BF54-4CFE-A236-6E01F21FC60A}"/>
              </a:ext>
            </a:extLst>
          </p:cNvPr>
          <p:cNvSpPr>
            <a:spLocks xmlns:a="http://schemas.openxmlformats.org/drawingml/2006/main" noGrp="1"/>
          </p:cNvSpPr>
          <p:nvPr/>
        </p:nvSpPr>
        <p:spPr>
          <a:xfrm xmlns:a="http://schemas.openxmlformats.org/drawingml/2006/main">
            <a:off x="4389120"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Needs $150k cash for home in 12 months</a:t>
            </a:r>
          </a:p>
        </p:txBody>
      </p:sp>
      <p:sp>
        <p:nvSpPr>
          <p:cNvPr id="60" name="Shape 58">
            <a:extLst xmlns:a="http://schemas.openxmlformats.org/drawingml/2006/main">
              <a:ext uri="{FF2B5EF4-FFF2-40B4-BE49-F238E27FC236}">
                <a16:creationId xmlns:a16="http://schemas.microsoft.com/office/drawing/2014/main" id="{6B50B30D-BF28-4F96-B310-74A06BD41D1C}"/>
              </a:ext>
            </a:extLst>
          </p:cNvPr>
          <p:cNvSpPr>
            <a:spLocks xmlns:a="http://schemas.openxmlformats.org/drawingml/2006/main" noGrp="1"/>
          </p:cNvSpPr>
          <p:nvPr/>
        </p:nvSpPr>
        <p:spPr>
          <a:xfrm xmlns:a="http://schemas.openxmlformats.org/drawingml/2006/main">
            <a:off x="4270248" y="5230368"/>
            <a:ext cx="1097280" cy="877824"/>
          </a:xfrm>
          <a:prstGeom xmlns:a="http://schemas.openxmlformats.org/drawingml/2006/main" prst="rect">
            <a:avLst/>
          </a:prstGeom>
          <a:solidFill xmlns:a="http://schemas.openxmlformats.org/drawingml/2006/main">
            <a:srgbClr val="6B3A1F"/>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1" name="Text 59">
            <a:extLst xmlns:a="http://schemas.openxmlformats.org/drawingml/2006/main">
              <a:ext uri="{FF2B5EF4-FFF2-40B4-BE49-F238E27FC236}">
                <a16:creationId xmlns:a16="http://schemas.microsoft.com/office/drawing/2014/main" id="{72FEA3FF-514D-4647-ADF2-900D939F175A}"/>
              </a:ext>
            </a:extLst>
          </p:cNvPr>
          <p:cNvSpPr>
            <a:spLocks xmlns:a="http://schemas.openxmlformats.org/drawingml/2006/main" noGrp="1"/>
          </p:cNvSpPr>
          <p:nvPr/>
        </p:nvSpPr>
        <p:spPr>
          <a:xfrm xmlns:a="http://schemas.openxmlformats.org/drawingml/2006/main">
            <a:off x="428853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62" name="Text 60">
            <a:extLst xmlns:a="http://schemas.openxmlformats.org/drawingml/2006/main">
              <a:ext uri="{FF2B5EF4-FFF2-40B4-BE49-F238E27FC236}">
                <a16:creationId xmlns:a16="http://schemas.microsoft.com/office/drawing/2014/main" id="{24B02783-64F2-41A0-A66F-0CFA4F4553D8}"/>
              </a:ext>
            </a:extLst>
          </p:cNvPr>
          <p:cNvSpPr>
            <a:spLocks xmlns:a="http://schemas.openxmlformats.org/drawingml/2006/main" noGrp="1"/>
          </p:cNvSpPr>
          <p:nvPr/>
        </p:nvSpPr>
        <p:spPr>
          <a:xfrm xmlns:a="http://schemas.openxmlformats.org/drawingml/2006/main">
            <a:off x="431596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5.5%</a:t>
            </a:r>
          </a:p>
        </p:txBody>
      </p:sp>
      <p:sp>
        <p:nvSpPr>
          <p:cNvPr id="63" name="Shape 61">
            <a:extLst xmlns:a="http://schemas.openxmlformats.org/drawingml/2006/main">
              <a:ext uri="{FF2B5EF4-FFF2-40B4-BE49-F238E27FC236}">
                <a16:creationId xmlns:a16="http://schemas.microsoft.com/office/drawing/2014/main" id="{8CAA8970-CE10-49FF-B314-9637F8CE93A5}"/>
              </a:ext>
            </a:extLst>
          </p:cNvPr>
          <p:cNvSpPr>
            <a:spLocks xmlns:a="http://schemas.openxmlformats.org/drawingml/2006/main" noGrp="1"/>
          </p:cNvSpPr>
          <p:nvPr/>
        </p:nvSpPr>
        <p:spPr>
          <a:xfrm xmlns:a="http://schemas.openxmlformats.org/drawingml/2006/main">
            <a:off x="5367528"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4" name="Text 62">
            <a:extLst xmlns:a="http://schemas.openxmlformats.org/drawingml/2006/main">
              <a:ext uri="{FF2B5EF4-FFF2-40B4-BE49-F238E27FC236}">
                <a16:creationId xmlns:a16="http://schemas.microsoft.com/office/drawing/2014/main" id="{F283730A-9580-4EBC-9762-CE868D673784}"/>
              </a:ext>
            </a:extLst>
          </p:cNvPr>
          <p:cNvSpPr>
            <a:spLocks xmlns:a="http://schemas.openxmlformats.org/drawingml/2006/main" noGrp="1"/>
          </p:cNvSpPr>
          <p:nvPr/>
        </p:nvSpPr>
        <p:spPr>
          <a:xfrm xmlns:a="http://schemas.openxmlformats.org/drawingml/2006/main">
            <a:off x="538581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65" name="Text 63">
            <a:extLst xmlns:a="http://schemas.openxmlformats.org/drawingml/2006/main">
              <a:ext uri="{FF2B5EF4-FFF2-40B4-BE49-F238E27FC236}">
                <a16:creationId xmlns:a16="http://schemas.microsoft.com/office/drawing/2014/main" id="{F89CEEBB-CF57-40FB-AAB1-D1300170B294}"/>
              </a:ext>
            </a:extLst>
          </p:cNvPr>
          <p:cNvSpPr>
            <a:spLocks xmlns:a="http://schemas.openxmlformats.org/drawingml/2006/main" noGrp="1"/>
          </p:cNvSpPr>
          <p:nvPr/>
        </p:nvSpPr>
        <p:spPr>
          <a:xfrm xmlns:a="http://schemas.openxmlformats.org/drawingml/2006/main">
            <a:off x="541324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9.0%</a:t>
            </a:r>
          </a:p>
        </p:txBody>
      </p:sp>
      <p:sp>
        <p:nvSpPr>
          <p:cNvPr id="66" name="Shape 64">
            <a:extLst xmlns:a="http://schemas.openxmlformats.org/drawingml/2006/main">
              <a:ext uri="{FF2B5EF4-FFF2-40B4-BE49-F238E27FC236}">
                <a16:creationId xmlns:a16="http://schemas.microsoft.com/office/drawing/2014/main" id="{2CE95CBD-943B-484C-B51C-765CB8E38BFF}"/>
              </a:ext>
            </a:extLst>
          </p:cNvPr>
          <p:cNvSpPr>
            <a:spLocks xmlns:a="http://schemas.openxmlformats.org/drawingml/2006/main" noGrp="1"/>
          </p:cNvSpPr>
          <p:nvPr/>
        </p:nvSpPr>
        <p:spPr>
          <a:xfrm xmlns:a="http://schemas.openxmlformats.org/drawingml/2006/main">
            <a:off x="6464808"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7" name="Text 65">
            <a:extLst xmlns:a="http://schemas.openxmlformats.org/drawingml/2006/main">
              <a:ext uri="{FF2B5EF4-FFF2-40B4-BE49-F238E27FC236}">
                <a16:creationId xmlns:a16="http://schemas.microsoft.com/office/drawing/2014/main" id="{80FEE2D9-B04D-48DA-9F0A-AA89294C4B34}"/>
              </a:ext>
            </a:extLst>
          </p:cNvPr>
          <p:cNvSpPr>
            <a:spLocks xmlns:a="http://schemas.openxmlformats.org/drawingml/2006/main" noGrp="1"/>
          </p:cNvSpPr>
          <p:nvPr/>
        </p:nvSpPr>
        <p:spPr>
          <a:xfrm xmlns:a="http://schemas.openxmlformats.org/drawingml/2006/main">
            <a:off x="648309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68" name="Text 66">
            <a:extLst xmlns:a="http://schemas.openxmlformats.org/drawingml/2006/main">
              <a:ext uri="{FF2B5EF4-FFF2-40B4-BE49-F238E27FC236}">
                <a16:creationId xmlns:a16="http://schemas.microsoft.com/office/drawing/2014/main" id="{F125F3CF-90B1-42DD-917E-AEFD5841B787}"/>
              </a:ext>
            </a:extLst>
          </p:cNvPr>
          <p:cNvSpPr>
            <a:spLocks xmlns:a="http://schemas.openxmlformats.org/drawingml/2006/main" noGrp="1"/>
          </p:cNvSpPr>
          <p:nvPr/>
        </p:nvSpPr>
        <p:spPr>
          <a:xfrm xmlns:a="http://schemas.openxmlformats.org/drawingml/2006/main">
            <a:off x="651052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6.0</a:t>
            </a:r>
          </a:p>
        </p:txBody>
      </p:sp>
      <p:sp>
        <p:nvSpPr>
          <p:cNvPr id="69" name="Shape 67">
            <a:extLst xmlns:a="http://schemas.openxmlformats.org/drawingml/2006/main">
              <a:ext uri="{FF2B5EF4-FFF2-40B4-BE49-F238E27FC236}">
                <a16:creationId xmlns:a16="http://schemas.microsoft.com/office/drawing/2014/main" id="{64146527-418F-48E9-AE30-CE2E22D14AB1}"/>
              </a:ext>
            </a:extLst>
          </p:cNvPr>
          <p:cNvSpPr>
            <a:spLocks xmlns:a="http://schemas.openxmlformats.org/drawingml/2006/main" noGrp="1"/>
          </p:cNvSpPr>
          <p:nvPr/>
        </p:nvSpPr>
        <p:spPr>
          <a:xfrm xmlns:a="http://schemas.openxmlformats.org/drawingml/2006/main">
            <a:off x="7946136"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70" name="Shape 68">
            <a:extLst xmlns:a="http://schemas.openxmlformats.org/drawingml/2006/main">
              <a:ext uri="{FF2B5EF4-FFF2-40B4-BE49-F238E27FC236}">
                <a16:creationId xmlns:a16="http://schemas.microsoft.com/office/drawing/2014/main" id="{CE87E1CB-D33D-434C-9682-A80BC48D42C6}"/>
              </a:ext>
            </a:extLst>
          </p:cNvPr>
          <p:cNvSpPr>
            <a:spLocks xmlns:a="http://schemas.openxmlformats.org/drawingml/2006/main" noGrp="1"/>
          </p:cNvSpPr>
          <p:nvPr/>
        </p:nvSpPr>
        <p:spPr>
          <a:xfrm xmlns:a="http://schemas.openxmlformats.org/drawingml/2006/main">
            <a:off x="7946136" y="1188720"/>
            <a:ext cx="3749040" cy="109728"/>
          </a:xfrm>
          <a:prstGeom xmlns:a="http://schemas.openxmlformats.org/drawingml/2006/main" prst="rect">
            <a:avLst/>
          </a:prstGeom>
          <a:solidFill xmlns:a="http://schemas.openxmlformats.org/drawingml/2006/main">
            <a:srgbClr val="6B3A1F"/>
          </a:solidFill>
          <a:ln xmlns:a="http://schemas.openxmlformats.org/drawingml/2006/main" w="12700">
            <a:solidFill>
              <a:srgbClr val="6B3A1F"/>
            </a:solidFill>
            <a:prstDash val="solid"/>
          </a:ln>
        </p:spPr>
        <p:txBody>
          <a:bodyPr xmlns:a="http://schemas.openxmlformats.org/drawingml/2006/main"/>
          <a:lstStyle xmlns:a="http://schemas.openxmlformats.org/drawingml/2006/main"/>
          <a:p xmlns:a="http://schemas.openxmlformats.org/drawingml/2006/main"/>
        </p:txBody>
      </p:sp>
      <p:sp>
        <p:nvSpPr>
          <p:cNvPr id="71" name="Shape 69">
            <a:extLst xmlns:a="http://schemas.openxmlformats.org/drawingml/2006/main">
              <a:ext uri="{FF2B5EF4-FFF2-40B4-BE49-F238E27FC236}">
                <a16:creationId xmlns:a16="http://schemas.microsoft.com/office/drawing/2014/main" id="{3FA85FF1-9F69-469F-9B98-06964097B942}"/>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ellipse">
            <a:avLst/>
          </a:prstGeom>
          <a:solidFill xmlns:a="http://schemas.openxmlformats.org/drawingml/2006/main">
            <a:srgbClr val="6B3A1F"/>
          </a:solidFill>
          <a:ln xmlns:a="http://schemas.openxmlformats.org/drawingml/2006/main" w="12700">
            <a:solidFill>
              <a:srgbClr val="6B3A1F"/>
            </a:solidFill>
            <a:prstDash val="solid"/>
          </a:ln>
        </p:spPr>
        <p:txBody>
          <a:bodyPr xmlns:a="http://schemas.openxmlformats.org/drawingml/2006/main"/>
          <a:lstStyle xmlns:a="http://schemas.openxmlformats.org/drawingml/2006/main"/>
          <a:p xmlns:a="http://schemas.openxmlformats.org/drawingml/2006/main"/>
        </p:txBody>
      </p:sp>
      <p:sp>
        <p:nvSpPr>
          <p:cNvPr id="72" name="Text 70">
            <a:extLst xmlns:a="http://schemas.openxmlformats.org/drawingml/2006/main">
              <a:ext uri="{FF2B5EF4-FFF2-40B4-BE49-F238E27FC236}">
                <a16:creationId xmlns:a16="http://schemas.microsoft.com/office/drawing/2014/main" id="{182E930C-FE15-4560-BABA-A906847C129E}"/>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RH</a:t>
            </a:r>
          </a:p>
        </p:txBody>
      </p:sp>
      <p:sp>
        <p:nvSpPr>
          <p:cNvPr id="73" name="Text 71">
            <a:extLst xmlns:a="http://schemas.openxmlformats.org/drawingml/2006/main">
              <a:ext uri="{FF2B5EF4-FFF2-40B4-BE49-F238E27FC236}">
                <a16:creationId xmlns:a16="http://schemas.microsoft.com/office/drawing/2014/main" id="{47047306-8049-4B90-9982-277C3C5DDF67}"/>
              </a:ext>
            </a:extLst>
          </p:cNvPr>
          <p:cNvSpPr>
            <a:spLocks xmlns:a="http://schemas.openxmlformats.org/drawingml/2006/main" noGrp="1"/>
          </p:cNvSpPr>
          <p:nvPr/>
        </p:nvSpPr>
        <p:spPr>
          <a:xfrm xmlns:a="http://schemas.openxmlformats.org/drawingml/2006/main">
            <a:off x="10232136"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#08</a:t>
            </a:r>
          </a:p>
        </p:txBody>
      </p:sp>
      <p:sp>
        <p:nvSpPr>
          <p:cNvPr id="74" name="Text 72">
            <a:extLst xmlns:a="http://schemas.openxmlformats.org/drawingml/2006/main">
              <a:ext uri="{FF2B5EF4-FFF2-40B4-BE49-F238E27FC236}">
                <a16:creationId xmlns:a16="http://schemas.microsoft.com/office/drawing/2014/main" id="{DB403AE7-EFD7-4A7A-B9B8-4326D51251CB}"/>
              </a:ext>
            </a:extLst>
          </p:cNvPr>
          <p:cNvSpPr>
            <a:spLocks xmlns:a="http://schemas.openxmlformats.org/drawingml/2006/main" noGrp="1"/>
          </p:cNvSpPr>
          <p:nvPr/>
        </p:nvSpPr>
        <p:spPr>
          <a:xfrm xmlns:a="http://schemas.openxmlformats.org/drawingml/2006/main">
            <a:off x="9025128"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Robert Halloway</a:t>
            </a:r>
          </a:p>
        </p:txBody>
      </p:sp>
      <p:sp>
        <p:nvSpPr>
          <p:cNvPr id="75" name="Text 73">
            <a:extLst xmlns:a="http://schemas.openxmlformats.org/drawingml/2006/main">
              <a:ext uri="{FF2B5EF4-FFF2-40B4-BE49-F238E27FC236}">
                <a16:creationId xmlns:a16="http://schemas.microsoft.com/office/drawing/2014/main" id="{976EEB95-E269-4CFA-8247-1652CA8CA88F}"/>
              </a:ext>
            </a:extLst>
          </p:cNvPr>
          <p:cNvSpPr>
            <a:spLocks xmlns:a="http://schemas.openxmlformats.org/drawingml/2006/main" noGrp="1"/>
          </p:cNvSpPr>
          <p:nvPr/>
        </p:nvSpPr>
        <p:spPr>
          <a:xfrm xmlns:a="http://schemas.openxmlformats.org/drawingml/2006/main">
            <a:off x="9025128"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58  ·  Retail Manager</a:t>
            </a:r>
          </a:p>
        </p:txBody>
      </p:sp>
      <p:sp>
        <p:nvSpPr>
          <p:cNvPr id="76" name="Shape 74">
            <a:extLst xmlns:a="http://schemas.openxmlformats.org/drawingml/2006/main">
              <a:ext uri="{FF2B5EF4-FFF2-40B4-BE49-F238E27FC236}">
                <a16:creationId xmlns:a16="http://schemas.microsoft.com/office/drawing/2014/main" id="{DC89CB91-BAD0-4C8C-95CE-DFE7CD7FEBB6}"/>
              </a:ext>
            </a:extLst>
          </p:cNvPr>
          <p:cNvSpPr>
            <a:spLocks xmlns:a="http://schemas.openxmlformats.org/drawingml/2006/main" noGrp="1"/>
          </p:cNvSpPr>
          <p:nvPr/>
        </p:nvSpPr>
        <p:spPr>
          <a:xfrm xmlns:a="http://schemas.openxmlformats.org/drawingml/2006/main">
            <a:off x="8174736" y="2322576"/>
            <a:ext cx="1325880" cy="237744"/>
          </a:xfrm>
          <a:prstGeom xmlns:a="http://schemas.openxmlformats.org/drawingml/2006/main" prst="rect">
            <a:avLst/>
          </a:prstGeom>
          <a:solidFill xmlns:a="http://schemas.openxmlformats.org/drawingml/2006/main">
            <a:srgbClr val="E8F5EE"/>
          </a:solidFill>
          <a:ln xmlns:a="http://schemas.openxmlformats.org/drawingml/2006/main" w="12700">
            <a:solidFill>
              <a:srgbClr val="E8F5EE"/>
            </a:solidFill>
            <a:prstDash val="solid"/>
          </a:ln>
        </p:spPr>
        <p:txBody>
          <a:bodyPr xmlns:a="http://schemas.openxmlformats.org/drawingml/2006/main"/>
          <a:lstStyle xmlns:a="http://schemas.openxmlformats.org/drawingml/2006/main"/>
          <a:p xmlns:a="http://schemas.openxmlformats.org/drawingml/2006/main"/>
        </p:txBody>
      </p:sp>
      <p:sp>
        <p:nvSpPr>
          <p:cNvPr id="77" name="Shape 75">
            <a:extLst xmlns:a="http://schemas.openxmlformats.org/drawingml/2006/main">
              <a:ext uri="{FF2B5EF4-FFF2-40B4-BE49-F238E27FC236}">
                <a16:creationId xmlns:a16="http://schemas.microsoft.com/office/drawing/2014/main" id="{E3F2185A-04EA-4776-8EEA-0DE3C1DA93DE}"/>
              </a:ext>
            </a:extLst>
          </p:cNvPr>
          <p:cNvSpPr>
            <a:spLocks xmlns:a="http://schemas.openxmlformats.org/drawingml/2006/main" noGrp="1"/>
          </p:cNvSpPr>
          <p:nvPr/>
        </p:nvSpPr>
        <p:spPr>
          <a:xfrm xmlns:a="http://schemas.openxmlformats.org/drawingml/2006/main">
            <a:off x="8238744" y="2382012"/>
            <a:ext cx="91440" cy="91440"/>
          </a:xfrm>
          <a:prstGeom xmlns:a="http://schemas.openxmlformats.org/drawingml/2006/main" prst="ellipse">
            <a:avLst/>
          </a:prstGeom>
          <a:solidFill xmlns:a="http://schemas.openxmlformats.org/drawingml/2006/main">
            <a:srgbClr val="2D8A5E"/>
          </a:solidFill>
          <a:ln xmlns:a="http://schemas.openxmlformats.org/drawingml/2006/main" w="12700">
            <a:solidFill>
              <a:srgbClr val="2D8A5E"/>
            </a:solidFill>
            <a:prstDash val="solid"/>
          </a:ln>
        </p:spPr>
        <p:txBody>
          <a:bodyPr xmlns:a="http://schemas.openxmlformats.org/drawingml/2006/main"/>
          <a:lstStyle xmlns:a="http://schemas.openxmlformats.org/drawingml/2006/main"/>
          <a:p xmlns:a="http://schemas.openxmlformats.org/drawingml/2006/main"/>
        </p:txBody>
      </p:sp>
      <p:sp>
        <p:nvSpPr>
          <p:cNvPr id="78" name="Text 76">
            <a:extLst xmlns:a="http://schemas.openxmlformats.org/drawingml/2006/main">
              <a:ext uri="{FF2B5EF4-FFF2-40B4-BE49-F238E27FC236}">
                <a16:creationId xmlns:a16="http://schemas.microsoft.com/office/drawing/2014/main" id="{3CE5E37A-B4D8-44D4-92E4-CFE1E897DC3A}"/>
              </a:ext>
            </a:extLst>
          </p:cNvPr>
          <p:cNvSpPr>
            <a:spLocks xmlns:a="http://schemas.openxmlformats.org/drawingml/2006/main" noGrp="1"/>
          </p:cNvSpPr>
          <p:nvPr/>
        </p:nvSpPr>
        <p:spPr>
          <a:xfrm xmlns:a="http://schemas.openxmlformats.org/drawingml/2006/main">
            <a:off x="8366760"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2D8A5E"/>
                </a:solidFill>
                <a:latin typeface="Calibri"/>
                <a:ea typeface="Calibri"/>
                <a:cs typeface="Calibri"/>
              </a:rPr>
              <a:t>RISK SEEKING</a:t>
            </a:r>
          </a:p>
        </p:txBody>
      </p:sp>
      <p:sp>
        <p:nvSpPr>
          <p:cNvPr id="79" name="Shape 77">
            <a:extLst xmlns:a="http://schemas.openxmlformats.org/drawingml/2006/main">
              <a:ext uri="{FF2B5EF4-FFF2-40B4-BE49-F238E27FC236}">
                <a16:creationId xmlns:a16="http://schemas.microsoft.com/office/drawing/2014/main" id="{5F820CA0-BD1A-4104-BA52-6F46B77A450C}"/>
              </a:ext>
            </a:extLst>
          </p:cNvPr>
          <p:cNvSpPr>
            <a:spLocks xmlns:a="http://schemas.openxmlformats.org/drawingml/2006/main" noGrp="1"/>
          </p:cNvSpPr>
          <p:nvPr/>
        </p:nvSpPr>
        <p:spPr>
          <a:xfrm xmlns:a="http://schemas.openxmlformats.org/drawingml/2006/main">
            <a:off x="8174736"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80" name="Text 78">
            <a:extLst xmlns:a="http://schemas.openxmlformats.org/drawingml/2006/main">
              <a:ext uri="{FF2B5EF4-FFF2-40B4-BE49-F238E27FC236}">
                <a16:creationId xmlns:a16="http://schemas.microsoft.com/office/drawing/2014/main" id="{991C28CE-F801-4E79-81B3-635F1822EEE1}"/>
              </a:ext>
            </a:extLst>
          </p:cNvPr>
          <p:cNvSpPr>
            <a:spLocks xmlns:a="http://schemas.openxmlformats.org/drawingml/2006/main" noGrp="1"/>
          </p:cNvSpPr>
          <p:nvPr/>
        </p:nvSpPr>
        <p:spPr>
          <a:xfrm xmlns:a="http://schemas.openxmlformats.org/drawingml/2006/main">
            <a:off x="817473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81" name="Text 79">
            <a:extLst xmlns:a="http://schemas.openxmlformats.org/drawingml/2006/main">
              <a:ext uri="{FF2B5EF4-FFF2-40B4-BE49-F238E27FC236}">
                <a16:creationId xmlns:a16="http://schemas.microsoft.com/office/drawing/2014/main" id="{B2FB562C-1458-4C2D-97DE-F5558BC2FDF5}"/>
              </a:ext>
            </a:extLst>
          </p:cNvPr>
          <p:cNvSpPr>
            <a:spLocks xmlns:a="http://schemas.openxmlformats.org/drawingml/2006/main" noGrp="1"/>
          </p:cNvSpPr>
          <p:nvPr/>
        </p:nvSpPr>
        <p:spPr>
          <a:xfrm xmlns:a="http://schemas.openxmlformats.org/drawingml/2006/main">
            <a:off x="817473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$70,000</a:t>
            </a:r>
          </a:p>
        </p:txBody>
      </p:sp>
      <p:sp>
        <p:nvSpPr>
          <p:cNvPr id="82" name="Text 80">
            <a:extLst xmlns:a="http://schemas.openxmlformats.org/drawingml/2006/main">
              <a:ext uri="{FF2B5EF4-FFF2-40B4-BE49-F238E27FC236}">
                <a16:creationId xmlns:a16="http://schemas.microsoft.com/office/drawing/2014/main" id="{36DAC49A-E39A-49BC-AB8C-E3F0AC882FFA}"/>
              </a:ext>
            </a:extLst>
          </p:cNvPr>
          <p:cNvSpPr>
            <a:spLocks xmlns:a="http://schemas.openxmlformats.org/drawingml/2006/main" noGrp="1"/>
          </p:cNvSpPr>
          <p:nvPr/>
        </p:nvSpPr>
        <p:spPr>
          <a:xfrm xmlns:a="http://schemas.openxmlformats.org/drawingml/2006/main">
            <a:off x="991209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83" name="Text 81">
            <a:extLst xmlns:a="http://schemas.openxmlformats.org/drawingml/2006/main">
              <a:ext uri="{FF2B5EF4-FFF2-40B4-BE49-F238E27FC236}">
                <a16:creationId xmlns:a16="http://schemas.microsoft.com/office/drawing/2014/main" id="{791FA4C8-3793-45B7-8A4B-269B858C0F35}"/>
              </a:ext>
            </a:extLst>
          </p:cNvPr>
          <p:cNvSpPr>
            <a:spLocks xmlns:a="http://schemas.openxmlformats.org/drawingml/2006/main" noGrp="1"/>
          </p:cNvSpPr>
          <p:nvPr/>
        </p:nvSpPr>
        <p:spPr>
          <a:xfrm xmlns:a="http://schemas.openxmlformats.org/drawingml/2006/main">
            <a:off x="991209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$120,000</a:t>
            </a:r>
          </a:p>
        </p:txBody>
      </p:sp>
      <p:sp>
        <p:nvSpPr>
          <p:cNvPr id="84" name="Shape 82">
            <a:extLst xmlns:a="http://schemas.openxmlformats.org/drawingml/2006/main">
              <a:ext uri="{FF2B5EF4-FFF2-40B4-BE49-F238E27FC236}">
                <a16:creationId xmlns:a16="http://schemas.microsoft.com/office/drawing/2014/main" id="{97A4863B-EDAA-40CA-8A59-2C690EC63204}"/>
              </a:ext>
            </a:extLst>
          </p:cNvPr>
          <p:cNvSpPr>
            <a:spLocks xmlns:a="http://schemas.openxmlformats.org/drawingml/2006/main" noGrp="1"/>
          </p:cNvSpPr>
          <p:nvPr/>
        </p:nvSpPr>
        <p:spPr>
          <a:xfrm xmlns:a="http://schemas.openxmlformats.org/drawingml/2006/main">
            <a:off x="8174736" y="3456432"/>
            <a:ext cx="3291840" cy="804672"/>
          </a:xfrm>
          <a:prstGeom xmlns:a="http://schemas.openxmlformats.org/drawingml/2006/main" prst="rect">
            <a:avLst/>
          </a:prstGeom>
          <a:solidFill xmlns:a="http://schemas.openxmlformats.org/drawingml/2006/main">
            <a:srgbClr val="F0E0D0"/>
          </a:solidFill>
          <a:ln xmlns:a="http://schemas.openxmlformats.org/drawingml/2006/main" w="12700">
            <a:solidFill>
              <a:srgbClr val="F0E0D0"/>
            </a:solidFill>
            <a:prstDash val="solid"/>
          </a:ln>
        </p:spPr>
        <p:txBody>
          <a:bodyPr xmlns:a="http://schemas.openxmlformats.org/drawingml/2006/main"/>
          <a:lstStyle xmlns:a="http://schemas.openxmlformats.org/drawingml/2006/main"/>
          <a:p xmlns:a="http://schemas.openxmlformats.org/drawingml/2006/main"/>
        </p:txBody>
      </p:sp>
      <p:sp>
        <p:nvSpPr>
          <p:cNvPr id="85" name="Shape 83">
            <a:extLst xmlns:a="http://schemas.openxmlformats.org/drawingml/2006/main">
              <a:ext uri="{FF2B5EF4-FFF2-40B4-BE49-F238E27FC236}">
                <a16:creationId xmlns:a16="http://schemas.microsoft.com/office/drawing/2014/main" id="{427C6BB4-A529-4791-918A-06C4CD0A50E6}"/>
              </a:ext>
            </a:extLst>
          </p:cNvPr>
          <p:cNvSpPr>
            <a:spLocks xmlns:a="http://schemas.openxmlformats.org/drawingml/2006/main" noGrp="1"/>
          </p:cNvSpPr>
          <p:nvPr/>
        </p:nvSpPr>
        <p:spPr>
          <a:xfrm xmlns:a="http://schemas.openxmlformats.org/drawingml/2006/main">
            <a:off x="8174736" y="3456432"/>
            <a:ext cx="54864" cy="804672"/>
          </a:xfrm>
          <a:prstGeom xmlns:a="http://schemas.openxmlformats.org/drawingml/2006/main" prst="rect">
            <a:avLst/>
          </a:prstGeom>
          <a:solidFill xmlns:a="http://schemas.openxmlformats.org/drawingml/2006/main">
            <a:srgbClr val="6B3A1F"/>
          </a:solidFill>
          <a:ln xmlns:a="http://schemas.openxmlformats.org/drawingml/2006/main" w="12700">
            <a:solidFill>
              <a:srgbClr val="6B3A1F"/>
            </a:solidFill>
            <a:prstDash val="solid"/>
          </a:ln>
        </p:spPr>
        <p:txBody>
          <a:bodyPr xmlns:a="http://schemas.openxmlformats.org/drawingml/2006/main"/>
          <a:lstStyle xmlns:a="http://schemas.openxmlformats.org/drawingml/2006/main"/>
          <a:p xmlns:a="http://schemas.openxmlformats.org/drawingml/2006/main"/>
        </p:txBody>
      </p:sp>
      <p:sp>
        <p:nvSpPr>
          <p:cNvPr id="86" name="Text 84">
            <a:extLst xmlns:a="http://schemas.openxmlformats.org/drawingml/2006/main">
              <a:ext uri="{FF2B5EF4-FFF2-40B4-BE49-F238E27FC236}">
                <a16:creationId xmlns:a16="http://schemas.microsoft.com/office/drawing/2014/main" id="{DDCEF2EE-5AD8-4FA2-8C7E-0AB580805645}"/>
              </a:ext>
            </a:extLst>
          </p:cNvPr>
          <p:cNvSpPr>
            <a:spLocks xmlns:a="http://schemas.openxmlformats.org/drawingml/2006/main" noGrp="1"/>
          </p:cNvSpPr>
          <p:nvPr/>
        </p:nvSpPr>
        <p:spPr>
          <a:xfrm xmlns:a="http://schemas.openxmlformats.org/drawingml/2006/main">
            <a:off x="8293608"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6B3A1F"/>
                </a:solidFill>
                <a:latin typeface="Calibri"/>
                <a:ea typeface="Calibri"/>
                <a:cs typeface="Calibri"/>
              </a:rPr>
              <a:t>PRIMARY GOAL</a:t>
            </a:r>
          </a:p>
        </p:txBody>
      </p:sp>
      <p:sp>
        <p:nvSpPr>
          <p:cNvPr id="87" name="Text 85">
            <a:extLst xmlns:a="http://schemas.openxmlformats.org/drawingml/2006/main">
              <a:ext uri="{FF2B5EF4-FFF2-40B4-BE49-F238E27FC236}">
                <a16:creationId xmlns:a16="http://schemas.microsoft.com/office/drawing/2014/main" id="{0BD953A5-CA13-41F2-A2E1-AFE4A1A598DE}"/>
              </a:ext>
            </a:extLst>
          </p:cNvPr>
          <p:cNvSpPr>
            <a:spLocks xmlns:a="http://schemas.openxmlformats.org/drawingml/2006/main" noGrp="1"/>
          </p:cNvSpPr>
          <p:nvPr/>
        </p:nvSpPr>
        <p:spPr>
          <a:xfrm xmlns:a="http://schemas.openxmlformats.org/drawingml/2006/main">
            <a:off x="8293608"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Catch-up Growth</a:t>
            </a:r>
          </a:p>
        </p:txBody>
      </p:sp>
      <p:sp>
        <p:nvSpPr>
          <p:cNvPr id="88" name="Shape 86">
            <a:extLst xmlns:a="http://schemas.openxmlformats.org/drawingml/2006/main">
              <a:ext uri="{FF2B5EF4-FFF2-40B4-BE49-F238E27FC236}">
                <a16:creationId xmlns:a16="http://schemas.microsoft.com/office/drawing/2014/main" id="{1F40E665-4F9D-4D9D-95FC-1AFCD7FFAC28}"/>
              </a:ext>
            </a:extLst>
          </p:cNvPr>
          <p:cNvSpPr>
            <a:spLocks xmlns:a="http://schemas.openxmlformats.org/drawingml/2006/main" noGrp="1"/>
          </p:cNvSpPr>
          <p:nvPr/>
        </p:nvSpPr>
        <p:spPr>
          <a:xfrm xmlns:a="http://schemas.openxmlformats.org/drawingml/2006/main">
            <a:off x="8174736"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89" name="Text 87">
            <a:extLst xmlns:a="http://schemas.openxmlformats.org/drawingml/2006/main">
              <a:ext uri="{FF2B5EF4-FFF2-40B4-BE49-F238E27FC236}">
                <a16:creationId xmlns:a16="http://schemas.microsoft.com/office/drawing/2014/main" id="{55BFA8BD-A405-490E-A0FB-A2E6BFDA453D}"/>
              </a:ext>
            </a:extLst>
          </p:cNvPr>
          <p:cNvSpPr>
            <a:spLocks xmlns:a="http://schemas.openxmlformats.org/drawingml/2006/main" noGrp="1"/>
          </p:cNvSpPr>
          <p:nvPr/>
        </p:nvSpPr>
        <p:spPr>
          <a:xfrm xmlns:a="http://schemas.openxmlformats.org/drawingml/2006/main">
            <a:off x="8293608"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90" name="Text 88">
            <a:extLst xmlns:a="http://schemas.openxmlformats.org/drawingml/2006/main">
              <a:ext uri="{FF2B5EF4-FFF2-40B4-BE49-F238E27FC236}">
                <a16:creationId xmlns:a16="http://schemas.microsoft.com/office/drawing/2014/main" id="{9822CBC6-4DDC-4A63-9206-47DE0A8EED7C}"/>
              </a:ext>
            </a:extLst>
          </p:cNvPr>
          <p:cNvSpPr>
            <a:spLocks xmlns:a="http://schemas.openxmlformats.org/drawingml/2006/main" noGrp="1"/>
          </p:cNvSpPr>
          <p:nvPr/>
        </p:nvSpPr>
        <p:spPr>
          <a:xfrm xmlns:a="http://schemas.openxmlformats.org/drawingml/2006/main">
            <a:off x="8293608"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Under-funded for retirement; short horizon</a:t>
            </a:r>
          </a:p>
        </p:txBody>
      </p:sp>
      <p:sp>
        <p:nvSpPr>
          <p:cNvPr id="91" name="Shape 89">
            <a:extLst xmlns:a="http://schemas.openxmlformats.org/drawingml/2006/main">
              <a:ext uri="{FF2B5EF4-FFF2-40B4-BE49-F238E27FC236}">
                <a16:creationId xmlns:a16="http://schemas.microsoft.com/office/drawing/2014/main" id="{C49085B7-F1F6-4091-9837-EC19B336C9C5}"/>
              </a:ext>
            </a:extLst>
          </p:cNvPr>
          <p:cNvSpPr>
            <a:spLocks xmlns:a="http://schemas.openxmlformats.org/drawingml/2006/main" noGrp="1"/>
          </p:cNvSpPr>
          <p:nvPr/>
        </p:nvSpPr>
        <p:spPr>
          <a:xfrm xmlns:a="http://schemas.openxmlformats.org/drawingml/2006/main">
            <a:off x="8174736" y="5230368"/>
            <a:ext cx="1097280" cy="877824"/>
          </a:xfrm>
          <a:prstGeom xmlns:a="http://schemas.openxmlformats.org/drawingml/2006/main" prst="rect">
            <a:avLst/>
          </a:prstGeom>
          <a:solidFill xmlns:a="http://schemas.openxmlformats.org/drawingml/2006/main">
            <a:srgbClr val="6B3A1F"/>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2" name="Text 90">
            <a:extLst xmlns:a="http://schemas.openxmlformats.org/drawingml/2006/main">
              <a:ext uri="{FF2B5EF4-FFF2-40B4-BE49-F238E27FC236}">
                <a16:creationId xmlns:a16="http://schemas.microsoft.com/office/drawing/2014/main" id="{9452F3FC-6771-4114-83F2-972F7BD968DE}"/>
              </a:ext>
            </a:extLst>
          </p:cNvPr>
          <p:cNvSpPr>
            <a:spLocks xmlns:a="http://schemas.openxmlformats.org/drawingml/2006/main" noGrp="1"/>
          </p:cNvSpPr>
          <p:nvPr/>
        </p:nvSpPr>
        <p:spPr>
          <a:xfrm xmlns:a="http://schemas.openxmlformats.org/drawingml/2006/main">
            <a:off x="819302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93" name="Text 91">
            <a:extLst xmlns:a="http://schemas.openxmlformats.org/drawingml/2006/main">
              <a:ext uri="{FF2B5EF4-FFF2-40B4-BE49-F238E27FC236}">
                <a16:creationId xmlns:a16="http://schemas.microsoft.com/office/drawing/2014/main" id="{43D1EA1C-39FA-484B-9065-D2AB2D8F8D4D}"/>
              </a:ext>
            </a:extLst>
          </p:cNvPr>
          <p:cNvSpPr>
            <a:spLocks xmlns:a="http://schemas.openxmlformats.org/drawingml/2006/main" noGrp="1"/>
          </p:cNvSpPr>
          <p:nvPr/>
        </p:nvSpPr>
        <p:spPr>
          <a:xfrm xmlns:a="http://schemas.openxmlformats.org/drawingml/2006/main">
            <a:off x="822045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10.0%</a:t>
            </a:r>
          </a:p>
        </p:txBody>
      </p:sp>
      <p:sp>
        <p:nvSpPr>
          <p:cNvPr id="94" name="Shape 92">
            <a:extLst xmlns:a="http://schemas.openxmlformats.org/drawingml/2006/main">
              <a:ext uri="{FF2B5EF4-FFF2-40B4-BE49-F238E27FC236}">
                <a16:creationId xmlns:a16="http://schemas.microsoft.com/office/drawing/2014/main" id="{F3D519A5-3CB6-4492-8E27-1B8056B546F0}"/>
              </a:ext>
            </a:extLst>
          </p:cNvPr>
          <p:cNvSpPr>
            <a:spLocks xmlns:a="http://schemas.openxmlformats.org/drawingml/2006/main" noGrp="1"/>
          </p:cNvSpPr>
          <p:nvPr/>
        </p:nvSpPr>
        <p:spPr>
          <a:xfrm xmlns:a="http://schemas.openxmlformats.org/drawingml/2006/main">
            <a:off x="9272016"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5" name="Text 93">
            <a:extLst xmlns:a="http://schemas.openxmlformats.org/drawingml/2006/main">
              <a:ext uri="{FF2B5EF4-FFF2-40B4-BE49-F238E27FC236}">
                <a16:creationId xmlns:a16="http://schemas.microsoft.com/office/drawing/2014/main" id="{9F634689-DA51-445F-866A-39C48CDC26F3}"/>
              </a:ext>
            </a:extLst>
          </p:cNvPr>
          <p:cNvSpPr>
            <a:spLocks xmlns:a="http://schemas.openxmlformats.org/drawingml/2006/main" noGrp="1"/>
          </p:cNvSpPr>
          <p:nvPr/>
        </p:nvSpPr>
        <p:spPr>
          <a:xfrm xmlns:a="http://schemas.openxmlformats.org/drawingml/2006/main">
            <a:off x="929030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96" name="Text 94">
            <a:extLst xmlns:a="http://schemas.openxmlformats.org/drawingml/2006/main">
              <a:ext uri="{FF2B5EF4-FFF2-40B4-BE49-F238E27FC236}">
                <a16:creationId xmlns:a16="http://schemas.microsoft.com/office/drawing/2014/main" id="{5DD218AB-F003-4A42-A9B6-2558F3F0CD11}"/>
              </a:ext>
            </a:extLst>
          </p:cNvPr>
          <p:cNvSpPr>
            <a:spLocks xmlns:a="http://schemas.openxmlformats.org/drawingml/2006/main" noGrp="1"/>
          </p:cNvSpPr>
          <p:nvPr/>
        </p:nvSpPr>
        <p:spPr>
          <a:xfrm xmlns:a="http://schemas.openxmlformats.org/drawingml/2006/main">
            <a:off x="931773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20.0%</a:t>
            </a:r>
          </a:p>
        </p:txBody>
      </p:sp>
      <p:sp>
        <p:nvSpPr>
          <p:cNvPr id="97" name="Shape 95">
            <a:extLst xmlns:a="http://schemas.openxmlformats.org/drawingml/2006/main">
              <a:ext uri="{FF2B5EF4-FFF2-40B4-BE49-F238E27FC236}">
                <a16:creationId xmlns:a16="http://schemas.microsoft.com/office/drawing/2014/main" id="{9A015E38-E9ED-459E-8339-6F0A2C20CB94}"/>
              </a:ext>
            </a:extLst>
          </p:cNvPr>
          <p:cNvSpPr>
            <a:spLocks xmlns:a="http://schemas.openxmlformats.org/drawingml/2006/main" noGrp="1"/>
          </p:cNvSpPr>
          <p:nvPr/>
        </p:nvSpPr>
        <p:spPr>
          <a:xfrm xmlns:a="http://schemas.openxmlformats.org/drawingml/2006/main">
            <a:off x="10369296"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8" name="Text 96">
            <a:extLst xmlns:a="http://schemas.openxmlformats.org/drawingml/2006/main">
              <a:ext uri="{FF2B5EF4-FFF2-40B4-BE49-F238E27FC236}">
                <a16:creationId xmlns:a16="http://schemas.microsoft.com/office/drawing/2014/main" id="{45B0C00C-702B-4DB6-B274-71AB2EDD0214}"/>
              </a:ext>
            </a:extLst>
          </p:cNvPr>
          <p:cNvSpPr>
            <a:spLocks xmlns:a="http://schemas.openxmlformats.org/drawingml/2006/main" noGrp="1"/>
          </p:cNvSpPr>
          <p:nvPr/>
        </p:nvSpPr>
        <p:spPr>
          <a:xfrm xmlns:a="http://schemas.openxmlformats.org/drawingml/2006/main">
            <a:off x="1038758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99" name="Text 97">
            <a:extLst xmlns:a="http://schemas.openxmlformats.org/drawingml/2006/main">
              <a:ext uri="{FF2B5EF4-FFF2-40B4-BE49-F238E27FC236}">
                <a16:creationId xmlns:a16="http://schemas.microsoft.com/office/drawing/2014/main" id="{93AA785E-6717-433B-83C7-658EFA1411FB}"/>
              </a:ext>
            </a:extLst>
          </p:cNvPr>
          <p:cNvSpPr>
            <a:spLocks xmlns:a="http://schemas.openxmlformats.org/drawingml/2006/main" noGrp="1"/>
          </p:cNvSpPr>
          <p:nvPr/>
        </p:nvSpPr>
        <p:spPr>
          <a:xfrm xmlns:a="http://schemas.openxmlformats.org/drawingml/2006/main">
            <a:off x="1041501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2.0</a:t>
            </a:r>
          </a:p>
        </p:txBody>
      </p:sp>
      <p:sp>
        <p:nvSpPr>
          <p:cNvPr id="100" name="Shape 98">
            <a:extLst xmlns:a="http://schemas.openxmlformats.org/drawingml/2006/main">
              <a:ext uri="{FF2B5EF4-FFF2-40B4-BE49-F238E27FC236}">
                <a16:creationId xmlns:a16="http://schemas.microsoft.com/office/drawing/2014/main" id="{C9754B6D-DD5F-4348-8C89-903C9FDFB5C2}"/>
              </a:ext>
            </a:extLst>
          </p:cNvPr>
          <p:cNvSpPr>
            <a:spLocks xmlns:a="http://schemas.openxmlformats.org/drawingml/2006/main" noGrp="1"/>
          </p:cNvSpPr>
          <p:nvPr/>
        </p:nvSpPr>
        <p:spPr>
          <a:xfrm xmlns:a="http://schemas.openxmlformats.org/drawingml/2006/main">
            <a:off x="0" y="6565392"/>
            <a:ext cx="12161520" cy="292608"/>
          </a:xfrm>
          <a:prstGeom xmlns:a="http://schemas.openxmlformats.org/drawingml/2006/main" prst="rect">
            <a:avLst/>
          </a:prstGeom>
          <a:solidFill xmlns:a="http://schemas.openxmlformats.org/drawingml/2006/main">
            <a:srgbClr val="6B3A1F"/>
          </a:solidFill>
          <a:ln xmlns:a="http://schemas.openxmlformats.org/drawingml/2006/main" w="12700">
            <a:solidFill>
              <a:srgbClr val="6B3A1F"/>
            </a:solidFill>
            <a:prstDash val="solid"/>
          </a:ln>
        </p:spPr>
        <p:txBody>
          <a:bodyPr xmlns:a="http://schemas.openxmlformats.org/drawingml/2006/main"/>
          <a:lstStyle xmlns:a="http://schemas.openxmlformats.org/drawingml/2006/main"/>
          <a:p xmlns:a="http://schemas.openxmlformats.org/drawingml/2006/main"/>
        </p:txBody>
      </p:sp>
      <p:sp>
        <p:nvSpPr>
          <p:cNvPr id="101" name="Text 99">
            <a:extLst xmlns:a="http://schemas.openxmlformats.org/drawingml/2006/main">
              <a:ext uri="{FF2B5EF4-FFF2-40B4-BE49-F238E27FC236}">
                <a16:creationId xmlns:a16="http://schemas.microsoft.com/office/drawing/2014/main" id="{CC4FA6CA-73AD-4794-AE1D-D3199B100A96}"/>
              </a:ext>
            </a:extLst>
          </p:cNvPr>
          <p:cNvSpPr>
            <a:spLocks xmlns:a="http://schemas.openxmlformats.org/drawingml/2006/main" noGrp="1"/>
          </p:cNvSpPr>
          <p:nvPr/>
        </p:nvSpPr>
        <p:spPr>
          <a:xfrm xmlns:a="http://schemas.openxmlformats.org/drawingml/2006/main">
            <a:off x="274320" y="6565392"/>
            <a:ext cx="11612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FFFFFF">
                    <a:alpha val="65000"/>
                  </a:srgbClr>
                </a:solidFill>
                <a:latin typeface="Calibri"/>
                <a:ea typeface="Calibri"/>
                <a:cs typeface="Calibri"/>
              </a:rPr>
              <a:t>BUS331 Investments  ·  Endicott College  ·  Team Two</a:t>
            </a:r>
          </a:p>
        </p:txBody>
      </p:sp>
    </p:spTree>
    <p:extLst>
      <p:ext uri="{BB962C8B-B14F-4D97-AF65-F5344CB8AC3E}">
        <p14:creationId xmlns:p14="http://schemas.microsoft.com/office/powerpoint/2010/main" val="2056201190"/>
      </p:ext>
    </p:extLst>
  </p:cSld>
</p:sld>
</file>

<file path=ppt/slides/slide4.xml><?xml version="1.0" encoding="utf-8"?>
<p:sld xmlns:p="http://schemas.openxmlformats.org/presentationml/2006/main">
  <p:cSld>
    <p:bg>
      <p:bgPr>
        <a:solidFill xmlns:a="http://schemas.openxmlformats.org/drawingml/2006/main">
          <a:srgbClr val="F5F0E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0110805-B6B4-4F67-813F-7EB7A6902496}"/>
              </a:ext>
            </a:extLst>
          </p:cNvPr>
          <p:cNvSpPr>
            <a:spLocks xmlns:a="http://schemas.openxmlformats.org/drawingml/2006/main" noGrp="1"/>
          </p:cNvSpPr>
          <p:nvPr/>
        </p:nvSpPr>
        <p:spPr>
          <a:xfrm xmlns:a="http://schemas.openxmlformats.org/drawingml/2006/main">
            <a:off x="0" y="0"/>
            <a:ext cx="12161520" cy="1005840"/>
          </a:xfrm>
          <a:prstGeom xmlns:a="http://schemas.openxmlformats.org/drawingml/2006/main" prst="rect">
            <a:avLst/>
          </a:prstGeom>
          <a:solidFill xmlns:a="http://schemas.openxmlformats.org/drawingml/2006/main">
            <a:srgbClr val="2D5A3D"/>
          </a:solidFill>
          <a:ln xmlns:a="http://schemas.openxmlformats.org/drawingml/2006/main" w="12700">
            <a:solidFill>
              <a:srgbClr val="2D5A3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D6277F78-1B88-4183-938C-EA39413C9243}"/>
              </a:ext>
            </a:extLst>
          </p:cNvPr>
          <p:cNvSpPr>
            <a:spLocks xmlns:a="http://schemas.openxmlformats.org/drawingml/2006/main" noGrp="1"/>
          </p:cNvSpPr>
          <p:nvPr/>
        </p:nvSpPr>
        <p:spPr>
          <a:xfrm xmlns:a="http://schemas.openxmlformats.org/drawingml/2006/main">
            <a:off x="91440" y="-45720"/>
            <a:ext cx="1463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200" b="1">
                <a:solidFill>
                  <a:srgbClr val="FFFFFF">
                    <a:alpha val="25000"/>
                  </a:srgbClr>
                </a:solidFill>
                <a:latin typeface="Georgia"/>
                <a:ea typeface="Georgia"/>
                <a:cs typeface="Georgia"/>
              </a:rPr>
              <a:t>03</a:t>
            </a:r>
          </a:p>
        </p:txBody>
      </p:sp>
      <p:sp>
        <p:nvSpPr>
          <p:cNvPr id="4" name="Text 2">
            <a:extLst xmlns:a="http://schemas.openxmlformats.org/drawingml/2006/main">
              <a:ext uri="{FF2B5EF4-FFF2-40B4-BE49-F238E27FC236}">
                <a16:creationId xmlns:a16="http://schemas.microsoft.com/office/drawing/2014/main" id="{AD5D040E-2580-4E46-9C08-B37E28B8E6E5}"/>
              </a:ext>
            </a:extLst>
          </p:cNvPr>
          <p:cNvSpPr>
            <a:spLocks xmlns:a="http://schemas.openxmlformats.org/drawingml/2006/main" noGrp="1"/>
          </p:cNvSpPr>
          <p:nvPr/>
        </p:nvSpPr>
        <p:spPr>
          <a:xfrm xmlns:a="http://schemas.openxmlformats.org/drawingml/2006/main">
            <a:off x="1371600" y="73152"/>
            <a:ext cx="4572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FFFFFF">
                    <a:alpha val="60000"/>
                  </a:srgbClr>
                </a:solidFill>
                <a:latin typeface="Calibri"/>
                <a:ea typeface="Calibri"/>
                <a:cs typeface="Calibri"/>
              </a:rPr>
              <a:t>TEAM THREE</a:t>
            </a:r>
          </a:p>
        </p:txBody>
      </p:sp>
      <p:sp>
        <p:nvSpPr>
          <p:cNvPr id="5" name="Text 3">
            <a:extLst xmlns:a="http://schemas.openxmlformats.org/drawingml/2006/main">
              <a:ext uri="{FF2B5EF4-FFF2-40B4-BE49-F238E27FC236}">
                <a16:creationId xmlns:a16="http://schemas.microsoft.com/office/drawing/2014/main" id="{79A89183-8AB7-4AD0-A96E-B120E6152D8C}"/>
              </a:ext>
            </a:extLst>
          </p:cNvPr>
          <p:cNvSpPr>
            <a:spLocks xmlns:a="http://schemas.openxmlformats.org/drawingml/2006/main" noGrp="1"/>
          </p:cNvSpPr>
          <p:nvPr/>
        </p:nvSpPr>
        <p:spPr>
          <a:xfrm xmlns:a="http://schemas.openxmlformats.org/drawingml/2006/main">
            <a:off x="1371600" y="457200"/>
            <a:ext cx="7315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Georgia"/>
                <a:ea typeface="Georgia"/>
                <a:cs typeface="Georgia"/>
              </a:rPr>
              <a:t>Team Three · Client Profiles</a:t>
            </a:r>
          </a:p>
        </p:txBody>
      </p:sp>
      <p:sp>
        <p:nvSpPr>
          <p:cNvPr id="6" name="Text 4">
            <a:extLst xmlns:a="http://schemas.openxmlformats.org/drawingml/2006/main">
              <a:ext uri="{FF2B5EF4-FFF2-40B4-BE49-F238E27FC236}">
                <a16:creationId xmlns:a16="http://schemas.microsoft.com/office/drawing/2014/main" id="{FEEA4AEC-EEFA-4CA4-A65A-2CCD8A0139DF}"/>
              </a:ext>
            </a:extLst>
          </p:cNvPr>
          <p:cNvSpPr>
            <a:spLocks xmlns:a="http://schemas.openxmlformats.org/drawingml/2006/main" noGrp="1"/>
          </p:cNvSpPr>
          <p:nvPr/>
        </p:nvSpPr>
        <p:spPr>
          <a:xfrm xmlns:a="http://schemas.openxmlformats.org/drawingml/2006/main">
            <a:off x="10789920" y="274320"/>
            <a:ext cx="1188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FFFFFF">
                    <a:alpha val="50000"/>
                  </a:srgbClr>
                </a:solidFill>
                <a:latin typeface="Calibri"/>
                <a:ea typeface="Calibri"/>
                <a:cs typeface="Calibri"/>
              </a:rPr>
              <a:t>3 / 6</a:t>
            </a:r>
          </a:p>
        </p:txBody>
      </p:sp>
      <p:sp>
        <p:nvSpPr>
          <p:cNvPr id="7" name="Shape 5">
            <a:extLst xmlns:a="http://schemas.openxmlformats.org/drawingml/2006/main">
              <a:ext uri="{FF2B5EF4-FFF2-40B4-BE49-F238E27FC236}">
                <a16:creationId xmlns:a16="http://schemas.microsoft.com/office/drawing/2014/main" id="{6C0DA054-00D2-4398-9674-AC1C218DD78B}"/>
              </a:ext>
            </a:extLst>
          </p:cNvPr>
          <p:cNvSpPr>
            <a:spLocks xmlns:a="http://schemas.openxmlformats.org/drawingml/2006/main" noGrp="1"/>
          </p:cNvSpPr>
          <p:nvPr/>
        </p:nvSpPr>
        <p:spPr>
          <a:xfrm xmlns:a="http://schemas.openxmlformats.org/drawingml/2006/main">
            <a:off x="137160"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F23C5EF7-961F-4CD6-98B5-4E73E9FF405C}"/>
              </a:ext>
            </a:extLst>
          </p:cNvPr>
          <p:cNvSpPr>
            <a:spLocks xmlns:a="http://schemas.openxmlformats.org/drawingml/2006/main" noGrp="1"/>
          </p:cNvSpPr>
          <p:nvPr/>
        </p:nvSpPr>
        <p:spPr>
          <a:xfrm xmlns:a="http://schemas.openxmlformats.org/drawingml/2006/main">
            <a:off x="137160" y="1188720"/>
            <a:ext cx="3749040" cy="109728"/>
          </a:xfrm>
          <a:prstGeom xmlns:a="http://schemas.openxmlformats.org/drawingml/2006/main" prst="rect">
            <a:avLst/>
          </a:prstGeom>
          <a:solidFill xmlns:a="http://schemas.openxmlformats.org/drawingml/2006/main">
            <a:srgbClr val="2D5A3D"/>
          </a:solidFill>
          <a:ln xmlns:a="http://schemas.openxmlformats.org/drawingml/2006/main" w="12700">
            <a:solidFill>
              <a:srgbClr val="2D5A3D"/>
            </a:solidFill>
            <a:prstDash val="solid"/>
          </a:ln>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2FCA3AF8-CC72-4843-BDD7-70CC2E5B2ABD}"/>
              </a:ext>
            </a:extLst>
          </p:cNvPr>
          <p:cNvSpPr>
            <a:spLocks xmlns:a="http://schemas.openxmlformats.org/drawingml/2006/main" noGrp="1"/>
          </p:cNvSpPr>
          <p:nvPr/>
        </p:nvSpPr>
        <p:spPr>
          <a:xfrm xmlns:a="http://schemas.openxmlformats.org/drawingml/2006/main">
            <a:off x="365760" y="1444752"/>
            <a:ext cx="749808" cy="749808"/>
          </a:xfrm>
          <a:prstGeom xmlns:a="http://schemas.openxmlformats.org/drawingml/2006/main" prst="ellipse">
            <a:avLst/>
          </a:prstGeom>
          <a:solidFill xmlns:a="http://schemas.openxmlformats.org/drawingml/2006/main">
            <a:srgbClr val="2D5A3D"/>
          </a:solidFill>
          <a:ln xmlns:a="http://schemas.openxmlformats.org/drawingml/2006/main" w="12700">
            <a:solidFill>
              <a:srgbClr val="2D5A3D"/>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A9319570-AC58-4B5B-A67B-E6A7050070DD}"/>
              </a:ext>
            </a:extLst>
          </p:cNvPr>
          <p:cNvSpPr>
            <a:spLocks xmlns:a="http://schemas.openxmlformats.org/drawingml/2006/main" noGrp="1"/>
          </p:cNvSpPr>
          <p:nvPr/>
        </p:nvSpPr>
        <p:spPr>
          <a:xfrm xmlns:a="http://schemas.openxmlformats.org/drawingml/2006/main">
            <a:off x="365760"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CD</a:t>
            </a:r>
          </a:p>
        </p:txBody>
      </p:sp>
      <p:sp>
        <p:nvSpPr>
          <p:cNvPr id="11" name="Text 9">
            <a:extLst xmlns:a="http://schemas.openxmlformats.org/drawingml/2006/main">
              <a:ext uri="{FF2B5EF4-FFF2-40B4-BE49-F238E27FC236}">
                <a16:creationId xmlns:a16="http://schemas.microsoft.com/office/drawing/2014/main" id="{00002FEE-C37A-4CEA-9F19-746B17FB7621}"/>
              </a:ext>
            </a:extLst>
          </p:cNvPr>
          <p:cNvSpPr>
            <a:spLocks xmlns:a="http://schemas.openxmlformats.org/drawingml/2006/main" noGrp="1"/>
          </p:cNvSpPr>
          <p:nvPr/>
        </p:nvSpPr>
        <p:spPr>
          <a:xfrm xmlns:a="http://schemas.openxmlformats.org/drawingml/2006/main">
            <a:off x="2423160"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#04</a:t>
            </a:r>
          </a:p>
        </p:txBody>
      </p:sp>
      <p:sp>
        <p:nvSpPr>
          <p:cNvPr id="12" name="Text 10">
            <a:extLst xmlns:a="http://schemas.openxmlformats.org/drawingml/2006/main">
              <a:ext uri="{FF2B5EF4-FFF2-40B4-BE49-F238E27FC236}">
                <a16:creationId xmlns:a16="http://schemas.microsoft.com/office/drawing/2014/main" id="{34854814-F464-4F99-ADFC-6153A25DB253}"/>
              </a:ext>
            </a:extLst>
          </p:cNvPr>
          <p:cNvSpPr>
            <a:spLocks xmlns:a="http://schemas.openxmlformats.org/drawingml/2006/main" noGrp="1"/>
          </p:cNvSpPr>
          <p:nvPr/>
        </p:nvSpPr>
        <p:spPr>
          <a:xfrm xmlns:a="http://schemas.openxmlformats.org/drawingml/2006/main">
            <a:off x="1216152"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Chloe Dubois</a:t>
            </a:r>
          </a:p>
        </p:txBody>
      </p:sp>
      <p:sp>
        <p:nvSpPr>
          <p:cNvPr id="13" name="Text 11">
            <a:extLst xmlns:a="http://schemas.openxmlformats.org/drawingml/2006/main">
              <a:ext uri="{FF2B5EF4-FFF2-40B4-BE49-F238E27FC236}">
                <a16:creationId xmlns:a16="http://schemas.microsoft.com/office/drawing/2014/main" id="{8123FDAC-0E6A-4FB3-8693-488884318E6C}"/>
              </a:ext>
            </a:extLst>
          </p:cNvPr>
          <p:cNvSpPr>
            <a:spLocks xmlns:a="http://schemas.openxmlformats.org/drawingml/2006/main" noGrp="1"/>
          </p:cNvSpPr>
          <p:nvPr/>
        </p:nvSpPr>
        <p:spPr>
          <a:xfrm xmlns:a="http://schemas.openxmlformats.org/drawingml/2006/main">
            <a:off x="1216152"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24  ·  Graduate Student</a:t>
            </a:r>
          </a:p>
        </p:txBody>
      </p:sp>
      <p:sp>
        <p:nvSpPr>
          <p:cNvPr id="14" name="Shape 12">
            <a:extLst xmlns:a="http://schemas.openxmlformats.org/drawingml/2006/main">
              <a:ext uri="{FF2B5EF4-FFF2-40B4-BE49-F238E27FC236}">
                <a16:creationId xmlns:a16="http://schemas.microsoft.com/office/drawing/2014/main" id="{8F6DBC7E-40BA-43FC-9885-205EE7931D3F}"/>
              </a:ext>
            </a:extLst>
          </p:cNvPr>
          <p:cNvSpPr>
            <a:spLocks xmlns:a="http://schemas.openxmlformats.org/drawingml/2006/main" noGrp="1"/>
          </p:cNvSpPr>
          <p:nvPr/>
        </p:nvSpPr>
        <p:spPr>
          <a:xfrm xmlns:a="http://schemas.openxmlformats.org/drawingml/2006/main">
            <a:off x="365760" y="2322576"/>
            <a:ext cx="1325880" cy="237744"/>
          </a:xfrm>
          <a:prstGeom xmlns:a="http://schemas.openxmlformats.org/drawingml/2006/main" prst="rect">
            <a:avLst/>
          </a:prstGeom>
          <a:solidFill xmlns:a="http://schemas.openxmlformats.org/drawingml/2006/main">
            <a:srgbClr val="E8F5EE"/>
          </a:solidFill>
          <a:ln xmlns:a="http://schemas.openxmlformats.org/drawingml/2006/main" w="12700">
            <a:solidFill>
              <a:srgbClr val="E8F5EE"/>
            </a:solidFill>
            <a:prstDash val="solid"/>
          </a:ln>
        </p:spPr>
        <p:txBody>
          <a:bodyPr xmlns:a="http://schemas.openxmlformats.org/drawingml/2006/main"/>
          <a:lstStyle xmlns:a="http://schemas.openxmlformats.org/drawingml/2006/main"/>
          <a:p xmlns:a="http://schemas.openxmlformats.org/drawingml/2006/main"/>
        </p:txBody>
      </p:sp>
      <p:sp>
        <p:nvSpPr>
          <p:cNvPr id="15" name="Shape 13">
            <a:extLst xmlns:a="http://schemas.openxmlformats.org/drawingml/2006/main">
              <a:ext uri="{FF2B5EF4-FFF2-40B4-BE49-F238E27FC236}">
                <a16:creationId xmlns:a16="http://schemas.microsoft.com/office/drawing/2014/main" id="{52642913-E2DB-4C08-921A-6DA9E68702FE}"/>
              </a:ext>
            </a:extLst>
          </p:cNvPr>
          <p:cNvSpPr>
            <a:spLocks xmlns:a="http://schemas.openxmlformats.org/drawingml/2006/main" noGrp="1"/>
          </p:cNvSpPr>
          <p:nvPr/>
        </p:nvSpPr>
        <p:spPr>
          <a:xfrm xmlns:a="http://schemas.openxmlformats.org/drawingml/2006/main">
            <a:off x="429768" y="2382012"/>
            <a:ext cx="91440" cy="91440"/>
          </a:xfrm>
          <a:prstGeom xmlns:a="http://schemas.openxmlformats.org/drawingml/2006/main" prst="ellipse">
            <a:avLst/>
          </a:prstGeom>
          <a:solidFill xmlns:a="http://schemas.openxmlformats.org/drawingml/2006/main">
            <a:srgbClr val="2D8A5E"/>
          </a:solidFill>
          <a:ln xmlns:a="http://schemas.openxmlformats.org/drawingml/2006/main" w="12700">
            <a:solidFill>
              <a:srgbClr val="2D8A5E"/>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7C5E90FF-2ACF-4879-A80C-491B37644DD8}"/>
              </a:ext>
            </a:extLst>
          </p:cNvPr>
          <p:cNvSpPr>
            <a:spLocks xmlns:a="http://schemas.openxmlformats.org/drawingml/2006/main" noGrp="1"/>
          </p:cNvSpPr>
          <p:nvPr/>
        </p:nvSpPr>
        <p:spPr>
          <a:xfrm xmlns:a="http://schemas.openxmlformats.org/drawingml/2006/main">
            <a:off x="557784"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2D8A5E"/>
                </a:solidFill>
                <a:latin typeface="Calibri"/>
                <a:ea typeface="Calibri"/>
                <a:cs typeface="Calibri"/>
              </a:rPr>
              <a:t>RISK SEEKING</a:t>
            </a:r>
          </a:p>
        </p:txBody>
      </p:sp>
      <p:sp>
        <p:nvSpPr>
          <p:cNvPr id="17" name="Shape 15">
            <a:extLst xmlns:a="http://schemas.openxmlformats.org/drawingml/2006/main">
              <a:ext uri="{FF2B5EF4-FFF2-40B4-BE49-F238E27FC236}">
                <a16:creationId xmlns:a16="http://schemas.microsoft.com/office/drawing/2014/main" id="{3D95EBD7-75B4-4043-8BEC-381498D49E1D}"/>
              </a:ext>
            </a:extLst>
          </p:cNvPr>
          <p:cNvSpPr>
            <a:spLocks xmlns:a="http://schemas.openxmlformats.org/drawingml/2006/main" noGrp="1"/>
          </p:cNvSpPr>
          <p:nvPr/>
        </p:nvSpPr>
        <p:spPr>
          <a:xfrm xmlns:a="http://schemas.openxmlformats.org/drawingml/2006/main">
            <a:off x="365760"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9CF12378-44F3-4995-942C-2B118DD483A1}"/>
              </a:ext>
            </a:extLst>
          </p:cNvPr>
          <p:cNvSpPr>
            <a:spLocks xmlns:a="http://schemas.openxmlformats.org/drawingml/2006/main" noGrp="1"/>
          </p:cNvSpPr>
          <p:nvPr/>
        </p:nvSpPr>
        <p:spPr>
          <a:xfrm xmlns:a="http://schemas.openxmlformats.org/drawingml/2006/main">
            <a:off x="36576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19" name="Text 17">
            <a:extLst xmlns:a="http://schemas.openxmlformats.org/drawingml/2006/main">
              <a:ext uri="{FF2B5EF4-FFF2-40B4-BE49-F238E27FC236}">
                <a16:creationId xmlns:a16="http://schemas.microsoft.com/office/drawing/2014/main" id="{D4401BD4-85B0-4F4C-99D1-576D2C4BD9F2}"/>
              </a:ext>
            </a:extLst>
          </p:cNvPr>
          <p:cNvSpPr>
            <a:spLocks xmlns:a="http://schemas.openxmlformats.org/drawingml/2006/main" noGrp="1"/>
          </p:cNvSpPr>
          <p:nvPr/>
        </p:nvSpPr>
        <p:spPr>
          <a:xfrm xmlns:a="http://schemas.openxmlformats.org/drawingml/2006/main">
            <a:off x="36576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$0</a:t>
            </a:r>
          </a:p>
        </p:txBody>
      </p:sp>
      <p:sp>
        <p:nvSpPr>
          <p:cNvPr id="20" name="Text 18">
            <a:extLst xmlns:a="http://schemas.openxmlformats.org/drawingml/2006/main">
              <a:ext uri="{FF2B5EF4-FFF2-40B4-BE49-F238E27FC236}">
                <a16:creationId xmlns:a16="http://schemas.microsoft.com/office/drawing/2014/main" id="{FF22CB19-57EB-4ADE-8ADD-2838BB4E4BFA}"/>
              </a:ext>
            </a:extLst>
          </p:cNvPr>
          <p:cNvSpPr>
            <a:spLocks xmlns:a="http://schemas.openxmlformats.org/drawingml/2006/main" noGrp="1"/>
          </p:cNvSpPr>
          <p:nvPr/>
        </p:nvSpPr>
        <p:spPr>
          <a:xfrm xmlns:a="http://schemas.openxmlformats.org/drawingml/2006/main">
            <a:off x="210312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21" name="Text 19">
            <a:extLst xmlns:a="http://schemas.openxmlformats.org/drawingml/2006/main">
              <a:ext uri="{FF2B5EF4-FFF2-40B4-BE49-F238E27FC236}">
                <a16:creationId xmlns:a16="http://schemas.microsoft.com/office/drawing/2014/main" id="{36A3EEB0-EF61-416A-9889-134AB3AC612C}"/>
              </a:ext>
            </a:extLst>
          </p:cNvPr>
          <p:cNvSpPr>
            <a:spLocks xmlns:a="http://schemas.openxmlformats.org/drawingml/2006/main" noGrp="1"/>
          </p:cNvSpPr>
          <p:nvPr/>
        </p:nvSpPr>
        <p:spPr>
          <a:xfrm xmlns:a="http://schemas.openxmlformats.org/drawingml/2006/main">
            <a:off x="210312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$2.5M</a:t>
            </a:r>
          </a:p>
        </p:txBody>
      </p:sp>
      <p:sp>
        <p:nvSpPr>
          <p:cNvPr id="22" name="Shape 20">
            <a:extLst xmlns:a="http://schemas.openxmlformats.org/drawingml/2006/main">
              <a:ext uri="{FF2B5EF4-FFF2-40B4-BE49-F238E27FC236}">
                <a16:creationId xmlns:a16="http://schemas.microsoft.com/office/drawing/2014/main" id="{AB02F76F-5768-4B39-BE61-566572BDB24B}"/>
              </a:ext>
            </a:extLst>
          </p:cNvPr>
          <p:cNvSpPr>
            <a:spLocks xmlns:a="http://schemas.openxmlformats.org/drawingml/2006/main" noGrp="1"/>
          </p:cNvSpPr>
          <p:nvPr/>
        </p:nvSpPr>
        <p:spPr>
          <a:xfrm xmlns:a="http://schemas.openxmlformats.org/drawingml/2006/main">
            <a:off x="365760" y="3456432"/>
            <a:ext cx="3291840" cy="804672"/>
          </a:xfrm>
          <a:prstGeom xmlns:a="http://schemas.openxmlformats.org/drawingml/2006/main" prst="rect">
            <a:avLst/>
          </a:prstGeom>
          <a:solidFill xmlns:a="http://schemas.openxmlformats.org/drawingml/2006/main">
            <a:srgbClr val="D0EBD8"/>
          </a:solidFill>
          <a:ln xmlns:a="http://schemas.openxmlformats.org/drawingml/2006/main" w="12700">
            <a:solidFill>
              <a:srgbClr val="D0EBD8"/>
            </a:solidFill>
            <a:prstDash val="solid"/>
          </a:ln>
        </p:spPr>
        <p:txBody>
          <a:bodyPr xmlns:a="http://schemas.openxmlformats.org/drawingml/2006/main"/>
          <a:lstStyle xmlns:a="http://schemas.openxmlformats.org/drawingml/2006/main"/>
          <a:p xmlns:a="http://schemas.openxmlformats.org/drawingml/2006/main"/>
        </p:txBody>
      </p:sp>
      <p:sp>
        <p:nvSpPr>
          <p:cNvPr id="23" name="Shape 21">
            <a:extLst xmlns:a="http://schemas.openxmlformats.org/drawingml/2006/main">
              <a:ext uri="{FF2B5EF4-FFF2-40B4-BE49-F238E27FC236}">
                <a16:creationId xmlns:a16="http://schemas.microsoft.com/office/drawing/2014/main" id="{260617A6-7B3C-4530-A185-387EAFE29BCE}"/>
              </a:ext>
            </a:extLst>
          </p:cNvPr>
          <p:cNvSpPr>
            <a:spLocks xmlns:a="http://schemas.openxmlformats.org/drawingml/2006/main" noGrp="1"/>
          </p:cNvSpPr>
          <p:nvPr/>
        </p:nvSpPr>
        <p:spPr>
          <a:xfrm xmlns:a="http://schemas.openxmlformats.org/drawingml/2006/main">
            <a:off x="365760" y="3456432"/>
            <a:ext cx="54864" cy="804672"/>
          </a:xfrm>
          <a:prstGeom xmlns:a="http://schemas.openxmlformats.org/drawingml/2006/main" prst="rect">
            <a:avLst/>
          </a:prstGeom>
          <a:solidFill xmlns:a="http://schemas.openxmlformats.org/drawingml/2006/main">
            <a:srgbClr val="2D5A3D"/>
          </a:solidFill>
          <a:ln xmlns:a="http://schemas.openxmlformats.org/drawingml/2006/main" w="12700">
            <a:solidFill>
              <a:srgbClr val="2D5A3D"/>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815EFAC5-5738-4F62-83D9-C294E212B359}"/>
              </a:ext>
            </a:extLst>
          </p:cNvPr>
          <p:cNvSpPr>
            <a:spLocks xmlns:a="http://schemas.openxmlformats.org/drawingml/2006/main" noGrp="1"/>
          </p:cNvSpPr>
          <p:nvPr/>
        </p:nvSpPr>
        <p:spPr>
          <a:xfrm xmlns:a="http://schemas.openxmlformats.org/drawingml/2006/main">
            <a:off x="484632"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2D5A3D"/>
                </a:solidFill>
                <a:latin typeface="Calibri"/>
                <a:ea typeface="Calibri"/>
                <a:cs typeface="Calibri"/>
              </a:rPr>
              <a:t>PRIMARY GOAL</a:t>
            </a:r>
          </a:p>
        </p:txBody>
      </p:sp>
      <p:sp>
        <p:nvSpPr>
          <p:cNvPr id="25" name="Text 23">
            <a:extLst xmlns:a="http://schemas.openxmlformats.org/drawingml/2006/main">
              <a:ext uri="{FF2B5EF4-FFF2-40B4-BE49-F238E27FC236}">
                <a16:creationId xmlns:a16="http://schemas.microsoft.com/office/drawing/2014/main" id="{139968DF-21B9-461C-8FBC-559A973EF4D2}"/>
              </a:ext>
            </a:extLst>
          </p:cNvPr>
          <p:cNvSpPr>
            <a:spLocks xmlns:a="http://schemas.openxmlformats.org/drawingml/2006/main" noGrp="1"/>
          </p:cNvSpPr>
          <p:nvPr/>
        </p:nvSpPr>
        <p:spPr>
          <a:xfrm xmlns:a="http://schemas.openxmlformats.org/drawingml/2006/main">
            <a:off x="484632"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Long-term Wealth Building</a:t>
            </a:r>
          </a:p>
        </p:txBody>
      </p:sp>
      <p:sp>
        <p:nvSpPr>
          <p:cNvPr id="26" name="Shape 24">
            <a:extLst xmlns:a="http://schemas.openxmlformats.org/drawingml/2006/main">
              <a:ext uri="{FF2B5EF4-FFF2-40B4-BE49-F238E27FC236}">
                <a16:creationId xmlns:a16="http://schemas.microsoft.com/office/drawing/2014/main" id="{B0BBF70E-0235-4D41-82F5-73AB4881F962}"/>
              </a:ext>
            </a:extLst>
          </p:cNvPr>
          <p:cNvSpPr>
            <a:spLocks xmlns:a="http://schemas.openxmlformats.org/drawingml/2006/main" noGrp="1"/>
          </p:cNvSpPr>
          <p:nvPr/>
        </p:nvSpPr>
        <p:spPr>
          <a:xfrm xmlns:a="http://schemas.openxmlformats.org/drawingml/2006/main">
            <a:off x="365760"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2DBA34C0-BD42-4126-AF48-5AAA26C383C2}"/>
              </a:ext>
            </a:extLst>
          </p:cNvPr>
          <p:cNvSpPr>
            <a:spLocks xmlns:a="http://schemas.openxmlformats.org/drawingml/2006/main" noGrp="1"/>
          </p:cNvSpPr>
          <p:nvPr/>
        </p:nvSpPr>
        <p:spPr>
          <a:xfrm xmlns:a="http://schemas.openxmlformats.org/drawingml/2006/main">
            <a:off x="484632"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28" name="Text 26">
            <a:extLst xmlns:a="http://schemas.openxmlformats.org/drawingml/2006/main">
              <a:ext uri="{FF2B5EF4-FFF2-40B4-BE49-F238E27FC236}">
                <a16:creationId xmlns:a16="http://schemas.microsoft.com/office/drawing/2014/main" id="{9F6BD518-0BD4-4A83-A763-CA15D6AFF17A}"/>
              </a:ext>
            </a:extLst>
          </p:cNvPr>
          <p:cNvSpPr>
            <a:spLocks xmlns:a="http://schemas.openxmlformats.org/drawingml/2006/main" noGrp="1"/>
          </p:cNvSpPr>
          <p:nvPr/>
        </p:nvSpPr>
        <p:spPr>
          <a:xfrm xmlns:a="http://schemas.openxmlformats.org/drawingml/2006/main">
            <a:off x="484632"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Novice experience; 30+ year horizon</a:t>
            </a:r>
          </a:p>
        </p:txBody>
      </p:sp>
      <p:sp>
        <p:nvSpPr>
          <p:cNvPr id="29" name="Shape 27">
            <a:extLst xmlns:a="http://schemas.openxmlformats.org/drawingml/2006/main">
              <a:ext uri="{FF2B5EF4-FFF2-40B4-BE49-F238E27FC236}">
                <a16:creationId xmlns:a16="http://schemas.microsoft.com/office/drawing/2014/main" id="{561FEC13-E378-4434-A968-6959CC0A2CDE}"/>
              </a:ext>
            </a:extLst>
          </p:cNvPr>
          <p:cNvSpPr>
            <a:spLocks xmlns:a="http://schemas.openxmlformats.org/drawingml/2006/main" noGrp="1"/>
          </p:cNvSpPr>
          <p:nvPr/>
        </p:nvSpPr>
        <p:spPr>
          <a:xfrm xmlns:a="http://schemas.openxmlformats.org/drawingml/2006/main">
            <a:off x="365760" y="5230368"/>
            <a:ext cx="1097280" cy="877824"/>
          </a:xfrm>
          <a:prstGeom xmlns:a="http://schemas.openxmlformats.org/drawingml/2006/main" prst="rect">
            <a:avLst/>
          </a:prstGeom>
          <a:solidFill xmlns:a="http://schemas.openxmlformats.org/drawingml/2006/main">
            <a:srgbClr val="2D5A3D"/>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6AFC5E41-4AEB-42A4-BFDC-294036DD5BF4}"/>
              </a:ext>
            </a:extLst>
          </p:cNvPr>
          <p:cNvSpPr>
            <a:spLocks xmlns:a="http://schemas.openxmlformats.org/drawingml/2006/main" noGrp="1"/>
          </p:cNvSpPr>
          <p:nvPr/>
        </p:nvSpPr>
        <p:spPr>
          <a:xfrm xmlns:a="http://schemas.openxmlformats.org/drawingml/2006/main">
            <a:off x="38404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31" name="Text 29">
            <a:extLst xmlns:a="http://schemas.openxmlformats.org/drawingml/2006/main">
              <a:ext uri="{FF2B5EF4-FFF2-40B4-BE49-F238E27FC236}">
                <a16:creationId xmlns:a16="http://schemas.microsoft.com/office/drawing/2014/main" id="{48EF376D-53E0-41A2-8D5D-D276F3403A57}"/>
              </a:ext>
            </a:extLst>
          </p:cNvPr>
          <p:cNvSpPr>
            <a:spLocks xmlns:a="http://schemas.openxmlformats.org/drawingml/2006/main" noGrp="1"/>
          </p:cNvSpPr>
          <p:nvPr/>
        </p:nvSpPr>
        <p:spPr>
          <a:xfrm xmlns:a="http://schemas.openxmlformats.org/drawingml/2006/main">
            <a:off x="41148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9.5%</a:t>
            </a:r>
          </a:p>
        </p:txBody>
      </p:sp>
      <p:sp>
        <p:nvSpPr>
          <p:cNvPr id="32" name="Shape 30">
            <a:extLst xmlns:a="http://schemas.openxmlformats.org/drawingml/2006/main">
              <a:ext uri="{FF2B5EF4-FFF2-40B4-BE49-F238E27FC236}">
                <a16:creationId xmlns:a16="http://schemas.microsoft.com/office/drawing/2014/main" id="{A44F8411-504D-46AE-885A-56B69B11AE15}"/>
              </a:ext>
            </a:extLst>
          </p:cNvPr>
          <p:cNvSpPr>
            <a:spLocks xmlns:a="http://schemas.openxmlformats.org/drawingml/2006/main" noGrp="1"/>
          </p:cNvSpPr>
          <p:nvPr/>
        </p:nvSpPr>
        <p:spPr>
          <a:xfrm xmlns:a="http://schemas.openxmlformats.org/drawingml/2006/main">
            <a:off x="1463040"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69CE069E-9F3D-46BE-997C-C423FA520999}"/>
              </a:ext>
            </a:extLst>
          </p:cNvPr>
          <p:cNvSpPr>
            <a:spLocks xmlns:a="http://schemas.openxmlformats.org/drawingml/2006/main" noGrp="1"/>
          </p:cNvSpPr>
          <p:nvPr/>
        </p:nvSpPr>
        <p:spPr>
          <a:xfrm xmlns:a="http://schemas.openxmlformats.org/drawingml/2006/main">
            <a:off x="148132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34" name="Text 32">
            <a:extLst xmlns:a="http://schemas.openxmlformats.org/drawingml/2006/main">
              <a:ext uri="{FF2B5EF4-FFF2-40B4-BE49-F238E27FC236}">
                <a16:creationId xmlns:a16="http://schemas.microsoft.com/office/drawing/2014/main" id="{77955A62-7BA9-4626-A955-B98E3F91B975}"/>
              </a:ext>
            </a:extLst>
          </p:cNvPr>
          <p:cNvSpPr>
            <a:spLocks xmlns:a="http://schemas.openxmlformats.org/drawingml/2006/main" noGrp="1"/>
          </p:cNvSpPr>
          <p:nvPr/>
        </p:nvSpPr>
        <p:spPr>
          <a:xfrm xmlns:a="http://schemas.openxmlformats.org/drawingml/2006/main">
            <a:off x="150876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18.0%</a:t>
            </a:r>
          </a:p>
        </p:txBody>
      </p:sp>
      <p:sp>
        <p:nvSpPr>
          <p:cNvPr id="35" name="Shape 33">
            <a:extLst xmlns:a="http://schemas.openxmlformats.org/drawingml/2006/main">
              <a:ext uri="{FF2B5EF4-FFF2-40B4-BE49-F238E27FC236}">
                <a16:creationId xmlns:a16="http://schemas.microsoft.com/office/drawing/2014/main" id="{985E51EE-D657-46C1-BDE3-E4D0DB4F9294}"/>
              </a:ext>
            </a:extLst>
          </p:cNvPr>
          <p:cNvSpPr>
            <a:spLocks xmlns:a="http://schemas.openxmlformats.org/drawingml/2006/main" noGrp="1"/>
          </p:cNvSpPr>
          <p:nvPr/>
        </p:nvSpPr>
        <p:spPr>
          <a:xfrm xmlns:a="http://schemas.openxmlformats.org/drawingml/2006/main">
            <a:off x="2560320"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328FB67F-1D51-4298-BBC8-A9945A567BCD}"/>
              </a:ext>
            </a:extLst>
          </p:cNvPr>
          <p:cNvSpPr>
            <a:spLocks xmlns:a="http://schemas.openxmlformats.org/drawingml/2006/main" noGrp="1"/>
          </p:cNvSpPr>
          <p:nvPr/>
        </p:nvSpPr>
        <p:spPr>
          <a:xfrm xmlns:a="http://schemas.openxmlformats.org/drawingml/2006/main">
            <a:off x="257860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37" name="Text 35">
            <a:extLst xmlns:a="http://schemas.openxmlformats.org/drawingml/2006/main">
              <a:ext uri="{FF2B5EF4-FFF2-40B4-BE49-F238E27FC236}">
                <a16:creationId xmlns:a16="http://schemas.microsoft.com/office/drawing/2014/main" id="{4B4BF6CA-83B9-4AB9-95F7-F0B73D8B204B}"/>
              </a:ext>
            </a:extLst>
          </p:cNvPr>
          <p:cNvSpPr>
            <a:spLocks xmlns:a="http://schemas.openxmlformats.org/drawingml/2006/main" noGrp="1"/>
          </p:cNvSpPr>
          <p:nvPr/>
        </p:nvSpPr>
        <p:spPr>
          <a:xfrm xmlns:a="http://schemas.openxmlformats.org/drawingml/2006/main">
            <a:off x="260604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2.5</a:t>
            </a:r>
          </a:p>
        </p:txBody>
      </p:sp>
      <p:sp>
        <p:nvSpPr>
          <p:cNvPr id="38" name="Shape 36">
            <a:extLst xmlns:a="http://schemas.openxmlformats.org/drawingml/2006/main">
              <a:ext uri="{FF2B5EF4-FFF2-40B4-BE49-F238E27FC236}">
                <a16:creationId xmlns:a16="http://schemas.microsoft.com/office/drawing/2014/main" id="{B6B5056C-76FC-4787-811E-87D3256A2AFE}"/>
              </a:ext>
            </a:extLst>
          </p:cNvPr>
          <p:cNvSpPr>
            <a:spLocks xmlns:a="http://schemas.openxmlformats.org/drawingml/2006/main" noGrp="1"/>
          </p:cNvSpPr>
          <p:nvPr/>
        </p:nvSpPr>
        <p:spPr>
          <a:xfrm xmlns:a="http://schemas.openxmlformats.org/drawingml/2006/main">
            <a:off x="4041648"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39" name="Shape 37">
            <a:extLst xmlns:a="http://schemas.openxmlformats.org/drawingml/2006/main">
              <a:ext uri="{FF2B5EF4-FFF2-40B4-BE49-F238E27FC236}">
                <a16:creationId xmlns:a16="http://schemas.microsoft.com/office/drawing/2014/main" id="{D3D40A80-7A62-4B88-A7BF-15EFE22A0539}"/>
              </a:ext>
            </a:extLst>
          </p:cNvPr>
          <p:cNvSpPr>
            <a:spLocks xmlns:a="http://schemas.openxmlformats.org/drawingml/2006/main" noGrp="1"/>
          </p:cNvSpPr>
          <p:nvPr/>
        </p:nvSpPr>
        <p:spPr>
          <a:xfrm xmlns:a="http://schemas.openxmlformats.org/drawingml/2006/main">
            <a:off x="4041648" y="1188720"/>
            <a:ext cx="3749040" cy="109728"/>
          </a:xfrm>
          <a:prstGeom xmlns:a="http://schemas.openxmlformats.org/drawingml/2006/main" prst="rect">
            <a:avLst/>
          </a:prstGeom>
          <a:solidFill xmlns:a="http://schemas.openxmlformats.org/drawingml/2006/main">
            <a:srgbClr val="2D5A3D"/>
          </a:solidFill>
          <a:ln xmlns:a="http://schemas.openxmlformats.org/drawingml/2006/main" w="12700">
            <a:solidFill>
              <a:srgbClr val="2D5A3D"/>
            </a:solidFill>
            <a:prstDash val="solid"/>
          </a:ln>
        </p:spPr>
        <p:txBody>
          <a:bodyPr xmlns:a="http://schemas.openxmlformats.org/drawingml/2006/main"/>
          <a:lstStyle xmlns:a="http://schemas.openxmlformats.org/drawingml/2006/main"/>
          <a:p xmlns:a="http://schemas.openxmlformats.org/drawingml/2006/main"/>
        </p:txBody>
      </p:sp>
      <p:sp>
        <p:nvSpPr>
          <p:cNvPr id="40" name="Shape 38">
            <a:extLst xmlns:a="http://schemas.openxmlformats.org/drawingml/2006/main">
              <a:ext uri="{FF2B5EF4-FFF2-40B4-BE49-F238E27FC236}">
                <a16:creationId xmlns:a16="http://schemas.microsoft.com/office/drawing/2014/main" id="{3B50C23E-E992-4A01-971E-E912BECB0CFF}"/>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ellipse">
            <a:avLst/>
          </a:prstGeom>
          <a:solidFill xmlns:a="http://schemas.openxmlformats.org/drawingml/2006/main">
            <a:srgbClr val="2D5A3D"/>
          </a:solidFill>
          <a:ln xmlns:a="http://schemas.openxmlformats.org/drawingml/2006/main" w="12700">
            <a:solidFill>
              <a:srgbClr val="2D5A3D"/>
            </a:solidFill>
            <a:prstDash val="solid"/>
          </a:ln>
        </p:spPr>
        <p:txBody>
          <a:bodyPr xmlns:a="http://schemas.openxmlformats.org/drawingml/2006/main"/>
          <a:lstStyle xmlns:a="http://schemas.openxmlformats.org/drawingml/2006/main"/>
          <a:p xmlns:a="http://schemas.openxmlformats.org/drawingml/2006/main"/>
        </p:txBody>
      </p:sp>
      <p:sp>
        <p:nvSpPr>
          <p:cNvPr id="41" name="Text 39">
            <a:extLst xmlns:a="http://schemas.openxmlformats.org/drawingml/2006/main">
              <a:ext uri="{FF2B5EF4-FFF2-40B4-BE49-F238E27FC236}">
                <a16:creationId xmlns:a16="http://schemas.microsoft.com/office/drawing/2014/main" id="{02E0B231-1FFC-4F27-BDA2-5FB8FEB138F3}"/>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AO</a:t>
            </a:r>
          </a:p>
        </p:txBody>
      </p:sp>
      <p:sp>
        <p:nvSpPr>
          <p:cNvPr id="42" name="Text 40">
            <a:extLst xmlns:a="http://schemas.openxmlformats.org/drawingml/2006/main">
              <a:ext uri="{FF2B5EF4-FFF2-40B4-BE49-F238E27FC236}">
                <a16:creationId xmlns:a16="http://schemas.microsoft.com/office/drawing/2014/main" id="{CFF6B2A9-356F-4F9F-B7D6-2CD42392A080}"/>
              </a:ext>
            </a:extLst>
          </p:cNvPr>
          <p:cNvSpPr>
            <a:spLocks xmlns:a="http://schemas.openxmlformats.org/drawingml/2006/main" noGrp="1"/>
          </p:cNvSpPr>
          <p:nvPr/>
        </p:nvSpPr>
        <p:spPr>
          <a:xfrm xmlns:a="http://schemas.openxmlformats.org/drawingml/2006/main">
            <a:off x="6327648"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#06</a:t>
            </a:r>
          </a:p>
        </p:txBody>
      </p:sp>
      <p:sp>
        <p:nvSpPr>
          <p:cNvPr id="43" name="Text 41">
            <a:extLst xmlns:a="http://schemas.openxmlformats.org/drawingml/2006/main">
              <a:ext uri="{FF2B5EF4-FFF2-40B4-BE49-F238E27FC236}">
                <a16:creationId xmlns:a16="http://schemas.microsoft.com/office/drawing/2014/main" id="{A6FCE45A-77AF-4E2C-90D4-5470CCD2DE0B}"/>
              </a:ext>
            </a:extLst>
          </p:cNvPr>
          <p:cNvSpPr>
            <a:spLocks xmlns:a="http://schemas.openxmlformats.org/drawingml/2006/main" noGrp="1"/>
          </p:cNvSpPr>
          <p:nvPr/>
        </p:nvSpPr>
        <p:spPr>
          <a:xfrm xmlns:a="http://schemas.openxmlformats.org/drawingml/2006/main">
            <a:off x="5120640"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Dr. Amara Okafor</a:t>
            </a:r>
          </a:p>
        </p:txBody>
      </p:sp>
      <p:sp>
        <p:nvSpPr>
          <p:cNvPr id="44" name="Text 42">
            <a:extLst xmlns:a="http://schemas.openxmlformats.org/drawingml/2006/main">
              <a:ext uri="{FF2B5EF4-FFF2-40B4-BE49-F238E27FC236}">
                <a16:creationId xmlns:a16="http://schemas.microsoft.com/office/drawing/2014/main" id="{DE019426-1538-472E-9B8E-97C35A751F4D}"/>
              </a:ext>
            </a:extLst>
          </p:cNvPr>
          <p:cNvSpPr>
            <a:spLocks xmlns:a="http://schemas.openxmlformats.org/drawingml/2006/main" noGrp="1"/>
          </p:cNvSpPr>
          <p:nvPr/>
        </p:nvSpPr>
        <p:spPr>
          <a:xfrm xmlns:a="http://schemas.openxmlformats.org/drawingml/2006/main">
            <a:off x="5120640"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42  ·  Pediatrician</a:t>
            </a:r>
          </a:p>
        </p:txBody>
      </p:sp>
      <p:sp>
        <p:nvSpPr>
          <p:cNvPr id="45" name="Shape 43">
            <a:extLst xmlns:a="http://schemas.openxmlformats.org/drawingml/2006/main">
              <a:ext uri="{FF2B5EF4-FFF2-40B4-BE49-F238E27FC236}">
                <a16:creationId xmlns:a16="http://schemas.microsoft.com/office/drawing/2014/main" id="{3B49A8F6-4139-4BCB-A34A-57BB8DDC6A85}"/>
              </a:ext>
            </a:extLst>
          </p:cNvPr>
          <p:cNvSpPr>
            <a:spLocks xmlns:a="http://schemas.openxmlformats.org/drawingml/2006/main" noGrp="1"/>
          </p:cNvSpPr>
          <p:nvPr/>
        </p:nvSpPr>
        <p:spPr>
          <a:xfrm xmlns:a="http://schemas.openxmlformats.org/drawingml/2006/main">
            <a:off x="4270248" y="2322576"/>
            <a:ext cx="1325880" cy="237744"/>
          </a:xfrm>
          <a:prstGeom xmlns:a="http://schemas.openxmlformats.org/drawingml/2006/main" prst="rect">
            <a:avLst/>
          </a:prstGeom>
          <a:solidFill xmlns:a="http://schemas.openxmlformats.org/drawingml/2006/main">
            <a:srgbClr val="E8F0FF"/>
          </a:solidFill>
          <a:ln xmlns:a="http://schemas.openxmlformats.org/drawingml/2006/main" w="12700">
            <a:solidFill>
              <a:srgbClr val="E8F0FF"/>
            </a:solidFill>
            <a:prstDash val="solid"/>
          </a:ln>
        </p:spPr>
        <p:txBody>
          <a:bodyPr xmlns:a="http://schemas.openxmlformats.org/drawingml/2006/main"/>
          <a:lstStyle xmlns:a="http://schemas.openxmlformats.org/drawingml/2006/main"/>
          <a:p xmlns:a="http://schemas.openxmlformats.org/drawingml/2006/main"/>
        </p:txBody>
      </p:sp>
      <p:sp>
        <p:nvSpPr>
          <p:cNvPr id="46" name="Shape 44">
            <a:extLst xmlns:a="http://schemas.openxmlformats.org/drawingml/2006/main">
              <a:ext uri="{FF2B5EF4-FFF2-40B4-BE49-F238E27FC236}">
                <a16:creationId xmlns:a16="http://schemas.microsoft.com/office/drawing/2014/main" id="{272EEFA5-C9A7-47FC-8D98-3B76D256781B}"/>
              </a:ext>
            </a:extLst>
          </p:cNvPr>
          <p:cNvSpPr>
            <a:spLocks xmlns:a="http://schemas.openxmlformats.org/drawingml/2006/main" noGrp="1"/>
          </p:cNvSpPr>
          <p:nvPr/>
        </p:nvSpPr>
        <p:spPr>
          <a:xfrm xmlns:a="http://schemas.openxmlformats.org/drawingml/2006/main">
            <a:off x="4334256" y="2382012"/>
            <a:ext cx="91440" cy="91440"/>
          </a:xfrm>
          <a:prstGeom xmlns:a="http://schemas.openxmlformats.org/drawingml/2006/main" prst="ellipse">
            <a:avLst/>
          </a:prstGeom>
          <a:solidFill xmlns:a="http://schemas.openxmlformats.org/drawingml/2006/main">
            <a:srgbClr val="3A6EA5"/>
          </a:solidFill>
          <a:ln xmlns:a="http://schemas.openxmlformats.org/drawingml/2006/main" w="12700">
            <a:solidFill>
              <a:srgbClr val="3A6EA5"/>
            </a:solidFill>
            <a:prstDash val="solid"/>
          </a:ln>
        </p:spPr>
        <p:txBody>
          <a:bodyPr xmlns:a="http://schemas.openxmlformats.org/drawingml/2006/main"/>
          <a:lstStyle xmlns:a="http://schemas.openxmlformats.org/drawingml/2006/main"/>
          <a:p xmlns:a="http://schemas.openxmlformats.org/drawingml/2006/main"/>
        </p:txBody>
      </p:sp>
      <p:sp>
        <p:nvSpPr>
          <p:cNvPr id="47" name="Text 45">
            <a:extLst xmlns:a="http://schemas.openxmlformats.org/drawingml/2006/main">
              <a:ext uri="{FF2B5EF4-FFF2-40B4-BE49-F238E27FC236}">
                <a16:creationId xmlns:a16="http://schemas.microsoft.com/office/drawing/2014/main" id="{5A28A6A9-6D69-4FAB-A48F-DC12D01C60A8}"/>
              </a:ext>
            </a:extLst>
          </p:cNvPr>
          <p:cNvSpPr>
            <a:spLocks xmlns:a="http://schemas.openxmlformats.org/drawingml/2006/main" noGrp="1"/>
          </p:cNvSpPr>
          <p:nvPr/>
        </p:nvSpPr>
        <p:spPr>
          <a:xfrm xmlns:a="http://schemas.openxmlformats.org/drawingml/2006/main">
            <a:off x="4462272"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3A6EA5"/>
                </a:solidFill>
                <a:latin typeface="Calibri"/>
                <a:ea typeface="Calibri"/>
                <a:cs typeface="Calibri"/>
              </a:rPr>
              <a:t>RISK NEUTRAL</a:t>
            </a:r>
          </a:p>
        </p:txBody>
      </p:sp>
      <p:sp>
        <p:nvSpPr>
          <p:cNvPr id="48" name="Shape 46">
            <a:extLst xmlns:a="http://schemas.openxmlformats.org/drawingml/2006/main">
              <a:ext uri="{FF2B5EF4-FFF2-40B4-BE49-F238E27FC236}">
                <a16:creationId xmlns:a16="http://schemas.microsoft.com/office/drawing/2014/main" id="{08E1FC4D-FE7E-4026-8F09-D89C15A361BB}"/>
              </a:ext>
            </a:extLst>
          </p:cNvPr>
          <p:cNvSpPr>
            <a:spLocks xmlns:a="http://schemas.openxmlformats.org/drawingml/2006/main" noGrp="1"/>
          </p:cNvSpPr>
          <p:nvPr/>
        </p:nvSpPr>
        <p:spPr>
          <a:xfrm xmlns:a="http://schemas.openxmlformats.org/drawingml/2006/main">
            <a:off x="4270248"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49" name="Text 47">
            <a:extLst xmlns:a="http://schemas.openxmlformats.org/drawingml/2006/main">
              <a:ext uri="{FF2B5EF4-FFF2-40B4-BE49-F238E27FC236}">
                <a16:creationId xmlns:a16="http://schemas.microsoft.com/office/drawing/2014/main" id="{902448B7-B6BE-4D65-8367-9FC54EE2262C}"/>
              </a:ext>
            </a:extLst>
          </p:cNvPr>
          <p:cNvSpPr>
            <a:spLocks xmlns:a="http://schemas.openxmlformats.org/drawingml/2006/main" noGrp="1"/>
          </p:cNvSpPr>
          <p:nvPr/>
        </p:nvSpPr>
        <p:spPr>
          <a:xfrm xmlns:a="http://schemas.openxmlformats.org/drawingml/2006/main">
            <a:off x="427024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50" name="Text 48">
            <a:extLst xmlns:a="http://schemas.openxmlformats.org/drawingml/2006/main">
              <a:ext uri="{FF2B5EF4-FFF2-40B4-BE49-F238E27FC236}">
                <a16:creationId xmlns:a16="http://schemas.microsoft.com/office/drawing/2014/main" id="{AE43745A-9B47-4416-A7B2-ABCAA7FEA02F}"/>
              </a:ext>
            </a:extLst>
          </p:cNvPr>
          <p:cNvSpPr>
            <a:spLocks xmlns:a="http://schemas.openxmlformats.org/drawingml/2006/main" noGrp="1"/>
          </p:cNvSpPr>
          <p:nvPr/>
        </p:nvSpPr>
        <p:spPr>
          <a:xfrm xmlns:a="http://schemas.openxmlformats.org/drawingml/2006/main">
            <a:off x="427024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$280,000</a:t>
            </a:r>
          </a:p>
        </p:txBody>
      </p:sp>
      <p:sp>
        <p:nvSpPr>
          <p:cNvPr id="51" name="Text 49">
            <a:extLst xmlns:a="http://schemas.openxmlformats.org/drawingml/2006/main">
              <a:ext uri="{FF2B5EF4-FFF2-40B4-BE49-F238E27FC236}">
                <a16:creationId xmlns:a16="http://schemas.microsoft.com/office/drawing/2014/main" id="{84E8CACD-5F5F-41EE-89C8-0FA1B345AB5E}"/>
              </a:ext>
            </a:extLst>
          </p:cNvPr>
          <p:cNvSpPr>
            <a:spLocks xmlns:a="http://schemas.openxmlformats.org/drawingml/2006/main" noGrp="1"/>
          </p:cNvSpPr>
          <p:nvPr/>
        </p:nvSpPr>
        <p:spPr>
          <a:xfrm xmlns:a="http://schemas.openxmlformats.org/drawingml/2006/main">
            <a:off x="600760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52" name="Text 50">
            <a:extLst xmlns:a="http://schemas.openxmlformats.org/drawingml/2006/main">
              <a:ext uri="{FF2B5EF4-FFF2-40B4-BE49-F238E27FC236}">
                <a16:creationId xmlns:a16="http://schemas.microsoft.com/office/drawing/2014/main" id="{7A18E9DD-74D7-4D03-8C21-387E1AB2A938}"/>
              </a:ext>
            </a:extLst>
          </p:cNvPr>
          <p:cNvSpPr>
            <a:spLocks xmlns:a="http://schemas.openxmlformats.org/drawingml/2006/main" noGrp="1"/>
          </p:cNvSpPr>
          <p:nvPr/>
        </p:nvSpPr>
        <p:spPr>
          <a:xfrm xmlns:a="http://schemas.openxmlformats.org/drawingml/2006/main">
            <a:off x="600760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$850,000</a:t>
            </a:r>
          </a:p>
        </p:txBody>
      </p:sp>
      <p:sp>
        <p:nvSpPr>
          <p:cNvPr id="53" name="Shape 51">
            <a:extLst xmlns:a="http://schemas.openxmlformats.org/drawingml/2006/main">
              <a:ext uri="{FF2B5EF4-FFF2-40B4-BE49-F238E27FC236}">
                <a16:creationId xmlns:a16="http://schemas.microsoft.com/office/drawing/2014/main" id="{9DE74988-DC29-4A94-BE48-ABFE4AB20494}"/>
              </a:ext>
            </a:extLst>
          </p:cNvPr>
          <p:cNvSpPr>
            <a:spLocks xmlns:a="http://schemas.openxmlformats.org/drawingml/2006/main" noGrp="1"/>
          </p:cNvSpPr>
          <p:nvPr/>
        </p:nvSpPr>
        <p:spPr>
          <a:xfrm xmlns:a="http://schemas.openxmlformats.org/drawingml/2006/main">
            <a:off x="4270248" y="3456432"/>
            <a:ext cx="3291840" cy="804672"/>
          </a:xfrm>
          <a:prstGeom xmlns:a="http://schemas.openxmlformats.org/drawingml/2006/main" prst="rect">
            <a:avLst/>
          </a:prstGeom>
          <a:solidFill xmlns:a="http://schemas.openxmlformats.org/drawingml/2006/main">
            <a:srgbClr val="D0EBD8"/>
          </a:solidFill>
          <a:ln xmlns:a="http://schemas.openxmlformats.org/drawingml/2006/main" w="12700">
            <a:solidFill>
              <a:srgbClr val="D0EBD8"/>
            </a:solidFill>
            <a:prstDash val="solid"/>
          </a:ln>
        </p:spPr>
        <p:txBody>
          <a:bodyPr xmlns:a="http://schemas.openxmlformats.org/drawingml/2006/main"/>
          <a:lstStyle xmlns:a="http://schemas.openxmlformats.org/drawingml/2006/main"/>
          <a:p xmlns:a="http://schemas.openxmlformats.org/drawingml/2006/main"/>
        </p:txBody>
      </p:sp>
      <p:sp>
        <p:nvSpPr>
          <p:cNvPr id="54" name="Shape 52">
            <a:extLst xmlns:a="http://schemas.openxmlformats.org/drawingml/2006/main">
              <a:ext uri="{FF2B5EF4-FFF2-40B4-BE49-F238E27FC236}">
                <a16:creationId xmlns:a16="http://schemas.microsoft.com/office/drawing/2014/main" id="{A74388C9-D6C4-4A16-91B7-5CC48E9EC8C6}"/>
              </a:ext>
            </a:extLst>
          </p:cNvPr>
          <p:cNvSpPr>
            <a:spLocks xmlns:a="http://schemas.openxmlformats.org/drawingml/2006/main" noGrp="1"/>
          </p:cNvSpPr>
          <p:nvPr/>
        </p:nvSpPr>
        <p:spPr>
          <a:xfrm xmlns:a="http://schemas.openxmlformats.org/drawingml/2006/main">
            <a:off x="4270248" y="3456432"/>
            <a:ext cx="54864" cy="804672"/>
          </a:xfrm>
          <a:prstGeom xmlns:a="http://schemas.openxmlformats.org/drawingml/2006/main" prst="rect">
            <a:avLst/>
          </a:prstGeom>
          <a:solidFill xmlns:a="http://schemas.openxmlformats.org/drawingml/2006/main">
            <a:srgbClr val="2D5A3D"/>
          </a:solidFill>
          <a:ln xmlns:a="http://schemas.openxmlformats.org/drawingml/2006/main" w="12700">
            <a:solidFill>
              <a:srgbClr val="2D5A3D"/>
            </a:solidFill>
            <a:prstDash val="solid"/>
          </a:ln>
        </p:spPr>
        <p:txBody>
          <a:bodyPr xmlns:a="http://schemas.openxmlformats.org/drawingml/2006/main"/>
          <a:lstStyle xmlns:a="http://schemas.openxmlformats.org/drawingml/2006/main"/>
          <a:p xmlns:a="http://schemas.openxmlformats.org/drawingml/2006/main"/>
        </p:txBody>
      </p:sp>
      <p:sp>
        <p:nvSpPr>
          <p:cNvPr id="55" name="Text 53">
            <a:extLst xmlns:a="http://schemas.openxmlformats.org/drawingml/2006/main">
              <a:ext uri="{FF2B5EF4-FFF2-40B4-BE49-F238E27FC236}">
                <a16:creationId xmlns:a16="http://schemas.microsoft.com/office/drawing/2014/main" id="{87CC1F04-D233-471F-BB1D-0B2AAC2B9D93}"/>
              </a:ext>
            </a:extLst>
          </p:cNvPr>
          <p:cNvSpPr>
            <a:spLocks xmlns:a="http://schemas.openxmlformats.org/drawingml/2006/main" noGrp="1"/>
          </p:cNvSpPr>
          <p:nvPr/>
        </p:nvSpPr>
        <p:spPr>
          <a:xfrm xmlns:a="http://schemas.openxmlformats.org/drawingml/2006/main">
            <a:off x="4389120"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2D5A3D"/>
                </a:solidFill>
                <a:latin typeface="Calibri"/>
                <a:ea typeface="Calibri"/>
                <a:cs typeface="Calibri"/>
              </a:rPr>
              <a:t>PRIMARY GOAL</a:t>
            </a:r>
          </a:p>
        </p:txBody>
      </p:sp>
      <p:sp>
        <p:nvSpPr>
          <p:cNvPr id="56" name="Text 54">
            <a:extLst xmlns:a="http://schemas.openxmlformats.org/drawingml/2006/main">
              <a:ext uri="{FF2B5EF4-FFF2-40B4-BE49-F238E27FC236}">
                <a16:creationId xmlns:a16="http://schemas.microsoft.com/office/drawing/2014/main" id="{6518025C-7CE1-4959-BCAB-BF84BB2D3577}"/>
              </a:ext>
            </a:extLst>
          </p:cNvPr>
          <p:cNvSpPr>
            <a:spLocks xmlns:a="http://schemas.openxmlformats.org/drawingml/2006/main" noGrp="1"/>
          </p:cNvSpPr>
          <p:nvPr/>
        </p:nvSpPr>
        <p:spPr>
          <a:xfrm xmlns:a="http://schemas.openxmlformats.org/drawingml/2006/main">
            <a:off x="4389120"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Ethical Growth</a:t>
            </a:r>
          </a:p>
        </p:txBody>
      </p:sp>
      <p:sp>
        <p:nvSpPr>
          <p:cNvPr id="57" name="Shape 55">
            <a:extLst xmlns:a="http://schemas.openxmlformats.org/drawingml/2006/main">
              <a:ext uri="{FF2B5EF4-FFF2-40B4-BE49-F238E27FC236}">
                <a16:creationId xmlns:a16="http://schemas.microsoft.com/office/drawing/2014/main" id="{E9637EDB-C2C1-48BA-94CB-270CAAA1FC94}"/>
              </a:ext>
            </a:extLst>
          </p:cNvPr>
          <p:cNvSpPr>
            <a:spLocks xmlns:a="http://schemas.openxmlformats.org/drawingml/2006/main" noGrp="1"/>
          </p:cNvSpPr>
          <p:nvPr/>
        </p:nvSpPr>
        <p:spPr>
          <a:xfrm xmlns:a="http://schemas.openxmlformats.org/drawingml/2006/main">
            <a:off x="4270248"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58" name="Text 56">
            <a:extLst xmlns:a="http://schemas.openxmlformats.org/drawingml/2006/main">
              <a:ext uri="{FF2B5EF4-FFF2-40B4-BE49-F238E27FC236}">
                <a16:creationId xmlns:a16="http://schemas.microsoft.com/office/drawing/2014/main" id="{A769D9AB-AD11-46E8-9631-AE2DF093560E}"/>
              </a:ext>
            </a:extLst>
          </p:cNvPr>
          <p:cNvSpPr>
            <a:spLocks xmlns:a="http://schemas.openxmlformats.org/drawingml/2006/main" noGrp="1"/>
          </p:cNvSpPr>
          <p:nvPr/>
        </p:nvSpPr>
        <p:spPr>
          <a:xfrm xmlns:a="http://schemas.openxmlformats.org/drawingml/2006/main">
            <a:off x="4389120"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59" name="Text 57">
            <a:extLst xmlns:a="http://schemas.openxmlformats.org/drawingml/2006/main">
              <a:ext uri="{FF2B5EF4-FFF2-40B4-BE49-F238E27FC236}">
                <a16:creationId xmlns:a16="http://schemas.microsoft.com/office/drawing/2014/main" id="{306F21CE-E552-4127-9FEC-184761CDC3BF}"/>
              </a:ext>
            </a:extLst>
          </p:cNvPr>
          <p:cNvSpPr>
            <a:spLocks xmlns:a="http://schemas.openxmlformats.org/drawingml/2006/main" noGrp="1"/>
          </p:cNvSpPr>
          <p:nvPr/>
        </p:nvSpPr>
        <p:spPr>
          <a:xfrm xmlns:a="http://schemas.openxmlformats.org/drawingml/2006/main">
            <a:off x="4389120"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Strict ESG filters (No tobacco/oil/arms)</a:t>
            </a:r>
          </a:p>
        </p:txBody>
      </p:sp>
      <p:sp>
        <p:nvSpPr>
          <p:cNvPr id="60" name="Shape 58">
            <a:extLst xmlns:a="http://schemas.openxmlformats.org/drawingml/2006/main">
              <a:ext uri="{FF2B5EF4-FFF2-40B4-BE49-F238E27FC236}">
                <a16:creationId xmlns:a16="http://schemas.microsoft.com/office/drawing/2014/main" id="{C19B14AA-225C-4905-822E-6215ECECC664}"/>
              </a:ext>
            </a:extLst>
          </p:cNvPr>
          <p:cNvSpPr>
            <a:spLocks xmlns:a="http://schemas.openxmlformats.org/drawingml/2006/main" noGrp="1"/>
          </p:cNvSpPr>
          <p:nvPr/>
        </p:nvSpPr>
        <p:spPr>
          <a:xfrm xmlns:a="http://schemas.openxmlformats.org/drawingml/2006/main">
            <a:off x="4270248" y="5230368"/>
            <a:ext cx="1097280" cy="877824"/>
          </a:xfrm>
          <a:prstGeom xmlns:a="http://schemas.openxmlformats.org/drawingml/2006/main" prst="rect">
            <a:avLst/>
          </a:prstGeom>
          <a:solidFill xmlns:a="http://schemas.openxmlformats.org/drawingml/2006/main">
            <a:srgbClr val="2D5A3D"/>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1" name="Text 59">
            <a:extLst xmlns:a="http://schemas.openxmlformats.org/drawingml/2006/main">
              <a:ext uri="{FF2B5EF4-FFF2-40B4-BE49-F238E27FC236}">
                <a16:creationId xmlns:a16="http://schemas.microsoft.com/office/drawing/2014/main" id="{B991C78D-6E9F-4EEC-9D5D-F370BCCBAB88}"/>
              </a:ext>
            </a:extLst>
          </p:cNvPr>
          <p:cNvSpPr>
            <a:spLocks xmlns:a="http://schemas.openxmlformats.org/drawingml/2006/main" noGrp="1"/>
          </p:cNvSpPr>
          <p:nvPr/>
        </p:nvSpPr>
        <p:spPr>
          <a:xfrm xmlns:a="http://schemas.openxmlformats.org/drawingml/2006/main">
            <a:off x="428853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62" name="Text 60">
            <a:extLst xmlns:a="http://schemas.openxmlformats.org/drawingml/2006/main">
              <a:ext uri="{FF2B5EF4-FFF2-40B4-BE49-F238E27FC236}">
                <a16:creationId xmlns:a16="http://schemas.microsoft.com/office/drawing/2014/main" id="{811D9DDA-6325-44CF-BAB9-38797E27A399}"/>
              </a:ext>
            </a:extLst>
          </p:cNvPr>
          <p:cNvSpPr>
            <a:spLocks xmlns:a="http://schemas.openxmlformats.org/drawingml/2006/main" noGrp="1"/>
          </p:cNvSpPr>
          <p:nvPr/>
        </p:nvSpPr>
        <p:spPr>
          <a:xfrm xmlns:a="http://schemas.openxmlformats.org/drawingml/2006/main">
            <a:off x="431596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8.0%</a:t>
            </a:r>
          </a:p>
        </p:txBody>
      </p:sp>
      <p:sp>
        <p:nvSpPr>
          <p:cNvPr id="63" name="Shape 61">
            <a:extLst xmlns:a="http://schemas.openxmlformats.org/drawingml/2006/main">
              <a:ext uri="{FF2B5EF4-FFF2-40B4-BE49-F238E27FC236}">
                <a16:creationId xmlns:a16="http://schemas.microsoft.com/office/drawing/2014/main" id="{A2E4CED0-AA61-41B0-9A44-AC20A383F694}"/>
              </a:ext>
            </a:extLst>
          </p:cNvPr>
          <p:cNvSpPr>
            <a:spLocks xmlns:a="http://schemas.openxmlformats.org/drawingml/2006/main" noGrp="1"/>
          </p:cNvSpPr>
          <p:nvPr/>
        </p:nvSpPr>
        <p:spPr>
          <a:xfrm xmlns:a="http://schemas.openxmlformats.org/drawingml/2006/main">
            <a:off x="5367528"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4" name="Text 62">
            <a:extLst xmlns:a="http://schemas.openxmlformats.org/drawingml/2006/main">
              <a:ext uri="{FF2B5EF4-FFF2-40B4-BE49-F238E27FC236}">
                <a16:creationId xmlns:a16="http://schemas.microsoft.com/office/drawing/2014/main" id="{71DEBAC0-DBE7-4580-A130-8B3FCFD4698B}"/>
              </a:ext>
            </a:extLst>
          </p:cNvPr>
          <p:cNvSpPr>
            <a:spLocks xmlns:a="http://schemas.openxmlformats.org/drawingml/2006/main" noGrp="1"/>
          </p:cNvSpPr>
          <p:nvPr/>
        </p:nvSpPr>
        <p:spPr>
          <a:xfrm xmlns:a="http://schemas.openxmlformats.org/drawingml/2006/main">
            <a:off x="538581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65" name="Text 63">
            <a:extLst xmlns:a="http://schemas.openxmlformats.org/drawingml/2006/main">
              <a:ext uri="{FF2B5EF4-FFF2-40B4-BE49-F238E27FC236}">
                <a16:creationId xmlns:a16="http://schemas.microsoft.com/office/drawing/2014/main" id="{4090203C-635D-47B7-B771-7678199A0BD1}"/>
              </a:ext>
            </a:extLst>
          </p:cNvPr>
          <p:cNvSpPr>
            <a:spLocks xmlns:a="http://schemas.openxmlformats.org/drawingml/2006/main" noGrp="1"/>
          </p:cNvSpPr>
          <p:nvPr/>
        </p:nvSpPr>
        <p:spPr>
          <a:xfrm xmlns:a="http://schemas.openxmlformats.org/drawingml/2006/main">
            <a:off x="541324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15.0%</a:t>
            </a:r>
          </a:p>
        </p:txBody>
      </p:sp>
      <p:sp>
        <p:nvSpPr>
          <p:cNvPr id="66" name="Shape 64">
            <a:extLst xmlns:a="http://schemas.openxmlformats.org/drawingml/2006/main">
              <a:ext uri="{FF2B5EF4-FFF2-40B4-BE49-F238E27FC236}">
                <a16:creationId xmlns:a16="http://schemas.microsoft.com/office/drawing/2014/main" id="{97C6EA69-DE62-4DA8-8A55-EFBE44F496F7}"/>
              </a:ext>
            </a:extLst>
          </p:cNvPr>
          <p:cNvSpPr>
            <a:spLocks xmlns:a="http://schemas.openxmlformats.org/drawingml/2006/main" noGrp="1"/>
          </p:cNvSpPr>
          <p:nvPr/>
        </p:nvSpPr>
        <p:spPr>
          <a:xfrm xmlns:a="http://schemas.openxmlformats.org/drawingml/2006/main">
            <a:off x="6464808"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7" name="Text 65">
            <a:extLst xmlns:a="http://schemas.openxmlformats.org/drawingml/2006/main">
              <a:ext uri="{FF2B5EF4-FFF2-40B4-BE49-F238E27FC236}">
                <a16:creationId xmlns:a16="http://schemas.microsoft.com/office/drawing/2014/main" id="{5077E9DC-6D40-49FC-A784-E6378F6C05F4}"/>
              </a:ext>
            </a:extLst>
          </p:cNvPr>
          <p:cNvSpPr>
            <a:spLocks xmlns:a="http://schemas.openxmlformats.org/drawingml/2006/main" noGrp="1"/>
          </p:cNvSpPr>
          <p:nvPr/>
        </p:nvSpPr>
        <p:spPr>
          <a:xfrm xmlns:a="http://schemas.openxmlformats.org/drawingml/2006/main">
            <a:off x="648309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68" name="Text 66">
            <a:extLst xmlns:a="http://schemas.openxmlformats.org/drawingml/2006/main">
              <a:ext uri="{FF2B5EF4-FFF2-40B4-BE49-F238E27FC236}">
                <a16:creationId xmlns:a16="http://schemas.microsoft.com/office/drawing/2014/main" id="{355A2DEA-2767-4505-AA3D-CD7739145E08}"/>
              </a:ext>
            </a:extLst>
          </p:cNvPr>
          <p:cNvSpPr>
            <a:spLocks xmlns:a="http://schemas.openxmlformats.org/drawingml/2006/main" noGrp="1"/>
          </p:cNvSpPr>
          <p:nvPr/>
        </p:nvSpPr>
        <p:spPr>
          <a:xfrm xmlns:a="http://schemas.openxmlformats.org/drawingml/2006/main">
            <a:off x="651052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3.5</a:t>
            </a:r>
          </a:p>
        </p:txBody>
      </p:sp>
      <p:sp>
        <p:nvSpPr>
          <p:cNvPr id="69" name="Shape 67">
            <a:extLst xmlns:a="http://schemas.openxmlformats.org/drawingml/2006/main">
              <a:ext uri="{FF2B5EF4-FFF2-40B4-BE49-F238E27FC236}">
                <a16:creationId xmlns:a16="http://schemas.microsoft.com/office/drawing/2014/main" id="{C0BAEF77-6CCD-4E81-B48C-69D4EAA38676}"/>
              </a:ext>
            </a:extLst>
          </p:cNvPr>
          <p:cNvSpPr>
            <a:spLocks xmlns:a="http://schemas.openxmlformats.org/drawingml/2006/main" noGrp="1"/>
          </p:cNvSpPr>
          <p:nvPr/>
        </p:nvSpPr>
        <p:spPr>
          <a:xfrm xmlns:a="http://schemas.openxmlformats.org/drawingml/2006/main">
            <a:off x="7946136"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70" name="Shape 68">
            <a:extLst xmlns:a="http://schemas.openxmlformats.org/drawingml/2006/main">
              <a:ext uri="{FF2B5EF4-FFF2-40B4-BE49-F238E27FC236}">
                <a16:creationId xmlns:a16="http://schemas.microsoft.com/office/drawing/2014/main" id="{E2126C7A-2302-402D-BA3F-9495B01A3430}"/>
              </a:ext>
            </a:extLst>
          </p:cNvPr>
          <p:cNvSpPr>
            <a:spLocks xmlns:a="http://schemas.openxmlformats.org/drawingml/2006/main" noGrp="1"/>
          </p:cNvSpPr>
          <p:nvPr/>
        </p:nvSpPr>
        <p:spPr>
          <a:xfrm xmlns:a="http://schemas.openxmlformats.org/drawingml/2006/main">
            <a:off x="7946136" y="1188720"/>
            <a:ext cx="3749040" cy="109728"/>
          </a:xfrm>
          <a:prstGeom xmlns:a="http://schemas.openxmlformats.org/drawingml/2006/main" prst="rect">
            <a:avLst/>
          </a:prstGeom>
          <a:solidFill xmlns:a="http://schemas.openxmlformats.org/drawingml/2006/main">
            <a:srgbClr val="2D5A3D"/>
          </a:solidFill>
          <a:ln xmlns:a="http://schemas.openxmlformats.org/drawingml/2006/main" w="12700">
            <a:solidFill>
              <a:srgbClr val="2D5A3D"/>
            </a:solidFill>
            <a:prstDash val="solid"/>
          </a:ln>
        </p:spPr>
        <p:txBody>
          <a:bodyPr xmlns:a="http://schemas.openxmlformats.org/drawingml/2006/main"/>
          <a:lstStyle xmlns:a="http://schemas.openxmlformats.org/drawingml/2006/main"/>
          <a:p xmlns:a="http://schemas.openxmlformats.org/drawingml/2006/main"/>
        </p:txBody>
      </p:sp>
      <p:sp>
        <p:nvSpPr>
          <p:cNvPr id="71" name="Shape 69">
            <a:extLst xmlns:a="http://schemas.openxmlformats.org/drawingml/2006/main">
              <a:ext uri="{FF2B5EF4-FFF2-40B4-BE49-F238E27FC236}">
                <a16:creationId xmlns:a16="http://schemas.microsoft.com/office/drawing/2014/main" id="{99C33F33-DF89-402B-91D8-4674B38F7DDF}"/>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ellipse">
            <a:avLst/>
          </a:prstGeom>
          <a:solidFill xmlns:a="http://schemas.openxmlformats.org/drawingml/2006/main">
            <a:srgbClr val="2D5A3D"/>
          </a:solidFill>
          <a:ln xmlns:a="http://schemas.openxmlformats.org/drawingml/2006/main" w="12700">
            <a:solidFill>
              <a:srgbClr val="2D5A3D"/>
            </a:solidFill>
            <a:prstDash val="solid"/>
          </a:ln>
        </p:spPr>
        <p:txBody>
          <a:bodyPr xmlns:a="http://schemas.openxmlformats.org/drawingml/2006/main"/>
          <a:lstStyle xmlns:a="http://schemas.openxmlformats.org/drawingml/2006/main"/>
          <a:p xmlns:a="http://schemas.openxmlformats.org/drawingml/2006/main"/>
        </p:txBody>
      </p:sp>
      <p:sp>
        <p:nvSpPr>
          <p:cNvPr id="72" name="Text 70">
            <a:extLst xmlns:a="http://schemas.openxmlformats.org/drawingml/2006/main">
              <a:ext uri="{FF2B5EF4-FFF2-40B4-BE49-F238E27FC236}">
                <a16:creationId xmlns:a16="http://schemas.microsoft.com/office/drawing/2014/main" id="{27DE5876-BECF-454A-B5F2-3472BD04E496}"/>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ZJ</a:t>
            </a:r>
          </a:p>
        </p:txBody>
      </p:sp>
      <p:sp>
        <p:nvSpPr>
          <p:cNvPr id="73" name="Text 71">
            <a:extLst xmlns:a="http://schemas.openxmlformats.org/drawingml/2006/main">
              <a:ext uri="{FF2B5EF4-FFF2-40B4-BE49-F238E27FC236}">
                <a16:creationId xmlns:a16="http://schemas.microsoft.com/office/drawing/2014/main" id="{E6C1A946-9764-4CF3-AE7A-858DD3FCE4E1}"/>
              </a:ext>
            </a:extLst>
          </p:cNvPr>
          <p:cNvSpPr>
            <a:spLocks xmlns:a="http://schemas.openxmlformats.org/drawingml/2006/main" noGrp="1"/>
          </p:cNvSpPr>
          <p:nvPr/>
        </p:nvSpPr>
        <p:spPr>
          <a:xfrm xmlns:a="http://schemas.openxmlformats.org/drawingml/2006/main">
            <a:off x="10232136"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#10</a:t>
            </a:r>
          </a:p>
        </p:txBody>
      </p:sp>
      <p:sp>
        <p:nvSpPr>
          <p:cNvPr id="74" name="Text 72">
            <a:extLst xmlns:a="http://schemas.openxmlformats.org/drawingml/2006/main">
              <a:ext uri="{FF2B5EF4-FFF2-40B4-BE49-F238E27FC236}">
                <a16:creationId xmlns:a16="http://schemas.microsoft.com/office/drawing/2014/main" id="{2D7EE89A-9A98-4D8F-9737-291C9A37E1CA}"/>
              </a:ext>
            </a:extLst>
          </p:cNvPr>
          <p:cNvSpPr>
            <a:spLocks xmlns:a="http://schemas.openxmlformats.org/drawingml/2006/main" noGrp="1"/>
          </p:cNvSpPr>
          <p:nvPr/>
        </p:nvSpPr>
        <p:spPr>
          <a:xfrm xmlns:a="http://schemas.openxmlformats.org/drawingml/2006/main">
            <a:off x="9025128"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Zoe Jenkins</a:t>
            </a:r>
          </a:p>
        </p:txBody>
      </p:sp>
      <p:sp>
        <p:nvSpPr>
          <p:cNvPr id="75" name="Text 73">
            <a:extLst xmlns:a="http://schemas.openxmlformats.org/drawingml/2006/main">
              <a:ext uri="{FF2B5EF4-FFF2-40B4-BE49-F238E27FC236}">
                <a16:creationId xmlns:a16="http://schemas.microsoft.com/office/drawing/2014/main" id="{AE5FD4A7-59EA-42A4-871D-5D737A3D8677}"/>
              </a:ext>
            </a:extLst>
          </p:cNvPr>
          <p:cNvSpPr>
            <a:spLocks xmlns:a="http://schemas.openxmlformats.org/drawingml/2006/main" noGrp="1"/>
          </p:cNvSpPr>
          <p:nvPr/>
        </p:nvSpPr>
        <p:spPr>
          <a:xfrm xmlns:a="http://schemas.openxmlformats.org/drawingml/2006/main">
            <a:off x="9025128"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32  ·  Graphic Designer</a:t>
            </a:r>
          </a:p>
        </p:txBody>
      </p:sp>
      <p:sp>
        <p:nvSpPr>
          <p:cNvPr id="76" name="Shape 74">
            <a:extLst xmlns:a="http://schemas.openxmlformats.org/drawingml/2006/main">
              <a:ext uri="{FF2B5EF4-FFF2-40B4-BE49-F238E27FC236}">
                <a16:creationId xmlns:a16="http://schemas.microsoft.com/office/drawing/2014/main" id="{21853414-C9F9-49D1-9BD3-8B4850D1032F}"/>
              </a:ext>
            </a:extLst>
          </p:cNvPr>
          <p:cNvSpPr>
            <a:spLocks xmlns:a="http://schemas.openxmlformats.org/drawingml/2006/main" noGrp="1"/>
          </p:cNvSpPr>
          <p:nvPr/>
        </p:nvSpPr>
        <p:spPr>
          <a:xfrm xmlns:a="http://schemas.openxmlformats.org/drawingml/2006/main">
            <a:off x="8174736" y="2322576"/>
            <a:ext cx="1325880" cy="237744"/>
          </a:xfrm>
          <a:prstGeom xmlns:a="http://schemas.openxmlformats.org/drawingml/2006/main" prst="rect">
            <a:avLst/>
          </a:prstGeom>
          <a:solidFill xmlns:a="http://schemas.openxmlformats.org/drawingml/2006/main">
            <a:srgbClr val="FFF0E8"/>
          </a:solidFill>
          <a:ln xmlns:a="http://schemas.openxmlformats.org/drawingml/2006/main" w="12700">
            <a:solidFill>
              <a:srgbClr val="FFF0E8"/>
            </a:solidFill>
            <a:prstDash val="solid"/>
          </a:ln>
        </p:spPr>
        <p:txBody>
          <a:bodyPr xmlns:a="http://schemas.openxmlformats.org/drawingml/2006/main"/>
          <a:lstStyle xmlns:a="http://schemas.openxmlformats.org/drawingml/2006/main"/>
          <a:p xmlns:a="http://schemas.openxmlformats.org/drawingml/2006/main"/>
        </p:txBody>
      </p:sp>
      <p:sp>
        <p:nvSpPr>
          <p:cNvPr id="77" name="Shape 75">
            <a:extLst xmlns:a="http://schemas.openxmlformats.org/drawingml/2006/main">
              <a:ext uri="{FF2B5EF4-FFF2-40B4-BE49-F238E27FC236}">
                <a16:creationId xmlns:a16="http://schemas.microsoft.com/office/drawing/2014/main" id="{729371F4-EDA5-4C0C-8475-9D0E3E3C0ECB}"/>
              </a:ext>
            </a:extLst>
          </p:cNvPr>
          <p:cNvSpPr>
            <a:spLocks xmlns:a="http://schemas.openxmlformats.org/drawingml/2006/main" noGrp="1"/>
          </p:cNvSpPr>
          <p:nvPr/>
        </p:nvSpPr>
        <p:spPr>
          <a:xfrm xmlns:a="http://schemas.openxmlformats.org/drawingml/2006/main">
            <a:off x="8238744" y="2382012"/>
            <a:ext cx="91440" cy="91440"/>
          </a:xfrm>
          <a:prstGeom xmlns:a="http://schemas.openxmlformats.org/drawingml/2006/main" prst="ellipse">
            <a:avLst/>
          </a:prstGeom>
          <a:solidFill xmlns:a="http://schemas.openxmlformats.org/drawingml/2006/main">
            <a:srgbClr val="C05B30"/>
          </a:solidFill>
          <a:ln xmlns:a="http://schemas.openxmlformats.org/drawingml/2006/main" w="12700">
            <a:solidFill>
              <a:srgbClr val="C05B30"/>
            </a:solidFill>
            <a:prstDash val="solid"/>
          </a:ln>
        </p:spPr>
        <p:txBody>
          <a:bodyPr xmlns:a="http://schemas.openxmlformats.org/drawingml/2006/main"/>
          <a:lstStyle xmlns:a="http://schemas.openxmlformats.org/drawingml/2006/main"/>
          <a:p xmlns:a="http://schemas.openxmlformats.org/drawingml/2006/main"/>
        </p:txBody>
      </p:sp>
      <p:sp>
        <p:nvSpPr>
          <p:cNvPr id="78" name="Text 76">
            <a:extLst xmlns:a="http://schemas.openxmlformats.org/drawingml/2006/main">
              <a:ext uri="{FF2B5EF4-FFF2-40B4-BE49-F238E27FC236}">
                <a16:creationId xmlns:a16="http://schemas.microsoft.com/office/drawing/2014/main" id="{6BBA6B02-0462-4362-BAAA-DEEF49DA7085}"/>
              </a:ext>
            </a:extLst>
          </p:cNvPr>
          <p:cNvSpPr>
            <a:spLocks xmlns:a="http://schemas.openxmlformats.org/drawingml/2006/main" noGrp="1"/>
          </p:cNvSpPr>
          <p:nvPr/>
        </p:nvSpPr>
        <p:spPr>
          <a:xfrm xmlns:a="http://schemas.openxmlformats.org/drawingml/2006/main">
            <a:off x="8366760"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C05B30"/>
                </a:solidFill>
                <a:latin typeface="Calibri"/>
                <a:ea typeface="Calibri"/>
                <a:cs typeface="Calibri"/>
              </a:rPr>
              <a:t>RISK AVERSE</a:t>
            </a:r>
          </a:p>
        </p:txBody>
      </p:sp>
      <p:sp>
        <p:nvSpPr>
          <p:cNvPr id="79" name="Shape 77">
            <a:extLst xmlns:a="http://schemas.openxmlformats.org/drawingml/2006/main">
              <a:ext uri="{FF2B5EF4-FFF2-40B4-BE49-F238E27FC236}">
                <a16:creationId xmlns:a16="http://schemas.microsoft.com/office/drawing/2014/main" id="{5588518E-C270-44C7-9FF4-98FF029C0165}"/>
              </a:ext>
            </a:extLst>
          </p:cNvPr>
          <p:cNvSpPr>
            <a:spLocks xmlns:a="http://schemas.openxmlformats.org/drawingml/2006/main" noGrp="1"/>
          </p:cNvSpPr>
          <p:nvPr/>
        </p:nvSpPr>
        <p:spPr>
          <a:xfrm xmlns:a="http://schemas.openxmlformats.org/drawingml/2006/main">
            <a:off x="8174736"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80" name="Text 78">
            <a:extLst xmlns:a="http://schemas.openxmlformats.org/drawingml/2006/main">
              <a:ext uri="{FF2B5EF4-FFF2-40B4-BE49-F238E27FC236}">
                <a16:creationId xmlns:a16="http://schemas.microsoft.com/office/drawing/2014/main" id="{39DCC92F-2B19-44F3-A58E-C09C70A9F7DC}"/>
              </a:ext>
            </a:extLst>
          </p:cNvPr>
          <p:cNvSpPr>
            <a:spLocks xmlns:a="http://schemas.openxmlformats.org/drawingml/2006/main" noGrp="1"/>
          </p:cNvSpPr>
          <p:nvPr/>
        </p:nvSpPr>
        <p:spPr>
          <a:xfrm xmlns:a="http://schemas.openxmlformats.org/drawingml/2006/main">
            <a:off x="817473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81" name="Text 79">
            <a:extLst xmlns:a="http://schemas.openxmlformats.org/drawingml/2006/main">
              <a:ext uri="{FF2B5EF4-FFF2-40B4-BE49-F238E27FC236}">
                <a16:creationId xmlns:a16="http://schemas.microsoft.com/office/drawing/2014/main" id="{F909C522-5A2B-4158-A32F-A84C8E978AE9}"/>
              </a:ext>
            </a:extLst>
          </p:cNvPr>
          <p:cNvSpPr>
            <a:spLocks xmlns:a="http://schemas.openxmlformats.org/drawingml/2006/main" noGrp="1"/>
          </p:cNvSpPr>
          <p:nvPr/>
        </p:nvSpPr>
        <p:spPr>
          <a:xfrm xmlns:a="http://schemas.openxmlformats.org/drawingml/2006/main">
            <a:off x="817473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$65,000</a:t>
            </a:r>
          </a:p>
        </p:txBody>
      </p:sp>
      <p:sp>
        <p:nvSpPr>
          <p:cNvPr id="82" name="Text 80">
            <a:extLst xmlns:a="http://schemas.openxmlformats.org/drawingml/2006/main">
              <a:ext uri="{FF2B5EF4-FFF2-40B4-BE49-F238E27FC236}">
                <a16:creationId xmlns:a16="http://schemas.microsoft.com/office/drawing/2014/main" id="{1B894250-FCBA-4066-AABC-4FCE62BD1CBF}"/>
              </a:ext>
            </a:extLst>
          </p:cNvPr>
          <p:cNvSpPr>
            <a:spLocks xmlns:a="http://schemas.openxmlformats.org/drawingml/2006/main" noGrp="1"/>
          </p:cNvSpPr>
          <p:nvPr/>
        </p:nvSpPr>
        <p:spPr>
          <a:xfrm xmlns:a="http://schemas.openxmlformats.org/drawingml/2006/main">
            <a:off x="991209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83" name="Text 81">
            <a:extLst xmlns:a="http://schemas.openxmlformats.org/drawingml/2006/main">
              <a:ext uri="{FF2B5EF4-FFF2-40B4-BE49-F238E27FC236}">
                <a16:creationId xmlns:a16="http://schemas.microsoft.com/office/drawing/2014/main" id="{159B0212-44F4-4BB0-A1FA-32D59024BB34}"/>
              </a:ext>
            </a:extLst>
          </p:cNvPr>
          <p:cNvSpPr>
            <a:spLocks xmlns:a="http://schemas.openxmlformats.org/drawingml/2006/main" noGrp="1"/>
          </p:cNvSpPr>
          <p:nvPr/>
        </p:nvSpPr>
        <p:spPr>
          <a:xfrm xmlns:a="http://schemas.openxmlformats.org/drawingml/2006/main">
            <a:off x="991209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$40,000</a:t>
            </a:r>
          </a:p>
        </p:txBody>
      </p:sp>
      <p:sp>
        <p:nvSpPr>
          <p:cNvPr id="84" name="Shape 82">
            <a:extLst xmlns:a="http://schemas.openxmlformats.org/drawingml/2006/main">
              <a:ext uri="{FF2B5EF4-FFF2-40B4-BE49-F238E27FC236}">
                <a16:creationId xmlns:a16="http://schemas.microsoft.com/office/drawing/2014/main" id="{0B9CC8B4-E0B2-411E-AB2E-F44B7ED467A7}"/>
              </a:ext>
            </a:extLst>
          </p:cNvPr>
          <p:cNvSpPr>
            <a:spLocks xmlns:a="http://schemas.openxmlformats.org/drawingml/2006/main" noGrp="1"/>
          </p:cNvSpPr>
          <p:nvPr/>
        </p:nvSpPr>
        <p:spPr>
          <a:xfrm xmlns:a="http://schemas.openxmlformats.org/drawingml/2006/main">
            <a:off x="8174736" y="3456432"/>
            <a:ext cx="3291840" cy="804672"/>
          </a:xfrm>
          <a:prstGeom xmlns:a="http://schemas.openxmlformats.org/drawingml/2006/main" prst="rect">
            <a:avLst/>
          </a:prstGeom>
          <a:solidFill xmlns:a="http://schemas.openxmlformats.org/drawingml/2006/main">
            <a:srgbClr val="D0EBD8"/>
          </a:solidFill>
          <a:ln xmlns:a="http://schemas.openxmlformats.org/drawingml/2006/main" w="12700">
            <a:solidFill>
              <a:srgbClr val="D0EBD8"/>
            </a:solidFill>
            <a:prstDash val="solid"/>
          </a:ln>
        </p:spPr>
        <p:txBody>
          <a:bodyPr xmlns:a="http://schemas.openxmlformats.org/drawingml/2006/main"/>
          <a:lstStyle xmlns:a="http://schemas.openxmlformats.org/drawingml/2006/main"/>
          <a:p xmlns:a="http://schemas.openxmlformats.org/drawingml/2006/main"/>
        </p:txBody>
      </p:sp>
      <p:sp>
        <p:nvSpPr>
          <p:cNvPr id="85" name="Shape 83">
            <a:extLst xmlns:a="http://schemas.openxmlformats.org/drawingml/2006/main">
              <a:ext uri="{FF2B5EF4-FFF2-40B4-BE49-F238E27FC236}">
                <a16:creationId xmlns:a16="http://schemas.microsoft.com/office/drawing/2014/main" id="{B27A889F-BAA6-4FBA-A656-0E936B02476D}"/>
              </a:ext>
            </a:extLst>
          </p:cNvPr>
          <p:cNvSpPr>
            <a:spLocks xmlns:a="http://schemas.openxmlformats.org/drawingml/2006/main" noGrp="1"/>
          </p:cNvSpPr>
          <p:nvPr/>
        </p:nvSpPr>
        <p:spPr>
          <a:xfrm xmlns:a="http://schemas.openxmlformats.org/drawingml/2006/main">
            <a:off x="8174736" y="3456432"/>
            <a:ext cx="54864" cy="804672"/>
          </a:xfrm>
          <a:prstGeom xmlns:a="http://schemas.openxmlformats.org/drawingml/2006/main" prst="rect">
            <a:avLst/>
          </a:prstGeom>
          <a:solidFill xmlns:a="http://schemas.openxmlformats.org/drawingml/2006/main">
            <a:srgbClr val="2D5A3D"/>
          </a:solidFill>
          <a:ln xmlns:a="http://schemas.openxmlformats.org/drawingml/2006/main" w="12700">
            <a:solidFill>
              <a:srgbClr val="2D5A3D"/>
            </a:solidFill>
            <a:prstDash val="solid"/>
          </a:ln>
        </p:spPr>
        <p:txBody>
          <a:bodyPr xmlns:a="http://schemas.openxmlformats.org/drawingml/2006/main"/>
          <a:lstStyle xmlns:a="http://schemas.openxmlformats.org/drawingml/2006/main"/>
          <a:p xmlns:a="http://schemas.openxmlformats.org/drawingml/2006/main"/>
        </p:txBody>
      </p:sp>
      <p:sp>
        <p:nvSpPr>
          <p:cNvPr id="86" name="Text 84">
            <a:extLst xmlns:a="http://schemas.openxmlformats.org/drawingml/2006/main">
              <a:ext uri="{FF2B5EF4-FFF2-40B4-BE49-F238E27FC236}">
                <a16:creationId xmlns:a16="http://schemas.microsoft.com/office/drawing/2014/main" id="{D06D2965-3971-45CF-9930-D71349C927E6}"/>
              </a:ext>
            </a:extLst>
          </p:cNvPr>
          <p:cNvSpPr>
            <a:spLocks xmlns:a="http://schemas.openxmlformats.org/drawingml/2006/main" noGrp="1"/>
          </p:cNvSpPr>
          <p:nvPr/>
        </p:nvSpPr>
        <p:spPr>
          <a:xfrm xmlns:a="http://schemas.openxmlformats.org/drawingml/2006/main">
            <a:off x="8293608"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2D5A3D"/>
                </a:solidFill>
                <a:latin typeface="Calibri"/>
                <a:ea typeface="Calibri"/>
                <a:cs typeface="Calibri"/>
              </a:rPr>
              <a:t>PRIMARY GOAL</a:t>
            </a:r>
          </a:p>
        </p:txBody>
      </p:sp>
      <p:sp>
        <p:nvSpPr>
          <p:cNvPr id="87" name="Text 85">
            <a:extLst xmlns:a="http://schemas.openxmlformats.org/drawingml/2006/main">
              <a:ext uri="{FF2B5EF4-FFF2-40B4-BE49-F238E27FC236}">
                <a16:creationId xmlns:a16="http://schemas.microsoft.com/office/drawing/2014/main" id="{1B667644-C924-41A5-BCD0-848B3AD2AED0}"/>
              </a:ext>
            </a:extLst>
          </p:cNvPr>
          <p:cNvSpPr>
            <a:spLocks xmlns:a="http://schemas.openxmlformats.org/drawingml/2006/main" noGrp="1"/>
          </p:cNvSpPr>
          <p:nvPr/>
        </p:nvSpPr>
        <p:spPr>
          <a:xfrm xmlns:a="http://schemas.openxmlformats.org/drawingml/2006/main">
            <a:off x="8293608"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Emergency Fund / Growth</a:t>
            </a:r>
          </a:p>
        </p:txBody>
      </p:sp>
      <p:sp>
        <p:nvSpPr>
          <p:cNvPr id="88" name="Shape 86">
            <a:extLst xmlns:a="http://schemas.openxmlformats.org/drawingml/2006/main">
              <a:ext uri="{FF2B5EF4-FFF2-40B4-BE49-F238E27FC236}">
                <a16:creationId xmlns:a16="http://schemas.microsoft.com/office/drawing/2014/main" id="{168864F6-7265-46C5-A681-B84250DFE0EB}"/>
              </a:ext>
            </a:extLst>
          </p:cNvPr>
          <p:cNvSpPr>
            <a:spLocks xmlns:a="http://schemas.openxmlformats.org/drawingml/2006/main" noGrp="1"/>
          </p:cNvSpPr>
          <p:nvPr/>
        </p:nvSpPr>
        <p:spPr>
          <a:xfrm xmlns:a="http://schemas.openxmlformats.org/drawingml/2006/main">
            <a:off x="8174736"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89" name="Text 87">
            <a:extLst xmlns:a="http://schemas.openxmlformats.org/drawingml/2006/main">
              <a:ext uri="{FF2B5EF4-FFF2-40B4-BE49-F238E27FC236}">
                <a16:creationId xmlns:a16="http://schemas.microsoft.com/office/drawing/2014/main" id="{6F1C42C8-B4FE-4A54-9DB7-7B69286134DB}"/>
              </a:ext>
            </a:extLst>
          </p:cNvPr>
          <p:cNvSpPr>
            <a:spLocks xmlns:a="http://schemas.openxmlformats.org/drawingml/2006/main" noGrp="1"/>
          </p:cNvSpPr>
          <p:nvPr/>
        </p:nvSpPr>
        <p:spPr>
          <a:xfrm xmlns:a="http://schemas.openxmlformats.org/drawingml/2006/main">
            <a:off x="8293608"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90" name="Text 88">
            <a:extLst xmlns:a="http://schemas.openxmlformats.org/drawingml/2006/main">
              <a:ext uri="{FF2B5EF4-FFF2-40B4-BE49-F238E27FC236}">
                <a16:creationId xmlns:a16="http://schemas.microsoft.com/office/drawing/2014/main" id="{C8DE6C78-37C7-4196-BCB6-465AE5E88F30}"/>
              </a:ext>
            </a:extLst>
          </p:cNvPr>
          <p:cNvSpPr>
            <a:spLocks xmlns:a="http://schemas.openxmlformats.org/drawingml/2006/main" noGrp="1"/>
          </p:cNvSpPr>
          <p:nvPr/>
        </p:nvSpPr>
        <p:spPr>
          <a:xfrm xmlns:a="http://schemas.openxmlformats.org/drawingml/2006/main">
            <a:off x="8293608"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Variable income; needs 12-mo cash reserve</a:t>
            </a:r>
          </a:p>
        </p:txBody>
      </p:sp>
      <p:sp>
        <p:nvSpPr>
          <p:cNvPr id="91" name="Shape 89">
            <a:extLst xmlns:a="http://schemas.openxmlformats.org/drawingml/2006/main">
              <a:ext uri="{FF2B5EF4-FFF2-40B4-BE49-F238E27FC236}">
                <a16:creationId xmlns:a16="http://schemas.microsoft.com/office/drawing/2014/main" id="{024B8348-87C4-446D-99E4-5994145873DE}"/>
              </a:ext>
            </a:extLst>
          </p:cNvPr>
          <p:cNvSpPr>
            <a:spLocks xmlns:a="http://schemas.openxmlformats.org/drawingml/2006/main" noGrp="1"/>
          </p:cNvSpPr>
          <p:nvPr/>
        </p:nvSpPr>
        <p:spPr>
          <a:xfrm xmlns:a="http://schemas.openxmlformats.org/drawingml/2006/main">
            <a:off x="8174736" y="5230368"/>
            <a:ext cx="1097280" cy="877824"/>
          </a:xfrm>
          <a:prstGeom xmlns:a="http://schemas.openxmlformats.org/drawingml/2006/main" prst="rect">
            <a:avLst/>
          </a:prstGeom>
          <a:solidFill xmlns:a="http://schemas.openxmlformats.org/drawingml/2006/main">
            <a:srgbClr val="2D5A3D"/>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2" name="Text 90">
            <a:extLst xmlns:a="http://schemas.openxmlformats.org/drawingml/2006/main">
              <a:ext uri="{FF2B5EF4-FFF2-40B4-BE49-F238E27FC236}">
                <a16:creationId xmlns:a16="http://schemas.microsoft.com/office/drawing/2014/main" id="{865A0FEF-E3EF-45D6-8F71-02BAD1C20371}"/>
              </a:ext>
            </a:extLst>
          </p:cNvPr>
          <p:cNvSpPr>
            <a:spLocks xmlns:a="http://schemas.openxmlformats.org/drawingml/2006/main" noGrp="1"/>
          </p:cNvSpPr>
          <p:nvPr/>
        </p:nvSpPr>
        <p:spPr>
          <a:xfrm xmlns:a="http://schemas.openxmlformats.org/drawingml/2006/main">
            <a:off x="819302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93" name="Text 91">
            <a:extLst xmlns:a="http://schemas.openxmlformats.org/drawingml/2006/main">
              <a:ext uri="{FF2B5EF4-FFF2-40B4-BE49-F238E27FC236}">
                <a16:creationId xmlns:a16="http://schemas.microsoft.com/office/drawing/2014/main" id="{A56047D2-863D-4368-8EA6-9060109261F1}"/>
              </a:ext>
            </a:extLst>
          </p:cNvPr>
          <p:cNvSpPr>
            <a:spLocks xmlns:a="http://schemas.openxmlformats.org/drawingml/2006/main" noGrp="1"/>
          </p:cNvSpPr>
          <p:nvPr/>
        </p:nvSpPr>
        <p:spPr>
          <a:xfrm xmlns:a="http://schemas.openxmlformats.org/drawingml/2006/main">
            <a:off x="822045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6.5%</a:t>
            </a:r>
          </a:p>
        </p:txBody>
      </p:sp>
      <p:sp>
        <p:nvSpPr>
          <p:cNvPr id="94" name="Shape 92">
            <a:extLst xmlns:a="http://schemas.openxmlformats.org/drawingml/2006/main">
              <a:ext uri="{FF2B5EF4-FFF2-40B4-BE49-F238E27FC236}">
                <a16:creationId xmlns:a16="http://schemas.microsoft.com/office/drawing/2014/main" id="{BE0A4F60-0546-4F8E-A3D3-27C6E744D76B}"/>
              </a:ext>
            </a:extLst>
          </p:cNvPr>
          <p:cNvSpPr>
            <a:spLocks xmlns:a="http://schemas.openxmlformats.org/drawingml/2006/main" noGrp="1"/>
          </p:cNvSpPr>
          <p:nvPr/>
        </p:nvSpPr>
        <p:spPr>
          <a:xfrm xmlns:a="http://schemas.openxmlformats.org/drawingml/2006/main">
            <a:off x="9272016"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5" name="Text 93">
            <a:extLst xmlns:a="http://schemas.openxmlformats.org/drawingml/2006/main">
              <a:ext uri="{FF2B5EF4-FFF2-40B4-BE49-F238E27FC236}">
                <a16:creationId xmlns:a16="http://schemas.microsoft.com/office/drawing/2014/main" id="{58F04A46-3E56-42D2-8187-F14560F4F5F7}"/>
              </a:ext>
            </a:extLst>
          </p:cNvPr>
          <p:cNvSpPr>
            <a:spLocks xmlns:a="http://schemas.openxmlformats.org/drawingml/2006/main" noGrp="1"/>
          </p:cNvSpPr>
          <p:nvPr/>
        </p:nvSpPr>
        <p:spPr>
          <a:xfrm xmlns:a="http://schemas.openxmlformats.org/drawingml/2006/main">
            <a:off x="929030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96" name="Text 94">
            <a:extLst xmlns:a="http://schemas.openxmlformats.org/drawingml/2006/main">
              <a:ext uri="{FF2B5EF4-FFF2-40B4-BE49-F238E27FC236}">
                <a16:creationId xmlns:a16="http://schemas.microsoft.com/office/drawing/2014/main" id="{26389A03-736E-41F0-B842-0F056A6F3CD9}"/>
              </a:ext>
            </a:extLst>
          </p:cNvPr>
          <p:cNvSpPr>
            <a:spLocks xmlns:a="http://schemas.openxmlformats.org/drawingml/2006/main" noGrp="1"/>
          </p:cNvSpPr>
          <p:nvPr/>
        </p:nvSpPr>
        <p:spPr>
          <a:xfrm xmlns:a="http://schemas.openxmlformats.org/drawingml/2006/main">
            <a:off x="931773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13.0%</a:t>
            </a:r>
          </a:p>
        </p:txBody>
      </p:sp>
      <p:sp>
        <p:nvSpPr>
          <p:cNvPr id="97" name="Shape 95">
            <a:extLst xmlns:a="http://schemas.openxmlformats.org/drawingml/2006/main">
              <a:ext uri="{FF2B5EF4-FFF2-40B4-BE49-F238E27FC236}">
                <a16:creationId xmlns:a16="http://schemas.microsoft.com/office/drawing/2014/main" id="{44D6F990-3AB5-4702-AF24-FB2B4D092839}"/>
              </a:ext>
            </a:extLst>
          </p:cNvPr>
          <p:cNvSpPr>
            <a:spLocks xmlns:a="http://schemas.openxmlformats.org/drawingml/2006/main" noGrp="1"/>
          </p:cNvSpPr>
          <p:nvPr/>
        </p:nvSpPr>
        <p:spPr>
          <a:xfrm xmlns:a="http://schemas.openxmlformats.org/drawingml/2006/main">
            <a:off x="10369296"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8" name="Text 96">
            <a:extLst xmlns:a="http://schemas.openxmlformats.org/drawingml/2006/main">
              <a:ext uri="{FF2B5EF4-FFF2-40B4-BE49-F238E27FC236}">
                <a16:creationId xmlns:a16="http://schemas.microsoft.com/office/drawing/2014/main" id="{51B02B29-5BC2-441A-A9ED-D1B0D6C626D2}"/>
              </a:ext>
            </a:extLst>
          </p:cNvPr>
          <p:cNvSpPr>
            <a:spLocks xmlns:a="http://schemas.openxmlformats.org/drawingml/2006/main" noGrp="1"/>
          </p:cNvSpPr>
          <p:nvPr/>
        </p:nvSpPr>
        <p:spPr>
          <a:xfrm xmlns:a="http://schemas.openxmlformats.org/drawingml/2006/main">
            <a:off x="1038758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99" name="Text 97">
            <a:extLst xmlns:a="http://schemas.openxmlformats.org/drawingml/2006/main">
              <a:ext uri="{FF2B5EF4-FFF2-40B4-BE49-F238E27FC236}">
                <a16:creationId xmlns:a16="http://schemas.microsoft.com/office/drawing/2014/main" id="{DEA4A415-82A1-40EF-BE39-0D8526E23377}"/>
              </a:ext>
            </a:extLst>
          </p:cNvPr>
          <p:cNvSpPr>
            <a:spLocks xmlns:a="http://schemas.openxmlformats.org/drawingml/2006/main" noGrp="1"/>
          </p:cNvSpPr>
          <p:nvPr/>
        </p:nvSpPr>
        <p:spPr>
          <a:xfrm xmlns:a="http://schemas.openxmlformats.org/drawingml/2006/main">
            <a:off x="1041501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5.0</a:t>
            </a:r>
          </a:p>
        </p:txBody>
      </p:sp>
      <p:sp>
        <p:nvSpPr>
          <p:cNvPr id="100" name="Shape 98">
            <a:extLst xmlns:a="http://schemas.openxmlformats.org/drawingml/2006/main">
              <a:ext uri="{FF2B5EF4-FFF2-40B4-BE49-F238E27FC236}">
                <a16:creationId xmlns:a16="http://schemas.microsoft.com/office/drawing/2014/main" id="{CECE73E8-6649-4FEF-9E1F-8E68A3580D06}"/>
              </a:ext>
            </a:extLst>
          </p:cNvPr>
          <p:cNvSpPr>
            <a:spLocks xmlns:a="http://schemas.openxmlformats.org/drawingml/2006/main" noGrp="1"/>
          </p:cNvSpPr>
          <p:nvPr/>
        </p:nvSpPr>
        <p:spPr>
          <a:xfrm xmlns:a="http://schemas.openxmlformats.org/drawingml/2006/main">
            <a:off x="0" y="6565392"/>
            <a:ext cx="12161520" cy="292608"/>
          </a:xfrm>
          <a:prstGeom xmlns:a="http://schemas.openxmlformats.org/drawingml/2006/main" prst="rect">
            <a:avLst/>
          </a:prstGeom>
          <a:solidFill xmlns:a="http://schemas.openxmlformats.org/drawingml/2006/main">
            <a:srgbClr val="2D5A3D"/>
          </a:solidFill>
          <a:ln xmlns:a="http://schemas.openxmlformats.org/drawingml/2006/main" w="12700">
            <a:solidFill>
              <a:srgbClr val="2D5A3D"/>
            </a:solidFill>
            <a:prstDash val="solid"/>
          </a:ln>
        </p:spPr>
        <p:txBody>
          <a:bodyPr xmlns:a="http://schemas.openxmlformats.org/drawingml/2006/main"/>
          <a:lstStyle xmlns:a="http://schemas.openxmlformats.org/drawingml/2006/main"/>
          <a:p xmlns:a="http://schemas.openxmlformats.org/drawingml/2006/main"/>
        </p:txBody>
      </p:sp>
      <p:sp>
        <p:nvSpPr>
          <p:cNvPr id="101" name="Text 99">
            <a:extLst xmlns:a="http://schemas.openxmlformats.org/drawingml/2006/main">
              <a:ext uri="{FF2B5EF4-FFF2-40B4-BE49-F238E27FC236}">
                <a16:creationId xmlns:a16="http://schemas.microsoft.com/office/drawing/2014/main" id="{28A3C7C4-A05A-43BB-87EC-E2EED495AC37}"/>
              </a:ext>
            </a:extLst>
          </p:cNvPr>
          <p:cNvSpPr>
            <a:spLocks xmlns:a="http://schemas.openxmlformats.org/drawingml/2006/main" noGrp="1"/>
          </p:cNvSpPr>
          <p:nvPr/>
        </p:nvSpPr>
        <p:spPr>
          <a:xfrm xmlns:a="http://schemas.openxmlformats.org/drawingml/2006/main">
            <a:off x="274320" y="6565392"/>
            <a:ext cx="11612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FFFFFF">
                    <a:alpha val="65000"/>
                  </a:srgbClr>
                </a:solidFill>
                <a:latin typeface="Calibri"/>
                <a:ea typeface="Calibri"/>
                <a:cs typeface="Calibri"/>
              </a:rPr>
              <a:t>BUS331 Investments  ·  Endicott College  ·  Team Three</a:t>
            </a:r>
          </a:p>
        </p:txBody>
      </p:sp>
    </p:spTree>
    <p:extLst>
      <p:ext uri="{BB962C8B-B14F-4D97-AF65-F5344CB8AC3E}">
        <p14:creationId xmlns:p14="http://schemas.microsoft.com/office/powerpoint/2010/main" val="377812279"/>
      </p:ext>
    </p:extLst>
  </p:cSld>
</p:sld>
</file>

<file path=ppt/slides/slide5.xml><?xml version="1.0" encoding="utf-8"?>
<p:sld xmlns:p="http://schemas.openxmlformats.org/presentationml/2006/main">
  <p:cSld>
    <p:bg>
      <p:bgPr>
        <a:solidFill xmlns:a="http://schemas.openxmlformats.org/drawingml/2006/main">
          <a:srgbClr val="F5F0E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D2DF09E-4011-49FF-AA6D-D577C03E4482}"/>
              </a:ext>
            </a:extLst>
          </p:cNvPr>
          <p:cNvSpPr>
            <a:spLocks xmlns:a="http://schemas.openxmlformats.org/drawingml/2006/main" noGrp="1"/>
          </p:cNvSpPr>
          <p:nvPr/>
        </p:nvSpPr>
        <p:spPr>
          <a:xfrm xmlns:a="http://schemas.openxmlformats.org/drawingml/2006/main">
            <a:off x="0" y="0"/>
            <a:ext cx="12161520" cy="1005840"/>
          </a:xfrm>
          <a:prstGeom xmlns:a="http://schemas.openxmlformats.org/drawingml/2006/main" prst="rect">
            <a:avLst/>
          </a:prstGeom>
          <a:solidFill xmlns:a="http://schemas.openxmlformats.org/drawingml/2006/main">
            <a:srgbClr val="4A2060"/>
          </a:solidFill>
          <a:ln xmlns:a="http://schemas.openxmlformats.org/drawingml/2006/main" w="12700">
            <a:solidFill>
              <a:srgbClr val="4A2060"/>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856934E5-4FCC-42DF-917D-BF3B671546FC}"/>
              </a:ext>
            </a:extLst>
          </p:cNvPr>
          <p:cNvSpPr>
            <a:spLocks xmlns:a="http://schemas.openxmlformats.org/drawingml/2006/main" noGrp="1"/>
          </p:cNvSpPr>
          <p:nvPr/>
        </p:nvSpPr>
        <p:spPr>
          <a:xfrm xmlns:a="http://schemas.openxmlformats.org/drawingml/2006/main">
            <a:off x="91440" y="-45720"/>
            <a:ext cx="1463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200" b="1">
                <a:solidFill>
                  <a:srgbClr val="FFFFFF">
                    <a:alpha val="25000"/>
                  </a:srgbClr>
                </a:solidFill>
                <a:latin typeface="Georgia"/>
                <a:ea typeface="Georgia"/>
                <a:cs typeface="Georgia"/>
              </a:rPr>
              <a:t>04</a:t>
            </a:r>
          </a:p>
        </p:txBody>
      </p:sp>
      <p:sp>
        <p:nvSpPr>
          <p:cNvPr id="4" name="Text 2">
            <a:extLst xmlns:a="http://schemas.openxmlformats.org/drawingml/2006/main">
              <a:ext uri="{FF2B5EF4-FFF2-40B4-BE49-F238E27FC236}">
                <a16:creationId xmlns:a16="http://schemas.microsoft.com/office/drawing/2014/main" id="{253AA17F-2AEC-4CCF-98F3-77B35933D0D5}"/>
              </a:ext>
            </a:extLst>
          </p:cNvPr>
          <p:cNvSpPr>
            <a:spLocks xmlns:a="http://schemas.openxmlformats.org/drawingml/2006/main" noGrp="1"/>
          </p:cNvSpPr>
          <p:nvPr/>
        </p:nvSpPr>
        <p:spPr>
          <a:xfrm xmlns:a="http://schemas.openxmlformats.org/drawingml/2006/main">
            <a:off x="1371600" y="73152"/>
            <a:ext cx="4572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FFFFFF">
                    <a:alpha val="60000"/>
                  </a:srgbClr>
                </a:solidFill>
                <a:latin typeface="Calibri"/>
                <a:ea typeface="Calibri"/>
                <a:cs typeface="Calibri"/>
              </a:rPr>
              <a:t>TEAM FOUR</a:t>
            </a:r>
          </a:p>
        </p:txBody>
      </p:sp>
      <p:sp>
        <p:nvSpPr>
          <p:cNvPr id="5" name="Text 3">
            <a:extLst xmlns:a="http://schemas.openxmlformats.org/drawingml/2006/main">
              <a:ext uri="{FF2B5EF4-FFF2-40B4-BE49-F238E27FC236}">
                <a16:creationId xmlns:a16="http://schemas.microsoft.com/office/drawing/2014/main" id="{343F89EB-36FF-429F-BD7D-FAB510DB4182}"/>
              </a:ext>
            </a:extLst>
          </p:cNvPr>
          <p:cNvSpPr>
            <a:spLocks xmlns:a="http://schemas.openxmlformats.org/drawingml/2006/main" noGrp="1"/>
          </p:cNvSpPr>
          <p:nvPr/>
        </p:nvSpPr>
        <p:spPr>
          <a:xfrm xmlns:a="http://schemas.openxmlformats.org/drawingml/2006/main">
            <a:off x="1371600" y="457200"/>
            <a:ext cx="7315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Georgia"/>
                <a:ea typeface="Georgia"/>
                <a:cs typeface="Georgia"/>
              </a:rPr>
              <a:t>Team Four · Client Profiles</a:t>
            </a:r>
          </a:p>
        </p:txBody>
      </p:sp>
      <p:sp>
        <p:nvSpPr>
          <p:cNvPr id="6" name="Text 4">
            <a:extLst xmlns:a="http://schemas.openxmlformats.org/drawingml/2006/main">
              <a:ext uri="{FF2B5EF4-FFF2-40B4-BE49-F238E27FC236}">
                <a16:creationId xmlns:a16="http://schemas.microsoft.com/office/drawing/2014/main" id="{99DF0328-AE6A-4E0C-B004-1245FE1FC346}"/>
              </a:ext>
            </a:extLst>
          </p:cNvPr>
          <p:cNvSpPr>
            <a:spLocks xmlns:a="http://schemas.openxmlformats.org/drawingml/2006/main" noGrp="1"/>
          </p:cNvSpPr>
          <p:nvPr/>
        </p:nvSpPr>
        <p:spPr>
          <a:xfrm xmlns:a="http://schemas.openxmlformats.org/drawingml/2006/main">
            <a:off x="10789920" y="274320"/>
            <a:ext cx="1188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FFFFFF">
                    <a:alpha val="50000"/>
                  </a:srgbClr>
                </a:solidFill>
                <a:latin typeface="Calibri"/>
                <a:ea typeface="Calibri"/>
                <a:cs typeface="Calibri"/>
              </a:rPr>
              <a:t>4 / 6</a:t>
            </a:r>
          </a:p>
        </p:txBody>
      </p:sp>
      <p:sp>
        <p:nvSpPr>
          <p:cNvPr id="7" name="Shape 5">
            <a:extLst xmlns:a="http://schemas.openxmlformats.org/drawingml/2006/main">
              <a:ext uri="{FF2B5EF4-FFF2-40B4-BE49-F238E27FC236}">
                <a16:creationId xmlns:a16="http://schemas.microsoft.com/office/drawing/2014/main" id="{AF652350-5745-4D11-84BF-EE4D7B1F4CC7}"/>
              </a:ext>
            </a:extLst>
          </p:cNvPr>
          <p:cNvSpPr>
            <a:spLocks xmlns:a="http://schemas.openxmlformats.org/drawingml/2006/main" noGrp="1"/>
          </p:cNvSpPr>
          <p:nvPr/>
        </p:nvSpPr>
        <p:spPr>
          <a:xfrm xmlns:a="http://schemas.openxmlformats.org/drawingml/2006/main">
            <a:off x="137160"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224CDC08-DEE4-467D-A873-0588CD9891AE}"/>
              </a:ext>
            </a:extLst>
          </p:cNvPr>
          <p:cNvSpPr>
            <a:spLocks xmlns:a="http://schemas.openxmlformats.org/drawingml/2006/main" noGrp="1"/>
          </p:cNvSpPr>
          <p:nvPr/>
        </p:nvSpPr>
        <p:spPr>
          <a:xfrm xmlns:a="http://schemas.openxmlformats.org/drawingml/2006/main">
            <a:off x="137160" y="1188720"/>
            <a:ext cx="3749040" cy="109728"/>
          </a:xfrm>
          <a:prstGeom xmlns:a="http://schemas.openxmlformats.org/drawingml/2006/main" prst="rect">
            <a:avLst/>
          </a:prstGeom>
          <a:solidFill xmlns:a="http://schemas.openxmlformats.org/drawingml/2006/main">
            <a:srgbClr val="4A2060"/>
          </a:solidFill>
          <a:ln xmlns:a="http://schemas.openxmlformats.org/drawingml/2006/main" w="12700">
            <a:solidFill>
              <a:srgbClr val="4A2060"/>
            </a:solidFill>
            <a:prstDash val="solid"/>
          </a:ln>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BFF59F12-7350-4984-9BCB-8F7A75301A6C}"/>
              </a:ext>
            </a:extLst>
          </p:cNvPr>
          <p:cNvSpPr>
            <a:spLocks xmlns:a="http://schemas.openxmlformats.org/drawingml/2006/main" noGrp="1"/>
          </p:cNvSpPr>
          <p:nvPr/>
        </p:nvSpPr>
        <p:spPr>
          <a:xfrm xmlns:a="http://schemas.openxmlformats.org/drawingml/2006/main">
            <a:off x="365760" y="1444752"/>
            <a:ext cx="749808" cy="749808"/>
          </a:xfrm>
          <a:prstGeom xmlns:a="http://schemas.openxmlformats.org/drawingml/2006/main" prst="ellipse">
            <a:avLst/>
          </a:prstGeom>
          <a:solidFill xmlns:a="http://schemas.openxmlformats.org/drawingml/2006/main">
            <a:srgbClr val="4A2060"/>
          </a:solidFill>
          <a:ln xmlns:a="http://schemas.openxmlformats.org/drawingml/2006/main" w="12700">
            <a:solidFill>
              <a:srgbClr val="4A2060"/>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A48CD988-7AC9-48ED-9CFA-CC52CBF9A1FC}"/>
              </a:ext>
            </a:extLst>
          </p:cNvPr>
          <p:cNvSpPr>
            <a:spLocks xmlns:a="http://schemas.openxmlformats.org/drawingml/2006/main" noGrp="1"/>
          </p:cNvSpPr>
          <p:nvPr/>
        </p:nvSpPr>
        <p:spPr>
          <a:xfrm xmlns:a="http://schemas.openxmlformats.org/drawingml/2006/main">
            <a:off x="365760"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TM</a:t>
            </a:r>
          </a:p>
        </p:txBody>
      </p:sp>
      <p:sp>
        <p:nvSpPr>
          <p:cNvPr id="11" name="Text 9">
            <a:extLst xmlns:a="http://schemas.openxmlformats.org/drawingml/2006/main">
              <a:ext uri="{FF2B5EF4-FFF2-40B4-BE49-F238E27FC236}">
                <a16:creationId xmlns:a16="http://schemas.microsoft.com/office/drawing/2014/main" id="{AF21397E-A1DD-416D-AB53-98CB17F28837}"/>
              </a:ext>
            </a:extLst>
          </p:cNvPr>
          <p:cNvSpPr>
            <a:spLocks xmlns:a="http://schemas.openxmlformats.org/drawingml/2006/main" noGrp="1"/>
          </p:cNvSpPr>
          <p:nvPr/>
        </p:nvSpPr>
        <p:spPr>
          <a:xfrm xmlns:a="http://schemas.openxmlformats.org/drawingml/2006/main">
            <a:off x="2423160"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#11</a:t>
            </a:r>
          </a:p>
        </p:txBody>
      </p:sp>
      <p:sp>
        <p:nvSpPr>
          <p:cNvPr id="12" name="Text 10">
            <a:extLst xmlns:a="http://schemas.openxmlformats.org/drawingml/2006/main">
              <a:ext uri="{FF2B5EF4-FFF2-40B4-BE49-F238E27FC236}">
                <a16:creationId xmlns:a16="http://schemas.microsoft.com/office/drawing/2014/main" id="{00146A30-7CFD-42B9-9B2D-A8ACB8361EB8}"/>
              </a:ext>
            </a:extLst>
          </p:cNvPr>
          <p:cNvSpPr>
            <a:spLocks xmlns:a="http://schemas.openxmlformats.org/drawingml/2006/main" noGrp="1"/>
          </p:cNvSpPr>
          <p:nvPr/>
        </p:nvSpPr>
        <p:spPr>
          <a:xfrm xmlns:a="http://schemas.openxmlformats.org/drawingml/2006/main">
            <a:off x="1216152"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Thomas Murphy</a:t>
            </a:r>
          </a:p>
        </p:txBody>
      </p:sp>
      <p:sp>
        <p:nvSpPr>
          <p:cNvPr id="13" name="Text 11">
            <a:extLst xmlns:a="http://schemas.openxmlformats.org/drawingml/2006/main">
              <a:ext uri="{FF2B5EF4-FFF2-40B4-BE49-F238E27FC236}">
                <a16:creationId xmlns:a16="http://schemas.microsoft.com/office/drawing/2014/main" id="{5CD937BC-3829-49F6-A670-0C15E050CFC9}"/>
              </a:ext>
            </a:extLst>
          </p:cNvPr>
          <p:cNvSpPr>
            <a:spLocks xmlns:a="http://schemas.openxmlformats.org/drawingml/2006/main" noGrp="1"/>
          </p:cNvSpPr>
          <p:nvPr/>
        </p:nvSpPr>
        <p:spPr>
          <a:xfrm xmlns:a="http://schemas.openxmlformats.org/drawingml/2006/main">
            <a:off x="1216152"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45  ·  Police Officer</a:t>
            </a:r>
          </a:p>
        </p:txBody>
      </p:sp>
      <p:sp>
        <p:nvSpPr>
          <p:cNvPr id="14" name="Shape 12">
            <a:extLst xmlns:a="http://schemas.openxmlformats.org/drawingml/2006/main">
              <a:ext uri="{FF2B5EF4-FFF2-40B4-BE49-F238E27FC236}">
                <a16:creationId xmlns:a16="http://schemas.microsoft.com/office/drawing/2014/main" id="{F179781E-C28C-41C1-A87C-F3EEC655E74F}"/>
              </a:ext>
            </a:extLst>
          </p:cNvPr>
          <p:cNvSpPr>
            <a:spLocks xmlns:a="http://schemas.openxmlformats.org/drawingml/2006/main" noGrp="1"/>
          </p:cNvSpPr>
          <p:nvPr/>
        </p:nvSpPr>
        <p:spPr>
          <a:xfrm xmlns:a="http://schemas.openxmlformats.org/drawingml/2006/main">
            <a:off x="365760" y="2322576"/>
            <a:ext cx="1325880" cy="237744"/>
          </a:xfrm>
          <a:prstGeom xmlns:a="http://schemas.openxmlformats.org/drawingml/2006/main" prst="rect">
            <a:avLst/>
          </a:prstGeom>
          <a:solidFill xmlns:a="http://schemas.openxmlformats.org/drawingml/2006/main">
            <a:srgbClr val="FFF0E8"/>
          </a:solidFill>
          <a:ln xmlns:a="http://schemas.openxmlformats.org/drawingml/2006/main" w="12700">
            <a:solidFill>
              <a:srgbClr val="FFF0E8"/>
            </a:solidFill>
            <a:prstDash val="solid"/>
          </a:ln>
        </p:spPr>
        <p:txBody>
          <a:bodyPr xmlns:a="http://schemas.openxmlformats.org/drawingml/2006/main"/>
          <a:lstStyle xmlns:a="http://schemas.openxmlformats.org/drawingml/2006/main"/>
          <a:p xmlns:a="http://schemas.openxmlformats.org/drawingml/2006/main"/>
        </p:txBody>
      </p:sp>
      <p:sp>
        <p:nvSpPr>
          <p:cNvPr id="15" name="Shape 13">
            <a:extLst xmlns:a="http://schemas.openxmlformats.org/drawingml/2006/main">
              <a:ext uri="{FF2B5EF4-FFF2-40B4-BE49-F238E27FC236}">
                <a16:creationId xmlns:a16="http://schemas.microsoft.com/office/drawing/2014/main" id="{8F1F793E-BA50-4BA0-9C47-77FDE496AAD5}"/>
              </a:ext>
            </a:extLst>
          </p:cNvPr>
          <p:cNvSpPr>
            <a:spLocks xmlns:a="http://schemas.openxmlformats.org/drawingml/2006/main" noGrp="1"/>
          </p:cNvSpPr>
          <p:nvPr/>
        </p:nvSpPr>
        <p:spPr>
          <a:xfrm xmlns:a="http://schemas.openxmlformats.org/drawingml/2006/main">
            <a:off x="429768" y="2382012"/>
            <a:ext cx="91440" cy="91440"/>
          </a:xfrm>
          <a:prstGeom xmlns:a="http://schemas.openxmlformats.org/drawingml/2006/main" prst="ellipse">
            <a:avLst/>
          </a:prstGeom>
          <a:solidFill xmlns:a="http://schemas.openxmlformats.org/drawingml/2006/main">
            <a:srgbClr val="C05B30"/>
          </a:solidFill>
          <a:ln xmlns:a="http://schemas.openxmlformats.org/drawingml/2006/main" w="12700">
            <a:solidFill>
              <a:srgbClr val="C05B30"/>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40B75EC9-58C8-4188-BA19-209895950600}"/>
              </a:ext>
            </a:extLst>
          </p:cNvPr>
          <p:cNvSpPr>
            <a:spLocks xmlns:a="http://schemas.openxmlformats.org/drawingml/2006/main" noGrp="1"/>
          </p:cNvSpPr>
          <p:nvPr/>
        </p:nvSpPr>
        <p:spPr>
          <a:xfrm xmlns:a="http://schemas.openxmlformats.org/drawingml/2006/main">
            <a:off x="557784"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C05B30"/>
                </a:solidFill>
                <a:latin typeface="Calibri"/>
                <a:ea typeface="Calibri"/>
                <a:cs typeface="Calibri"/>
              </a:rPr>
              <a:t>RISK AVERSE</a:t>
            </a:r>
          </a:p>
        </p:txBody>
      </p:sp>
      <p:sp>
        <p:nvSpPr>
          <p:cNvPr id="17" name="Shape 15">
            <a:extLst xmlns:a="http://schemas.openxmlformats.org/drawingml/2006/main">
              <a:ext uri="{FF2B5EF4-FFF2-40B4-BE49-F238E27FC236}">
                <a16:creationId xmlns:a16="http://schemas.microsoft.com/office/drawing/2014/main" id="{836F59FF-0245-4F93-9A8B-01FF48E3955A}"/>
              </a:ext>
            </a:extLst>
          </p:cNvPr>
          <p:cNvSpPr>
            <a:spLocks xmlns:a="http://schemas.openxmlformats.org/drawingml/2006/main" noGrp="1"/>
          </p:cNvSpPr>
          <p:nvPr/>
        </p:nvSpPr>
        <p:spPr>
          <a:xfrm xmlns:a="http://schemas.openxmlformats.org/drawingml/2006/main">
            <a:off x="365760"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5396A284-6CB7-4C0A-8D89-2D916E2A22E1}"/>
              </a:ext>
            </a:extLst>
          </p:cNvPr>
          <p:cNvSpPr>
            <a:spLocks xmlns:a="http://schemas.openxmlformats.org/drawingml/2006/main" noGrp="1"/>
          </p:cNvSpPr>
          <p:nvPr/>
        </p:nvSpPr>
        <p:spPr>
          <a:xfrm xmlns:a="http://schemas.openxmlformats.org/drawingml/2006/main">
            <a:off x="36576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19" name="Text 17">
            <a:extLst xmlns:a="http://schemas.openxmlformats.org/drawingml/2006/main">
              <a:ext uri="{FF2B5EF4-FFF2-40B4-BE49-F238E27FC236}">
                <a16:creationId xmlns:a16="http://schemas.microsoft.com/office/drawing/2014/main" id="{F40EE79C-B674-4615-8A48-65C913DC8D63}"/>
              </a:ext>
            </a:extLst>
          </p:cNvPr>
          <p:cNvSpPr>
            <a:spLocks xmlns:a="http://schemas.openxmlformats.org/drawingml/2006/main" noGrp="1"/>
          </p:cNvSpPr>
          <p:nvPr/>
        </p:nvSpPr>
        <p:spPr>
          <a:xfrm xmlns:a="http://schemas.openxmlformats.org/drawingml/2006/main">
            <a:off x="36576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$85,000</a:t>
            </a:r>
          </a:p>
        </p:txBody>
      </p:sp>
      <p:sp>
        <p:nvSpPr>
          <p:cNvPr id="20" name="Text 18">
            <a:extLst xmlns:a="http://schemas.openxmlformats.org/drawingml/2006/main">
              <a:ext uri="{FF2B5EF4-FFF2-40B4-BE49-F238E27FC236}">
                <a16:creationId xmlns:a16="http://schemas.microsoft.com/office/drawing/2014/main" id="{F8D57A37-EC69-4BCD-B5B3-E1CF7362262B}"/>
              </a:ext>
            </a:extLst>
          </p:cNvPr>
          <p:cNvSpPr>
            <a:spLocks xmlns:a="http://schemas.openxmlformats.org/drawingml/2006/main" noGrp="1"/>
          </p:cNvSpPr>
          <p:nvPr/>
        </p:nvSpPr>
        <p:spPr>
          <a:xfrm xmlns:a="http://schemas.openxmlformats.org/drawingml/2006/main">
            <a:off x="210312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21" name="Text 19">
            <a:extLst xmlns:a="http://schemas.openxmlformats.org/drawingml/2006/main">
              <a:ext uri="{FF2B5EF4-FFF2-40B4-BE49-F238E27FC236}">
                <a16:creationId xmlns:a16="http://schemas.microsoft.com/office/drawing/2014/main" id="{62A8EF80-F11B-448C-A6D3-178FB2437189}"/>
              </a:ext>
            </a:extLst>
          </p:cNvPr>
          <p:cNvSpPr>
            <a:spLocks xmlns:a="http://schemas.openxmlformats.org/drawingml/2006/main" noGrp="1"/>
          </p:cNvSpPr>
          <p:nvPr/>
        </p:nvSpPr>
        <p:spPr>
          <a:xfrm xmlns:a="http://schemas.openxmlformats.org/drawingml/2006/main">
            <a:off x="210312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$200,000</a:t>
            </a:r>
          </a:p>
        </p:txBody>
      </p:sp>
      <p:sp>
        <p:nvSpPr>
          <p:cNvPr id="22" name="Shape 20">
            <a:extLst xmlns:a="http://schemas.openxmlformats.org/drawingml/2006/main">
              <a:ext uri="{FF2B5EF4-FFF2-40B4-BE49-F238E27FC236}">
                <a16:creationId xmlns:a16="http://schemas.microsoft.com/office/drawing/2014/main" id="{45652A07-AC4A-4900-85F4-9819DAD3F49D}"/>
              </a:ext>
            </a:extLst>
          </p:cNvPr>
          <p:cNvSpPr>
            <a:spLocks xmlns:a="http://schemas.openxmlformats.org/drawingml/2006/main" noGrp="1"/>
          </p:cNvSpPr>
          <p:nvPr/>
        </p:nvSpPr>
        <p:spPr>
          <a:xfrm xmlns:a="http://schemas.openxmlformats.org/drawingml/2006/main">
            <a:off x="365760" y="3456432"/>
            <a:ext cx="3291840" cy="804672"/>
          </a:xfrm>
          <a:prstGeom xmlns:a="http://schemas.openxmlformats.org/drawingml/2006/main" prst="rect">
            <a:avLst/>
          </a:prstGeom>
          <a:solidFill xmlns:a="http://schemas.openxmlformats.org/drawingml/2006/main">
            <a:srgbClr val="E4D0F0"/>
          </a:solidFill>
          <a:ln xmlns:a="http://schemas.openxmlformats.org/drawingml/2006/main" w="12700">
            <a:solidFill>
              <a:srgbClr val="E4D0F0"/>
            </a:solidFill>
            <a:prstDash val="solid"/>
          </a:ln>
        </p:spPr>
        <p:txBody>
          <a:bodyPr xmlns:a="http://schemas.openxmlformats.org/drawingml/2006/main"/>
          <a:lstStyle xmlns:a="http://schemas.openxmlformats.org/drawingml/2006/main"/>
          <a:p xmlns:a="http://schemas.openxmlformats.org/drawingml/2006/main"/>
        </p:txBody>
      </p:sp>
      <p:sp>
        <p:nvSpPr>
          <p:cNvPr id="23" name="Shape 21">
            <a:extLst xmlns:a="http://schemas.openxmlformats.org/drawingml/2006/main">
              <a:ext uri="{FF2B5EF4-FFF2-40B4-BE49-F238E27FC236}">
                <a16:creationId xmlns:a16="http://schemas.microsoft.com/office/drawing/2014/main" id="{40F1BBA3-462D-437F-8F8A-299764CDAAF3}"/>
              </a:ext>
            </a:extLst>
          </p:cNvPr>
          <p:cNvSpPr>
            <a:spLocks xmlns:a="http://schemas.openxmlformats.org/drawingml/2006/main" noGrp="1"/>
          </p:cNvSpPr>
          <p:nvPr/>
        </p:nvSpPr>
        <p:spPr>
          <a:xfrm xmlns:a="http://schemas.openxmlformats.org/drawingml/2006/main">
            <a:off x="365760" y="3456432"/>
            <a:ext cx="54864" cy="804672"/>
          </a:xfrm>
          <a:prstGeom xmlns:a="http://schemas.openxmlformats.org/drawingml/2006/main" prst="rect">
            <a:avLst/>
          </a:prstGeom>
          <a:solidFill xmlns:a="http://schemas.openxmlformats.org/drawingml/2006/main">
            <a:srgbClr val="4A2060"/>
          </a:solidFill>
          <a:ln xmlns:a="http://schemas.openxmlformats.org/drawingml/2006/main" w="12700">
            <a:solidFill>
              <a:srgbClr val="4A2060"/>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FC04A422-E49C-45ED-BDFC-56DDB5E070C3}"/>
              </a:ext>
            </a:extLst>
          </p:cNvPr>
          <p:cNvSpPr>
            <a:spLocks xmlns:a="http://schemas.openxmlformats.org/drawingml/2006/main" noGrp="1"/>
          </p:cNvSpPr>
          <p:nvPr/>
        </p:nvSpPr>
        <p:spPr>
          <a:xfrm xmlns:a="http://schemas.openxmlformats.org/drawingml/2006/main">
            <a:off x="484632"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4A2060"/>
                </a:solidFill>
                <a:latin typeface="Calibri"/>
                <a:ea typeface="Calibri"/>
                <a:cs typeface="Calibri"/>
              </a:rPr>
              <a:t>PRIMARY GOAL</a:t>
            </a:r>
          </a:p>
        </p:txBody>
      </p:sp>
      <p:sp>
        <p:nvSpPr>
          <p:cNvPr id="25" name="Text 23">
            <a:extLst xmlns:a="http://schemas.openxmlformats.org/drawingml/2006/main">
              <a:ext uri="{FF2B5EF4-FFF2-40B4-BE49-F238E27FC236}">
                <a16:creationId xmlns:a16="http://schemas.microsoft.com/office/drawing/2014/main" id="{0BA23BAF-0030-49AA-A3F9-EAE1D7EC6839}"/>
              </a:ext>
            </a:extLst>
          </p:cNvPr>
          <p:cNvSpPr>
            <a:spLocks xmlns:a="http://schemas.openxmlformats.org/drawingml/2006/main" noGrp="1"/>
          </p:cNvSpPr>
          <p:nvPr/>
        </p:nvSpPr>
        <p:spPr>
          <a:xfrm xmlns:a="http://schemas.openxmlformats.org/drawingml/2006/main">
            <a:off x="484632"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Supplemental Retirement</a:t>
            </a:r>
          </a:p>
        </p:txBody>
      </p:sp>
      <p:sp>
        <p:nvSpPr>
          <p:cNvPr id="26" name="Shape 24">
            <a:extLst xmlns:a="http://schemas.openxmlformats.org/drawingml/2006/main">
              <a:ext uri="{FF2B5EF4-FFF2-40B4-BE49-F238E27FC236}">
                <a16:creationId xmlns:a16="http://schemas.microsoft.com/office/drawing/2014/main" id="{022F7234-F6FC-4271-84DF-368F1496BC2C}"/>
              </a:ext>
            </a:extLst>
          </p:cNvPr>
          <p:cNvSpPr>
            <a:spLocks xmlns:a="http://schemas.openxmlformats.org/drawingml/2006/main" noGrp="1"/>
          </p:cNvSpPr>
          <p:nvPr/>
        </p:nvSpPr>
        <p:spPr>
          <a:xfrm xmlns:a="http://schemas.openxmlformats.org/drawingml/2006/main">
            <a:off x="365760"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7EC5367D-EF39-4F1B-AA54-A9AFB2C6AA81}"/>
              </a:ext>
            </a:extLst>
          </p:cNvPr>
          <p:cNvSpPr>
            <a:spLocks xmlns:a="http://schemas.openxmlformats.org/drawingml/2006/main" noGrp="1"/>
          </p:cNvSpPr>
          <p:nvPr/>
        </p:nvSpPr>
        <p:spPr>
          <a:xfrm xmlns:a="http://schemas.openxmlformats.org/drawingml/2006/main">
            <a:off x="484632"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28" name="Text 26">
            <a:extLst xmlns:a="http://schemas.openxmlformats.org/drawingml/2006/main">
              <a:ext uri="{FF2B5EF4-FFF2-40B4-BE49-F238E27FC236}">
                <a16:creationId xmlns:a16="http://schemas.microsoft.com/office/drawing/2014/main" id="{C3CCAEC5-54CB-42E0-89E0-87B98C7EAE95}"/>
              </a:ext>
            </a:extLst>
          </p:cNvPr>
          <p:cNvSpPr>
            <a:spLocks xmlns:a="http://schemas.openxmlformats.org/drawingml/2006/main" noGrp="1"/>
          </p:cNvSpPr>
          <p:nvPr/>
        </p:nvSpPr>
        <p:spPr>
          <a:xfrm xmlns:a="http://schemas.openxmlformats.org/drawingml/2006/main">
            <a:off x="484632"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Psychological aversion to losses; Pension-backed</a:t>
            </a:r>
          </a:p>
        </p:txBody>
      </p:sp>
      <p:sp>
        <p:nvSpPr>
          <p:cNvPr id="29" name="Shape 27">
            <a:extLst xmlns:a="http://schemas.openxmlformats.org/drawingml/2006/main">
              <a:ext uri="{FF2B5EF4-FFF2-40B4-BE49-F238E27FC236}">
                <a16:creationId xmlns:a16="http://schemas.microsoft.com/office/drawing/2014/main" id="{11A2E740-4BFA-43F8-B002-D300735163D7}"/>
              </a:ext>
            </a:extLst>
          </p:cNvPr>
          <p:cNvSpPr>
            <a:spLocks xmlns:a="http://schemas.openxmlformats.org/drawingml/2006/main" noGrp="1"/>
          </p:cNvSpPr>
          <p:nvPr/>
        </p:nvSpPr>
        <p:spPr>
          <a:xfrm xmlns:a="http://schemas.openxmlformats.org/drawingml/2006/main">
            <a:off x="365760" y="5230368"/>
            <a:ext cx="1097280" cy="877824"/>
          </a:xfrm>
          <a:prstGeom xmlns:a="http://schemas.openxmlformats.org/drawingml/2006/main" prst="rect">
            <a:avLst/>
          </a:prstGeom>
          <a:solidFill xmlns:a="http://schemas.openxmlformats.org/drawingml/2006/main">
            <a:srgbClr val="4A206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D2C46C0A-6021-4D1A-9A8E-DC59017B7135}"/>
              </a:ext>
            </a:extLst>
          </p:cNvPr>
          <p:cNvSpPr>
            <a:spLocks xmlns:a="http://schemas.openxmlformats.org/drawingml/2006/main" noGrp="1"/>
          </p:cNvSpPr>
          <p:nvPr/>
        </p:nvSpPr>
        <p:spPr>
          <a:xfrm xmlns:a="http://schemas.openxmlformats.org/drawingml/2006/main">
            <a:off x="38404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31" name="Text 29">
            <a:extLst xmlns:a="http://schemas.openxmlformats.org/drawingml/2006/main">
              <a:ext uri="{FF2B5EF4-FFF2-40B4-BE49-F238E27FC236}">
                <a16:creationId xmlns:a16="http://schemas.microsoft.com/office/drawing/2014/main" id="{14D6F53D-8ECA-441C-A08A-FF112CAAB86C}"/>
              </a:ext>
            </a:extLst>
          </p:cNvPr>
          <p:cNvSpPr>
            <a:spLocks xmlns:a="http://schemas.openxmlformats.org/drawingml/2006/main" noGrp="1"/>
          </p:cNvSpPr>
          <p:nvPr/>
        </p:nvSpPr>
        <p:spPr>
          <a:xfrm xmlns:a="http://schemas.openxmlformats.org/drawingml/2006/main">
            <a:off x="41148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4.0%</a:t>
            </a:r>
          </a:p>
        </p:txBody>
      </p:sp>
      <p:sp>
        <p:nvSpPr>
          <p:cNvPr id="32" name="Shape 30">
            <a:extLst xmlns:a="http://schemas.openxmlformats.org/drawingml/2006/main">
              <a:ext uri="{FF2B5EF4-FFF2-40B4-BE49-F238E27FC236}">
                <a16:creationId xmlns:a16="http://schemas.microsoft.com/office/drawing/2014/main" id="{DAB4DA3A-D9E8-4DAF-9550-3A45EF229B20}"/>
              </a:ext>
            </a:extLst>
          </p:cNvPr>
          <p:cNvSpPr>
            <a:spLocks xmlns:a="http://schemas.openxmlformats.org/drawingml/2006/main" noGrp="1"/>
          </p:cNvSpPr>
          <p:nvPr/>
        </p:nvSpPr>
        <p:spPr>
          <a:xfrm xmlns:a="http://schemas.openxmlformats.org/drawingml/2006/main">
            <a:off x="1463040"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E102F331-22B6-4178-8B3C-B371D9661317}"/>
              </a:ext>
            </a:extLst>
          </p:cNvPr>
          <p:cNvSpPr>
            <a:spLocks xmlns:a="http://schemas.openxmlformats.org/drawingml/2006/main" noGrp="1"/>
          </p:cNvSpPr>
          <p:nvPr/>
        </p:nvSpPr>
        <p:spPr>
          <a:xfrm xmlns:a="http://schemas.openxmlformats.org/drawingml/2006/main">
            <a:off x="148132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34" name="Text 32">
            <a:extLst xmlns:a="http://schemas.openxmlformats.org/drawingml/2006/main">
              <a:ext uri="{FF2B5EF4-FFF2-40B4-BE49-F238E27FC236}">
                <a16:creationId xmlns:a16="http://schemas.microsoft.com/office/drawing/2014/main" id="{5054E909-8D23-4D7B-97E6-7A4C76C413BD}"/>
              </a:ext>
            </a:extLst>
          </p:cNvPr>
          <p:cNvSpPr>
            <a:spLocks xmlns:a="http://schemas.openxmlformats.org/drawingml/2006/main" noGrp="1"/>
          </p:cNvSpPr>
          <p:nvPr/>
        </p:nvSpPr>
        <p:spPr>
          <a:xfrm xmlns:a="http://schemas.openxmlformats.org/drawingml/2006/main">
            <a:off x="150876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5.0%</a:t>
            </a:r>
          </a:p>
        </p:txBody>
      </p:sp>
      <p:sp>
        <p:nvSpPr>
          <p:cNvPr id="35" name="Shape 33">
            <a:extLst xmlns:a="http://schemas.openxmlformats.org/drawingml/2006/main">
              <a:ext uri="{FF2B5EF4-FFF2-40B4-BE49-F238E27FC236}">
                <a16:creationId xmlns:a16="http://schemas.microsoft.com/office/drawing/2014/main" id="{5C207959-1973-4C87-B68B-0CF93EE4444E}"/>
              </a:ext>
            </a:extLst>
          </p:cNvPr>
          <p:cNvSpPr>
            <a:spLocks xmlns:a="http://schemas.openxmlformats.org/drawingml/2006/main" noGrp="1"/>
          </p:cNvSpPr>
          <p:nvPr/>
        </p:nvSpPr>
        <p:spPr>
          <a:xfrm xmlns:a="http://schemas.openxmlformats.org/drawingml/2006/main">
            <a:off x="2560320"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27AF5A1B-B276-47FC-AC1C-03626B73BE81}"/>
              </a:ext>
            </a:extLst>
          </p:cNvPr>
          <p:cNvSpPr>
            <a:spLocks xmlns:a="http://schemas.openxmlformats.org/drawingml/2006/main" noGrp="1"/>
          </p:cNvSpPr>
          <p:nvPr/>
        </p:nvSpPr>
        <p:spPr>
          <a:xfrm xmlns:a="http://schemas.openxmlformats.org/drawingml/2006/main">
            <a:off x="257860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37" name="Text 35">
            <a:extLst xmlns:a="http://schemas.openxmlformats.org/drawingml/2006/main">
              <a:ext uri="{FF2B5EF4-FFF2-40B4-BE49-F238E27FC236}">
                <a16:creationId xmlns:a16="http://schemas.microsoft.com/office/drawing/2014/main" id="{03A454A8-A568-43BB-A271-BC866FB2680D}"/>
              </a:ext>
            </a:extLst>
          </p:cNvPr>
          <p:cNvSpPr>
            <a:spLocks xmlns:a="http://schemas.openxmlformats.org/drawingml/2006/main" noGrp="1"/>
          </p:cNvSpPr>
          <p:nvPr/>
        </p:nvSpPr>
        <p:spPr>
          <a:xfrm xmlns:a="http://schemas.openxmlformats.org/drawingml/2006/main">
            <a:off x="260604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9.0</a:t>
            </a:r>
          </a:p>
        </p:txBody>
      </p:sp>
      <p:sp>
        <p:nvSpPr>
          <p:cNvPr id="38" name="Shape 36">
            <a:extLst xmlns:a="http://schemas.openxmlformats.org/drawingml/2006/main">
              <a:ext uri="{FF2B5EF4-FFF2-40B4-BE49-F238E27FC236}">
                <a16:creationId xmlns:a16="http://schemas.microsoft.com/office/drawing/2014/main" id="{3207C28E-2398-4C7C-B0B8-EA4FE9106721}"/>
              </a:ext>
            </a:extLst>
          </p:cNvPr>
          <p:cNvSpPr>
            <a:spLocks xmlns:a="http://schemas.openxmlformats.org/drawingml/2006/main" noGrp="1"/>
          </p:cNvSpPr>
          <p:nvPr/>
        </p:nvSpPr>
        <p:spPr>
          <a:xfrm xmlns:a="http://schemas.openxmlformats.org/drawingml/2006/main">
            <a:off x="4041648"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39" name="Shape 37">
            <a:extLst xmlns:a="http://schemas.openxmlformats.org/drawingml/2006/main">
              <a:ext uri="{FF2B5EF4-FFF2-40B4-BE49-F238E27FC236}">
                <a16:creationId xmlns:a16="http://schemas.microsoft.com/office/drawing/2014/main" id="{98F2DE66-F815-430A-A114-FF04F5D0332E}"/>
              </a:ext>
            </a:extLst>
          </p:cNvPr>
          <p:cNvSpPr>
            <a:spLocks xmlns:a="http://schemas.openxmlformats.org/drawingml/2006/main" noGrp="1"/>
          </p:cNvSpPr>
          <p:nvPr/>
        </p:nvSpPr>
        <p:spPr>
          <a:xfrm xmlns:a="http://schemas.openxmlformats.org/drawingml/2006/main">
            <a:off x="4041648" y="1188720"/>
            <a:ext cx="3749040" cy="109728"/>
          </a:xfrm>
          <a:prstGeom xmlns:a="http://schemas.openxmlformats.org/drawingml/2006/main" prst="rect">
            <a:avLst/>
          </a:prstGeom>
          <a:solidFill xmlns:a="http://schemas.openxmlformats.org/drawingml/2006/main">
            <a:srgbClr val="4A2060"/>
          </a:solidFill>
          <a:ln xmlns:a="http://schemas.openxmlformats.org/drawingml/2006/main" w="12700">
            <a:solidFill>
              <a:srgbClr val="4A2060"/>
            </a:solidFill>
            <a:prstDash val="solid"/>
          </a:ln>
        </p:spPr>
        <p:txBody>
          <a:bodyPr xmlns:a="http://schemas.openxmlformats.org/drawingml/2006/main"/>
          <a:lstStyle xmlns:a="http://schemas.openxmlformats.org/drawingml/2006/main"/>
          <a:p xmlns:a="http://schemas.openxmlformats.org/drawingml/2006/main"/>
        </p:txBody>
      </p:sp>
      <p:sp>
        <p:nvSpPr>
          <p:cNvPr id="40" name="Shape 38">
            <a:extLst xmlns:a="http://schemas.openxmlformats.org/drawingml/2006/main">
              <a:ext uri="{FF2B5EF4-FFF2-40B4-BE49-F238E27FC236}">
                <a16:creationId xmlns:a16="http://schemas.microsoft.com/office/drawing/2014/main" id="{43A6FF36-8ED5-402D-83FB-5AFF9D76636F}"/>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ellipse">
            <a:avLst/>
          </a:prstGeom>
          <a:solidFill xmlns:a="http://schemas.openxmlformats.org/drawingml/2006/main">
            <a:srgbClr val="4A2060"/>
          </a:solidFill>
          <a:ln xmlns:a="http://schemas.openxmlformats.org/drawingml/2006/main" w="12700">
            <a:solidFill>
              <a:srgbClr val="4A2060"/>
            </a:solidFill>
            <a:prstDash val="solid"/>
          </a:ln>
        </p:spPr>
        <p:txBody>
          <a:bodyPr xmlns:a="http://schemas.openxmlformats.org/drawingml/2006/main"/>
          <a:lstStyle xmlns:a="http://schemas.openxmlformats.org/drawingml/2006/main"/>
          <a:p xmlns:a="http://schemas.openxmlformats.org/drawingml/2006/main"/>
        </p:txBody>
      </p:sp>
      <p:sp>
        <p:nvSpPr>
          <p:cNvPr id="41" name="Text 39">
            <a:extLst xmlns:a="http://schemas.openxmlformats.org/drawingml/2006/main">
              <a:ext uri="{FF2B5EF4-FFF2-40B4-BE49-F238E27FC236}">
                <a16:creationId xmlns:a16="http://schemas.microsoft.com/office/drawing/2014/main" id="{2C704C3B-4951-4F36-9765-ACE3154ACB1D}"/>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YT</a:t>
            </a:r>
          </a:p>
        </p:txBody>
      </p:sp>
      <p:sp>
        <p:nvSpPr>
          <p:cNvPr id="42" name="Text 40">
            <a:extLst xmlns:a="http://schemas.openxmlformats.org/drawingml/2006/main">
              <a:ext uri="{FF2B5EF4-FFF2-40B4-BE49-F238E27FC236}">
                <a16:creationId xmlns:a16="http://schemas.microsoft.com/office/drawing/2014/main" id="{5703A5DD-4FD5-4177-80AA-2D02B807C742}"/>
              </a:ext>
            </a:extLst>
          </p:cNvPr>
          <p:cNvSpPr>
            <a:spLocks xmlns:a="http://schemas.openxmlformats.org/drawingml/2006/main" noGrp="1"/>
          </p:cNvSpPr>
          <p:nvPr/>
        </p:nvSpPr>
        <p:spPr>
          <a:xfrm xmlns:a="http://schemas.openxmlformats.org/drawingml/2006/main">
            <a:off x="6327648"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#12</a:t>
            </a:r>
          </a:p>
        </p:txBody>
      </p:sp>
      <p:sp>
        <p:nvSpPr>
          <p:cNvPr id="43" name="Text 41">
            <a:extLst xmlns:a="http://schemas.openxmlformats.org/drawingml/2006/main">
              <a:ext uri="{FF2B5EF4-FFF2-40B4-BE49-F238E27FC236}">
                <a16:creationId xmlns:a16="http://schemas.microsoft.com/office/drawing/2014/main" id="{BB8DF64E-5537-4A7D-894B-5F4DF0211BB8}"/>
              </a:ext>
            </a:extLst>
          </p:cNvPr>
          <p:cNvSpPr>
            <a:spLocks xmlns:a="http://schemas.openxmlformats.org/drawingml/2006/main" noGrp="1"/>
          </p:cNvSpPr>
          <p:nvPr/>
        </p:nvSpPr>
        <p:spPr>
          <a:xfrm xmlns:a="http://schemas.openxmlformats.org/drawingml/2006/main">
            <a:off x="5120640"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Yuki Tanaka</a:t>
            </a:r>
          </a:p>
        </p:txBody>
      </p:sp>
      <p:sp>
        <p:nvSpPr>
          <p:cNvPr id="44" name="Text 42">
            <a:extLst xmlns:a="http://schemas.openxmlformats.org/drawingml/2006/main">
              <a:ext uri="{FF2B5EF4-FFF2-40B4-BE49-F238E27FC236}">
                <a16:creationId xmlns:a16="http://schemas.microsoft.com/office/drawing/2014/main" id="{B63A1F52-D287-4576-AB15-F458793613D9}"/>
              </a:ext>
            </a:extLst>
          </p:cNvPr>
          <p:cNvSpPr>
            <a:spLocks xmlns:a="http://schemas.openxmlformats.org/drawingml/2006/main" noGrp="1"/>
          </p:cNvSpPr>
          <p:nvPr/>
        </p:nvSpPr>
        <p:spPr>
          <a:xfrm xmlns:a="http://schemas.openxmlformats.org/drawingml/2006/main">
            <a:off x="5120640"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38  ·  Tech Consultant</a:t>
            </a:r>
          </a:p>
        </p:txBody>
      </p:sp>
      <p:sp>
        <p:nvSpPr>
          <p:cNvPr id="45" name="Shape 43">
            <a:extLst xmlns:a="http://schemas.openxmlformats.org/drawingml/2006/main">
              <a:ext uri="{FF2B5EF4-FFF2-40B4-BE49-F238E27FC236}">
                <a16:creationId xmlns:a16="http://schemas.microsoft.com/office/drawing/2014/main" id="{3E9CFD57-36AA-45C7-AAFF-D89CAA0E5AC2}"/>
              </a:ext>
            </a:extLst>
          </p:cNvPr>
          <p:cNvSpPr>
            <a:spLocks xmlns:a="http://schemas.openxmlformats.org/drawingml/2006/main" noGrp="1"/>
          </p:cNvSpPr>
          <p:nvPr/>
        </p:nvSpPr>
        <p:spPr>
          <a:xfrm xmlns:a="http://schemas.openxmlformats.org/drawingml/2006/main">
            <a:off x="4270248" y="2322576"/>
            <a:ext cx="1325880" cy="237744"/>
          </a:xfrm>
          <a:prstGeom xmlns:a="http://schemas.openxmlformats.org/drawingml/2006/main" prst="rect">
            <a:avLst/>
          </a:prstGeom>
          <a:solidFill xmlns:a="http://schemas.openxmlformats.org/drawingml/2006/main">
            <a:srgbClr val="E8F0FF"/>
          </a:solidFill>
          <a:ln xmlns:a="http://schemas.openxmlformats.org/drawingml/2006/main" w="12700">
            <a:solidFill>
              <a:srgbClr val="E8F0FF"/>
            </a:solidFill>
            <a:prstDash val="solid"/>
          </a:ln>
        </p:spPr>
        <p:txBody>
          <a:bodyPr xmlns:a="http://schemas.openxmlformats.org/drawingml/2006/main"/>
          <a:lstStyle xmlns:a="http://schemas.openxmlformats.org/drawingml/2006/main"/>
          <a:p xmlns:a="http://schemas.openxmlformats.org/drawingml/2006/main"/>
        </p:txBody>
      </p:sp>
      <p:sp>
        <p:nvSpPr>
          <p:cNvPr id="46" name="Shape 44">
            <a:extLst xmlns:a="http://schemas.openxmlformats.org/drawingml/2006/main">
              <a:ext uri="{FF2B5EF4-FFF2-40B4-BE49-F238E27FC236}">
                <a16:creationId xmlns:a16="http://schemas.microsoft.com/office/drawing/2014/main" id="{198882EF-9185-4D9B-AD16-11F506D60E6C}"/>
              </a:ext>
            </a:extLst>
          </p:cNvPr>
          <p:cNvSpPr>
            <a:spLocks xmlns:a="http://schemas.openxmlformats.org/drawingml/2006/main" noGrp="1"/>
          </p:cNvSpPr>
          <p:nvPr/>
        </p:nvSpPr>
        <p:spPr>
          <a:xfrm xmlns:a="http://schemas.openxmlformats.org/drawingml/2006/main">
            <a:off x="4334256" y="2382012"/>
            <a:ext cx="91440" cy="91440"/>
          </a:xfrm>
          <a:prstGeom xmlns:a="http://schemas.openxmlformats.org/drawingml/2006/main" prst="ellipse">
            <a:avLst/>
          </a:prstGeom>
          <a:solidFill xmlns:a="http://schemas.openxmlformats.org/drawingml/2006/main">
            <a:srgbClr val="3A6EA5"/>
          </a:solidFill>
          <a:ln xmlns:a="http://schemas.openxmlformats.org/drawingml/2006/main" w="12700">
            <a:solidFill>
              <a:srgbClr val="3A6EA5"/>
            </a:solidFill>
            <a:prstDash val="solid"/>
          </a:ln>
        </p:spPr>
        <p:txBody>
          <a:bodyPr xmlns:a="http://schemas.openxmlformats.org/drawingml/2006/main"/>
          <a:lstStyle xmlns:a="http://schemas.openxmlformats.org/drawingml/2006/main"/>
          <a:p xmlns:a="http://schemas.openxmlformats.org/drawingml/2006/main"/>
        </p:txBody>
      </p:sp>
      <p:sp>
        <p:nvSpPr>
          <p:cNvPr id="47" name="Text 45">
            <a:extLst xmlns:a="http://schemas.openxmlformats.org/drawingml/2006/main">
              <a:ext uri="{FF2B5EF4-FFF2-40B4-BE49-F238E27FC236}">
                <a16:creationId xmlns:a16="http://schemas.microsoft.com/office/drawing/2014/main" id="{0CEB95FE-6FF1-49EF-BEC4-C001887357F4}"/>
              </a:ext>
            </a:extLst>
          </p:cNvPr>
          <p:cNvSpPr>
            <a:spLocks xmlns:a="http://schemas.openxmlformats.org/drawingml/2006/main" noGrp="1"/>
          </p:cNvSpPr>
          <p:nvPr/>
        </p:nvSpPr>
        <p:spPr>
          <a:xfrm xmlns:a="http://schemas.openxmlformats.org/drawingml/2006/main">
            <a:off x="4462272"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3A6EA5"/>
                </a:solidFill>
                <a:latin typeface="Calibri"/>
                <a:ea typeface="Calibri"/>
                <a:cs typeface="Calibri"/>
              </a:rPr>
              <a:t>RISK NEUTRAL</a:t>
            </a:r>
          </a:p>
        </p:txBody>
      </p:sp>
      <p:sp>
        <p:nvSpPr>
          <p:cNvPr id="48" name="Shape 46">
            <a:extLst xmlns:a="http://schemas.openxmlformats.org/drawingml/2006/main">
              <a:ext uri="{FF2B5EF4-FFF2-40B4-BE49-F238E27FC236}">
                <a16:creationId xmlns:a16="http://schemas.microsoft.com/office/drawing/2014/main" id="{3A97C21D-00DC-4348-8E55-34170C9F8729}"/>
              </a:ext>
            </a:extLst>
          </p:cNvPr>
          <p:cNvSpPr>
            <a:spLocks xmlns:a="http://schemas.openxmlformats.org/drawingml/2006/main" noGrp="1"/>
          </p:cNvSpPr>
          <p:nvPr/>
        </p:nvSpPr>
        <p:spPr>
          <a:xfrm xmlns:a="http://schemas.openxmlformats.org/drawingml/2006/main">
            <a:off x="4270248"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49" name="Text 47">
            <a:extLst xmlns:a="http://schemas.openxmlformats.org/drawingml/2006/main">
              <a:ext uri="{FF2B5EF4-FFF2-40B4-BE49-F238E27FC236}">
                <a16:creationId xmlns:a16="http://schemas.microsoft.com/office/drawing/2014/main" id="{B56C4207-B2C4-4744-A825-67C5BD23AB50}"/>
              </a:ext>
            </a:extLst>
          </p:cNvPr>
          <p:cNvSpPr>
            <a:spLocks xmlns:a="http://schemas.openxmlformats.org/drawingml/2006/main" noGrp="1"/>
          </p:cNvSpPr>
          <p:nvPr/>
        </p:nvSpPr>
        <p:spPr>
          <a:xfrm xmlns:a="http://schemas.openxmlformats.org/drawingml/2006/main">
            <a:off x="427024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50" name="Text 48">
            <a:extLst xmlns:a="http://schemas.openxmlformats.org/drawingml/2006/main">
              <a:ext uri="{FF2B5EF4-FFF2-40B4-BE49-F238E27FC236}">
                <a16:creationId xmlns:a16="http://schemas.microsoft.com/office/drawing/2014/main" id="{7875D166-5642-404A-AD73-7949062B37E4}"/>
              </a:ext>
            </a:extLst>
          </p:cNvPr>
          <p:cNvSpPr>
            <a:spLocks xmlns:a="http://schemas.openxmlformats.org/drawingml/2006/main" noGrp="1"/>
          </p:cNvSpPr>
          <p:nvPr/>
        </p:nvSpPr>
        <p:spPr>
          <a:xfrm xmlns:a="http://schemas.openxmlformats.org/drawingml/2006/main">
            <a:off x="427024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$150,000</a:t>
            </a:r>
          </a:p>
        </p:txBody>
      </p:sp>
      <p:sp>
        <p:nvSpPr>
          <p:cNvPr id="51" name="Text 49">
            <a:extLst xmlns:a="http://schemas.openxmlformats.org/drawingml/2006/main">
              <a:ext uri="{FF2B5EF4-FFF2-40B4-BE49-F238E27FC236}">
                <a16:creationId xmlns:a16="http://schemas.microsoft.com/office/drawing/2014/main" id="{60FF204F-E786-4BCF-90AD-0B75EF7F808B}"/>
              </a:ext>
            </a:extLst>
          </p:cNvPr>
          <p:cNvSpPr>
            <a:spLocks xmlns:a="http://schemas.openxmlformats.org/drawingml/2006/main" noGrp="1"/>
          </p:cNvSpPr>
          <p:nvPr/>
        </p:nvSpPr>
        <p:spPr>
          <a:xfrm xmlns:a="http://schemas.openxmlformats.org/drawingml/2006/main">
            <a:off x="600760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52" name="Text 50">
            <a:extLst xmlns:a="http://schemas.openxmlformats.org/drawingml/2006/main">
              <a:ext uri="{FF2B5EF4-FFF2-40B4-BE49-F238E27FC236}">
                <a16:creationId xmlns:a16="http://schemas.microsoft.com/office/drawing/2014/main" id="{551FF1F9-BB4C-46F7-924C-E6F35F923B40}"/>
              </a:ext>
            </a:extLst>
          </p:cNvPr>
          <p:cNvSpPr>
            <a:spLocks xmlns:a="http://schemas.openxmlformats.org/drawingml/2006/main" noGrp="1"/>
          </p:cNvSpPr>
          <p:nvPr/>
        </p:nvSpPr>
        <p:spPr>
          <a:xfrm xmlns:a="http://schemas.openxmlformats.org/drawingml/2006/main">
            <a:off x="600760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$300,000</a:t>
            </a:r>
          </a:p>
        </p:txBody>
      </p:sp>
      <p:sp>
        <p:nvSpPr>
          <p:cNvPr id="53" name="Shape 51">
            <a:extLst xmlns:a="http://schemas.openxmlformats.org/drawingml/2006/main">
              <a:ext uri="{FF2B5EF4-FFF2-40B4-BE49-F238E27FC236}">
                <a16:creationId xmlns:a16="http://schemas.microsoft.com/office/drawing/2014/main" id="{F82F9567-DB2C-43EB-8829-E2CFBB70D1BA}"/>
              </a:ext>
            </a:extLst>
          </p:cNvPr>
          <p:cNvSpPr>
            <a:spLocks xmlns:a="http://schemas.openxmlformats.org/drawingml/2006/main" noGrp="1"/>
          </p:cNvSpPr>
          <p:nvPr/>
        </p:nvSpPr>
        <p:spPr>
          <a:xfrm xmlns:a="http://schemas.openxmlformats.org/drawingml/2006/main">
            <a:off x="4270248" y="3456432"/>
            <a:ext cx="3291840" cy="804672"/>
          </a:xfrm>
          <a:prstGeom xmlns:a="http://schemas.openxmlformats.org/drawingml/2006/main" prst="rect">
            <a:avLst/>
          </a:prstGeom>
          <a:solidFill xmlns:a="http://schemas.openxmlformats.org/drawingml/2006/main">
            <a:srgbClr val="E4D0F0"/>
          </a:solidFill>
          <a:ln xmlns:a="http://schemas.openxmlformats.org/drawingml/2006/main" w="12700">
            <a:solidFill>
              <a:srgbClr val="E4D0F0"/>
            </a:solidFill>
            <a:prstDash val="solid"/>
          </a:ln>
        </p:spPr>
        <p:txBody>
          <a:bodyPr xmlns:a="http://schemas.openxmlformats.org/drawingml/2006/main"/>
          <a:lstStyle xmlns:a="http://schemas.openxmlformats.org/drawingml/2006/main"/>
          <a:p xmlns:a="http://schemas.openxmlformats.org/drawingml/2006/main"/>
        </p:txBody>
      </p:sp>
      <p:sp>
        <p:nvSpPr>
          <p:cNvPr id="54" name="Shape 52">
            <a:extLst xmlns:a="http://schemas.openxmlformats.org/drawingml/2006/main">
              <a:ext uri="{FF2B5EF4-FFF2-40B4-BE49-F238E27FC236}">
                <a16:creationId xmlns:a16="http://schemas.microsoft.com/office/drawing/2014/main" id="{81047C5B-C6FD-4A91-BFE4-2BAC134B13DA}"/>
              </a:ext>
            </a:extLst>
          </p:cNvPr>
          <p:cNvSpPr>
            <a:spLocks xmlns:a="http://schemas.openxmlformats.org/drawingml/2006/main" noGrp="1"/>
          </p:cNvSpPr>
          <p:nvPr/>
        </p:nvSpPr>
        <p:spPr>
          <a:xfrm xmlns:a="http://schemas.openxmlformats.org/drawingml/2006/main">
            <a:off x="4270248" y="3456432"/>
            <a:ext cx="54864" cy="804672"/>
          </a:xfrm>
          <a:prstGeom xmlns:a="http://schemas.openxmlformats.org/drawingml/2006/main" prst="rect">
            <a:avLst/>
          </a:prstGeom>
          <a:solidFill xmlns:a="http://schemas.openxmlformats.org/drawingml/2006/main">
            <a:srgbClr val="4A2060"/>
          </a:solidFill>
          <a:ln xmlns:a="http://schemas.openxmlformats.org/drawingml/2006/main" w="12700">
            <a:solidFill>
              <a:srgbClr val="4A2060"/>
            </a:solidFill>
            <a:prstDash val="solid"/>
          </a:ln>
        </p:spPr>
        <p:txBody>
          <a:bodyPr xmlns:a="http://schemas.openxmlformats.org/drawingml/2006/main"/>
          <a:lstStyle xmlns:a="http://schemas.openxmlformats.org/drawingml/2006/main"/>
          <a:p xmlns:a="http://schemas.openxmlformats.org/drawingml/2006/main"/>
        </p:txBody>
      </p:sp>
      <p:sp>
        <p:nvSpPr>
          <p:cNvPr id="55" name="Text 53">
            <a:extLst xmlns:a="http://schemas.openxmlformats.org/drawingml/2006/main">
              <a:ext uri="{FF2B5EF4-FFF2-40B4-BE49-F238E27FC236}">
                <a16:creationId xmlns:a16="http://schemas.microsoft.com/office/drawing/2014/main" id="{6FCF516A-B8D9-457D-A5CA-19571CE08A21}"/>
              </a:ext>
            </a:extLst>
          </p:cNvPr>
          <p:cNvSpPr>
            <a:spLocks xmlns:a="http://schemas.openxmlformats.org/drawingml/2006/main" noGrp="1"/>
          </p:cNvSpPr>
          <p:nvPr/>
        </p:nvSpPr>
        <p:spPr>
          <a:xfrm xmlns:a="http://schemas.openxmlformats.org/drawingml/2006/main">
            <a:off x="4389120"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4A2060"/>
                </a:solidFill>
                <a:latin typeface="Calibri"/>
                <a:ea typeface="Calibri"/>
                <a:cs typeface="Calibri"/>
              </a:rPr>
              <a:t>PRIMARY GOAL</a:t>
            </a:r>
          </a:p>
        </p:txBody>
      </p:sp>
      <p:sp>
        <p:nvSpPr>
          <p:cNvPr id="56" name="Text 54">
            <a:extLst xmlns:a="http://schemas.openxmlformats.org/drawingml/2006/main">
              <a:ext uri="{FF2B5EF4-FFF2-40B4-BE49-F238E27FC236}">
                <a16:creationId xmlns:a16="http://schemas.microsoft.com/office/drawing/2014/main" id="{60514689-3CA6-42A8-8221-855526F8EC8F}"/>
              </a:ext>
            </a:extLst>
          </p:cNvPr>
          <p:cNvSpPr>
            <a:spLocks xmlns:a="http://schemas.openxmlformats.org/drawingml/2006/main" noGrp="1"/>
          </p:cNvSpPr>
          <p:nvPr/>
        </p:nvSpPr>
        <p:spPr>
          <a:xfrm xmlns:a="http://schemas.openxmlformats.org/drawingml/2006/main">
            <a:off x="4389120"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Growth / Global Diversification</a:t>
            </a:r>
          </a:p>
        </p:txBody>
      </p:sp>
      <p:sp>
        <p:nvSpPr>
          <p:cNvPr id="57" name="Shape 55">
            <a:extLst xmlns:a="http://schemas.openxmlformats.org/drawingml/2006/main">
              <a:ext uri="{FF2B5EF4-FFF2-40B4-BE49-F238E27FC236}">
                <a16:creationId xmlns:a16="http://schemas.microsoft.com/office/drawing/2014/main" id="{F11B0273-9B8A-4C06-B1A2-2D5ED12B678D}"/>
              </a:ext>
            </a:extLst>
          </p:cNvPr>
          <p:cNvSpPr>
            <a:spLocks xmlns:a="http://schemas.openxmlformats.org/drawingml/2006/main" noGrp="1"/>
          </p:cNvSpPr>
          <p:nvPr/>
        </p:nvSpPr>
        <p:spPr>
          <a:xfrm xmlns:a="http://schemas.openxmlformats.org/drawingml/2006/main">
            <a:off x="4270248"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58" name="Text 56">
            <a:extLst xmlns:a="http://schemas.openxmlformats.org/drawingml/2006/main">
              <a:ext uri="{FF2B5EF4-FFF2-40B4-BE49-F238E27FC236}">
                <a16:creationId xmlns:a16="http://schemas.microsoft.com/office/drawing/2014/main" id="{E6B21867-B9DD-4840-A59B-08FF64C51E08}"/>
              </a:ext>
            </a:extLst>
          </p:cNvPr>
          <p:cNvSpPr>
            <a:spLocks xmlns:a="http://schemas.openxmlformats.org/drawingml/2006/main" noGrp="1"/>
          </p:cNvSpPr>
          <p:nvPr/>
        </p:nvSpPr>
        <p:spPr>
          <a:xfrm xmlns:a="http://schemas.openxmlformats.org/drawingml/2006/main">
            <a:off x="4389120"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59" name="Text 57">
            <a:extLst xmlns:a="http://schemas.openxmlformats.org/drawingml/2006/main">
              <a:ext uri="{FF2B5EF4-FFF2-40B4-BE49-F238E27FC236}">
                <a16:creationId xmlns:a16="http://schemas.microsoft.com/office/drawing/2014/main" id="{F4B1F182-0413-4CC7-B9E3-20C9C41C751E}"/>
              </a:ext>
            </a:extLst>
          </p:cNvPr>
          <p:cNvSpPr>
            <a:spLocks xmlns:a="http://schemas.openxmlformats.org/drawingml/2006/main" noGrp="1"/>
          </p:cNvSpPr>
          <p:nvPr/>
        </p:nvSpPr>
        <p:spPr>
          <a:xfrm xmlns:a="http://schemas.openxmlformats.org/drawingml/2006/main">
            <a:off x="4389120"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Currency risk (USD/JPY); Moving in 10 yrs</a:t>
            </a:r>
          </a:p>
        </p:txBody>
      </p:sp>
      <p:sp>
        <p:nvSpPr>
          <p:cNvPr id="60" name="Shape 58">
            <a:extLst xmlns:a="http://schemas.openxmlformats.org/drawingml/2006/main">
              <a:ext uri="{FF2B5EF4-FFF2-40B4-BE49-F238E27FC236}">
                <a16:creationId xmlns:a16="http://schemas.microsoft.com/office/drawing/2014/main" id="{17556A93-C514-4C9C-8F7C-439086D1A0C3}"/>
              </a:ext>
            </a:extLst>
          </p:cNvPr>
          <p:cNvSpPr>
            <a:spLocks xmlns:a="http://schemas.openxmlformats.org/drawingml/2006/main" noGrp="1"/>
          </p:cNvSpPr>
          <p:nvPr/>
        </p:nvSpPr>
        <p:spPr>
          <a:xfrm xmlns:a="http://schemas.openxmlformats.org/drawingml/2006/main">
            <a:off x="4270248" y="5230368"/>
            <a:ext cx="1097280" cy="877824"/>
          </a:xfrm>
          <a:prstGeom xmlns:a="http://schemas.openxmlformats.org/drawingml/2006/main" prst="rect">
            <a:avLst/>
          </a:prstGeom>
          <a:solidFill xmlns:a="http://schemas.openxmlformats.org/drawingml/2006/main">
            <a:srgbClr val="4A206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1" name="Text 59">
            <a:extLst xmlns:a="http://schemas.openxmlformats.org/drawingml/2006/main">
              <a:ext uri="{FF2B5EF4-FFF2-40B4-BE49-F238E27FC236}">
                <a16:creationId xmlns:a16="http://schemas.microsoft.com/office/drawing/2014/main" id="{D0B1953B-B5C5-44DD-902C-01F7775F7200}"/>
              </a:ext>
            </a:extLst>
          </p:cNvPr>
          <p:cNvSpPr>
            <a:spLocks xmlns:a="http://schemas.openxmlformats.org/drawingml/2006/main" noGrp="1"/>
          </p:cNvSpPr>
          <p:nvPr/>
        </p:nvSpPr>
        <p:spPr>
          <a:xfrm xmlns:a="http://schemas.openxmlformats.org/drawingml/2006/main">
            <a:off x="428853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62" name="Text 60">
            <a:extLst xmlns:a="http://schemas.openxmlformats.org/drawingml/2006/main">
              <a:ext uri="{FF2B5EF4-FFF2-40B4-BE49-F238E27FC236}">
                <a16:creationId xmlns:a16="http://schemas.microsoft.com/office/drawing/2014/main" id="{A68E3DEE-CBA5-43FA-86DB-7E8668A60C66}"/>
              </a:ext>
            </a:extLst>
          </p:cNvPr>
          <p:cNvSpPr>
            <a:spLocks xmlns:a="http://schemas.openxmlformats.org/drawingml/2006/main" noGrp="1"/>
          </p:cNvSpPr>
          <p:nvPr/>
        </p:nvSpPr>
        <p:spPr>
          <a:xfrm xmlns:a="http://schemas.openxmlformats.org/drawingml/2006/main">
            <a:off x="431596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8.5%</a:t>
            </a:r>
          </a:p>
        </p:txBody>
      </p:sp>
      <p:sp>
        <p:nvSpPr>
          <p:cNvPr id="63" name="Shape 61">
            <a:extLst xmlns:a="http://schemas.openxmlformats.org/drawingml/2006/main">
              <a:ext uri="{FF2B5EF4-FFF2-40B4-BE49-F238E27FC236}">
                <a16:creationId xmlns:a16="http://schemas.microsoft.com/office/drawing/2014/main" id="{CF9A9DF0-D07D-41DD-A41A-08480A901820}"/>
              </a:ext>
            </a:extLst>
          </p:cNvPr>
          <p:cNvSpPr>
            <a:spLocks xmlns:a="http://schemas.openxmlformats.org/drawingml/2006/main" noGrp="1"/>
          </p:cNvSpPr>
          <p:nvPr/>
        </p:nvSpPr>
        <p:spPr>
          <a:xfrm xmlns:a="http://schemas.openxmlformats.org/drawingml/2006/main">
            <a:off x="5367528"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4" name="Text 62">
            <a:extLst xmlns:a="http://schemas.openxmlformats.org/drawingml/2006/main">
              <a:ext uri="{FF2B5EF4-FFF2-40B4-BE49-F238E27FC236}">
                <a16:creationId xmlns:a16="http://schemas.microsoft.com/office/drawing/2014/main" id="{37CC0F17-039A-4D96-A297-48D44B282BB0}"/>
              </a:ext>
            </a:extLst>
          </p:cNvPr>
          <p:cNvSpPr>
            <a:spLocks xmlns:a="http://schemas.openxmlformats.org/drawingml/2006/main" noGrp="1"/>
          </p:cNvSpPr>
          <p:nvPr/>
        </p:nvSpPr>
        <p:spPr>
          <a:xfrm xmlns:a="http://schemas.openxmlformats.org/drawingml/2006/main">
            <a:off x="538581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65" name="Text 63">
            <a:extLst xmlns:a="http://schemas.openxmlformats.org/drawingml/2006/main">
              <a:ext uri="{FF2B5EF4-FFF2-40B4-BE49-F238E27FC236}">
                <a16:creationId xmlns:a16="http://schemas.microsoft.com/office/drawing/2014/main" id="{029EAE5D-B1AC-46E7-9AA5-C4AA9BBDA6AE}"/>
              </a:ext>
            </a:extLst>
          </p:cNvPr>
          <p:cNvSpPr>
            <a:spLocks xmlns:a="http://schemas.openxmlformats.org/drawingml/2006/main" noGrp="1"/>
          </p:cNvSpPr>
          <p:nvPr/>
        </p:nvSpPr>
        <p:spPr>
          <a:xfrm xmlns:a="http://schemas.openxmlformats.org/drawingml/2006/main">
            <a:off x="541324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16.0%</a:t>
            </a:r>
          </a:p>
        </p:txBody>
      </p:sp>
      <p:sp>
        <p:nvSpPr>
          <p:cNvPr id="66" name="Shape 64">
            <a:extLst xmlns:a="http://schemas.openxmlformats.org/drawingml/2006/main">
              <a:ext uri="{FF2B5EF4-FFF2-40B4-BE49-F238E27FC236}">
                <a16:creationId xmlns:a16="http://schemas.microsoft.com/office/drawing/2014/main" id="{DA68BE6F-DDB3-455A-9912-96516030B547}"/>
              </a:ext>
            </a:extLst>
          </p:cNvPr>
          <p:cNvSpPr>
            <a:spLocks xmlns:a="http://schemas.openxmlformats.org/drawingml/2006/main" noGrp="1"/>
          </p:cNvSpPr>
          <p:nvPr/>
        </p:nvSpPr>
        <p:spPr>
          <a:xfrm xmlns:a="http://schemas.openxmlformats.org/drawingml/2006/main">
            <a:off x="6464808"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7" name="Text 65">
            <a:extLst xmlns:a="http://schemas.openxmlformats.org/drawingml/2006/main">
              <a:ext uri="{FF2B5EF4-FFF2-40B4-BE49-F238E27FC236}">
                <a16:creationId xmlns:a16="http://schemas.microsoft.com/office/drawing/2014/main" id="{0E6FE893-6CF2-46F4-851B-13092FFB7525}"/>
              </a:ext>
            </a:extLst>
          </p:cNvPr>
          <p:cNvSpPr>
            <a:spLocks xmlns:a="http://schemas.openxmlformats.org/drawingml/2006/main" noGrp="1"/>
          </p:cNvSpPr>
          <p:nvPr/>
        </p:nvSpPr>
        <p:spPr>
          <a:xfrm xmlns:a="http://schemas.openxmlformats.org/drawingml/2006/main">
            <a:off x="648309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68" name="Text 66">
            <a:extLst xmlns:a="http://schemas.openxmlformats.org/drawingml/2006/main">
              <a:ext uri="{FF2B5EF4-FFF2-40B4-BE49-F238E27FC236}">
                <a16:creationId xmlns:a16="http://schemas.microsoft.com/office/drawing/2014/main" id="{545A43E5-3034-495E-8713-7E832AF0DB05}"/>
              </a:ext>
            </a:extLst>
          </p:cNvPr>
          <p:cNvSpPr>
            <a:spLocks xmlns:a="http://schemas.openxmlformats.org/drawingml/2006/main" noGrp="1"/>
          </p:cNvSpPr>
          <p:nvPr/>
        </p:nvSpPr>
        <p:spPr>
          <a:xfrm xmlns:a="http://schemas.openxmlformats.org/drawingml/2006/main">
            <a:off x="651052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3.5</a:t>
            </a:r>
          </a:p>
        </p:txBody>
      </p:sp>
      <p:sp>
        <p:nvSpPr>
          <p:cNvPr id="69" name="Shape 67">
            <a:extLst xmlns:a="http://schemas.openxmlformats.org/drawingml/2006/main">
              <a:ext uri="{FF2B5EF4-FFF2-40B4-BE49-F238E27FC236}">
                <a16:creationId xmlns:a16="http://schemas.microsoft.com/office/drawing/2014/main" id="{9F2C689A-F1E4-4AAE-8B3E-0DB6DCA6DDEF}"/>
              </a:ext>
            </a:extLst>
          </p:cNvPr>
          <p:cNvSpPr>
            <a:spLocks xmlns:a="http://schemas.openxmlformats.org/drawingml/2006/main" noGrp="1"/>
          </p:cNvSpPr>
          <p:nvPr/>
        </p:nvSpPr>
        <p:spPr>
          <a:xfrm xmlns:a="http://schemas.openxmlformats.org/drawingml/2006/main">
            <a:off x="7946136"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70" name="Shape 68">
            <a:extLst xmlns:a="http://schemas.openxmlformats.org/drawingml/2006/main">
              <a:ext uri="{FF2B5EF4-FFF2-40B4-BE49-F238E27FC236}">
                <a16:creationId xmlns:a16="http://schemas.microsoft.com/office/drawing/2014/main" id="{6BE6C3FA-822E-4285-8DBA-911007DCE2E1}"/>
              </a:ext>
            </a:extLst>
          </p:cNvPr>
          <p:cNvSpPr>
            <a:spLocks xmlns:a="http://schemas.openxmlformats.org/drawingml/2006/main" noGrp="1"/>
          </p:cNvSpPr>
          <p:nvPr/>
        </p:nvSpPr>
        <p:spPr>
          <a:xfrm xmlns:a="http://schemas.openxmlformats.org/drawingml/2006/main">
            <a:off x="7946136" y="1188720"/>
            <a:ext cx="3749040" cy="109728"/>
          </a:xfrm>
          <a:prstGeom xmlns:a="http://schemas.openxmlformats.org/drawingml/2006/main" prst="rect">
            <a:avLst/>
          </a:prstGeom>
          <a:solidFill xmlns:a="http://schemas.openxmlformats.org/drawingml/2006/main">
            <a:srgbClr val="4A2060"/>
          </a:solidFill>
          <a:ln xmlns:a="http://schemas.openxmlformats.org/drawingml/2006/main" w="12700">
            <a:solidFill>
              <a:srgbClr val="4A2060"/>
            </a:solidFill>
            <a:prstDash val="solid"/>
          </a:ln>
        </p:spPr>
        <p:txBody>
          <a:bodyPr xmlns:a="http://schemas.openxmlformats.org/drawingml/2006/main"/>
          <a:lstStyle xmlns:a="http://schemas.openxmlformats.org/drawingml/2006/main"/>
          <a:p xmlns:a="http://schemas.openxmlformats.org/drawingml/2006/main"/>
        </p:txBody>
      </p:sp>
      <p:sp>
        <p:nvSpPr>
          <p:cNvPr id="71" name="Shape 69">
            <a:extLst xmlns:a="http://schemas.openxmlformats.org/drawingml/2006/main">
              <a:ext uri="{FF2B5EF4-FFF2-40B4-BE49-F238E27FC236}">
                <a16:creationId xmlns:a16="http://schemas.microsoft.com/office/drawing/2014/main" id="{ECBD4D18-AF28-4160-A923-6384A06A8419}"/>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ellipse">
            <a:avLst/>
          </a:prstGeom>
          <a:solidFill xmlns:a="http://schemas.openxmlformats.org/drawingml/2006/main">
            <a:srgbClr val="4A2060"/>
          </a:solidFill>
          <a:ln xmlns:a="http://schemas.openxmlformats.org/drawingml/2006/main" w="12700">
            <a:solidFill>
              <a:srgbClr val="4A2060"/>
            </a:solidFill>
            <a:prstDash val="solid"/>
          </a:ln>
        </p:spPr>
        <p:txBody>
          <a:bodyPr xmlns:a="http://schemas.openxmlformats.org/drawingml/2006/main"/>
          <a:lstStyle xmlns:a="http://schemas.openxmlformats.org/drawingml/2006/main"/>
          <a:p xmlns:a="http://schemas.openxmlformats.org/drawingml/2006/main"/>
        </p:txBody>
      </p:sp>
      <p:sp>
        <p:nvSpPr>
          <p:cNvPr id="72" name="Text 70">
            <a:extLst xmlns:a="http://schemas.openxmlformats.org/drawingml/2006/main">
              <a:ext uri="{FF2B5EF4-FFF2-40B4-BE49-F238E27FC236}">
                <a16:creationId xmlns:a16="http://schemas.microsoft.com/office/drawing/2014/main" id="{590B28D3-9574-4DD5-93E3-98026CB05E77}"/>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ER</a:t>
            </a:r>
          </a:p>
        </p:txBody>
      </p:sp>
      <p:sp>
        <p:nvSpPr>
          <p:cNvPr id="73" name="Text 71">
            <a:extLst xmlns:a="http://schemas.openxmlformats.org/drawingml/2006/main">
              <a:ext uri="{FF2B5EF4-FFF2-40B4-BE49-F238E27FC236}">
                <a16:creationId xmlns:a16="http://schemas.microsoft.com/office/drawing/2014/main" id="{524C2137-391B-4865-8CC0-F8EBB7CBEE36}"/>
              </a:ext>
            </a:extLst>
          </p:cNvPr>
          <p:cNvSpPr>
            <a:spLocks xmlns:a="http://schemas.openxmlformats.org/drawingml/2006/main" noGrp="1"/>
          </p:cNvSpPr>
          <p:nvPr/>
        </p:nvSpPr>
        <p:spPr>
          <a:xfrm xmlns:a="http://schemas.openxmlformats.org/drawingml/2006/main">
            <a:off x="10232136"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#14</a:t>
            </a:r>
          </a:p>
        </p:txBody>
      </p:sp>
      <p:sp>
        <p:nvSpPr>
          <p:cNvPr id="74" name="Text 72">
            <a:extLst xmlns:a="http://schemas.openxmlformats.org/drawingml/2006/main">
              <a:ext uri="{FF2B5EF4-FFF2-40B4-BE49-F238E27FC236}">
                <a16:creationId xmlns:a16="http://schemas.microsoft.com/office/drawing/2014/main" id="{4FFB588E-D92D-4276-81AE-EEEDD5ED788E}"/>
              </a:ext>
            </a:extLst>
          </p:cNvPr>
          <p:cNvSpPr>
            <a:spLocks xmlns:a="http://schemas.openxmlformats.org/drawingml/2006/main" noGrp="1"/>
          </p:cNvSpPr>
          <p:nvPr/>
        </p:nvSpPr>
        <p:spPr>
          <a:xfrm xmlns:a="http://schemas.openxmlformats.org/drawingml/2006/main">
            <a:off x="9025128"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Elena Rossi</a:t>
            </a:r>
          </a:p>
        </p:txBody>
      </p:sp>
      <p:sp>
        <p:nvSpPr>
          <p:cNvPr id="75" name="Text 73">
            <a:extLst xmlns:a="http://schemas.openxmlformats.org/drawingml/2006/main">
              <a:ext uri="{FF2B5EF4-FFF2-40B4-BE49-F238E27FC236}">
                <a16:creationId xmlns:a16="http://schemas.microsoft.com/office/drawing/2014/main" id="{D4E5B8AB-323F-4BEF-AC4A-09916E11AE42}"/>
              </a:ext>
            </a:extLst>
          </p:cNvPr>
          <p:cNvSpPr>
            <a:spLocks xmlns:a="http://schemas.openxmlformats.org/drawingml/2006/main" noGrp="1"/>
          </p:cNvSpPr>
          <p:nvPr/>
        </p:nvSpPr>
        <p:spPr>
          <a:xfrm xmlns:a="http://schemas.openxmlformats.org/drawingml/2006/main">
            <a:off x="9025128"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52  ·  Corporate VP</a:t>
            </a:r>
          </a:p>
        </p:txBody>
      </p:sp>
      <p:sp>
        <p:nvSpPr>
          <p:cNvPr id="76" name="Shape 74">
            <a:extLst xmlns:a="http://schemas.openxmlformats.org/drawingml/2006/main">
              <a:ext uri="{FF2B5EF4-FFF2-40B4-BE49-F238E27FC236}">
                <a16:creationId xmlns:a16="http://schemas.microsoft.com/office/drawing/2014/main" id="{D4C61AB1-E48E-4CF7-84D7-B761E8FA0A80}"/>
              </a:ext>
            </a:extLst>
          </p:cNvPr>
          <p:cNvSpPr>
            <a:spLocks xmlns:a="http://schemas.openxmlformats.org/drawingml/2006/main" noGrp="1"/>
          </p:cNvSpPr>
          <p:nvPr/>
        </p:nvSpPr>
        <p:spPr>
          <a:xfrm xmlns:a="http://schemas.openxmlformats.org/drawingml/2006/main">
            <a:off x="8174736" y="2322576"/>
            <a:ext cx="1325880" cy="237744"/>
          </a:xfrm>
          <a:prstGeom xmlns:a="http://schemas.openxmlformats.org/drawingml/2006/main" prst="rect">
            <a:avLst/>
          </a:prstGeom>
          <a:solidFill xmlns:a="http://schemas.openxmlformats.org/drawingml/2006/main">
            <a:srgbClr val="E8F5EE"/>
          </a:solidFill>
          <a:ln xmlns:a="http://schemas.openxmlformats.org/drawingml/2006/main" w="12700">
            <a:solidFill>
              <a:srgbClr val="E8F5EE"/>
            </a:solidFill>
            <a:prstDash val="solid"/>
          </a:ln>
        </p:spPr>
        <p:txBody>
          <a:bodyPr xmlns:a="http://schemas.openxmlformats.org/drawingml/2006/main"/>
          <a:lstStyle xmlns:a="http://schemas.openxmlformats.org/drawingml/2006/main"/>
          <a:p xmlns:a="http://schemas.openxmlformats.org/drawingml/2006/main"/>
        </p:txBody>
      </p:sp>
      <p:sp>
        <p:nvSpPr>
          <p:cNvPr id="77" name="Shape 75">
            <a:extLst xmlns:a="http://schemas.openxmlformats.org/drawingml/2006/main">
              <a:ext uri="{FF2B5EF4-FFF2-40B4-BE49-F238E27FC236}">
                <a16:creationId xmlns:a16="http://schemas.microsoft.com/office/drawing/2014/main" id="{68F81B8E-F934-4A75-A9D6-E3B45DB4D1F8}"/>
              </a:ext>
            </a:extLst>
          </p:cNvPr>
          <p:cNvSpPr>
            <a:spLocks xmlns:a="http://schemas.openxmlformats.org/drawingml/2006/main" noGrp="1"/>
          </p:cNvSpPr>
          <p:nvPr/>
        </p:nvSpPr>
        <p:spPr>
          <a:xfrm xmlns:a="http://schemas.openxmlformats.org/drawingml/2006/main">
            <a:off x="8238744" y="2382012"/>
            <a:ext cx="91440" cy="91440"/>
          </a:xfrm>
          <a:prstGeom xmlns:a="http://schemas.openxmlformats.org/drawingml/2006/main" prst="ellipse">
            <a:avLst/>
          </a:prstGeom>
          <a:solidFill xmlns:a="http://schemas.openxmlformats.org/drawingml/2006/main">
            <a:srgbClr val="2D8A5E"/>
          </a:solidFill>
          <a:ln xmlns:a="http://schemas.openxmlformats.org/drawingml/2006/main" w="12700">
            <a:solidFill>
              <a:srgbClr val="2D8A5E"/>
            </a:solidFill>
            <a:prstDash val="solid"/>
          </a:ln>
        </p:spPr>
        <p:txBody>
          <a:bodyPr xmlns:a="http://schemas.openxmlformats.org/drawingml/2006/main"/>
          <a:lstStyle xmlns:a="http://schemas.openxmlformats.org/drawingml/2006/main"/>
          <a:p xmlns:a="http://schemas.openxmlformats.org/drawingml/2006/main"/>
        </p:txBody>
      </p:sp>
      <p:sp>
        <p:nvSpPr>
          <p:cNvPr id="78" name="Text 76">
            <a:extLst xmlns:a="http://schemas.openxmlformats.org/drawingml/2006/main">
              <a:ext uri="{FF2B5EF4-FFF2-40B4-BE49-F238E27FC236}">
                <a16:creationId xmlns:a16="http://schemas.microsoft.com/office/drawing/2014/main" id="{E5D5F317-ACE1-43C4-8DFA-FFFC5E40B4C3}"/>
              </a:ext>
            </a:extLst>
          </p:cNvPr>
          <p:cNvSpPr>
            <a:spLocks xmlns:a="http://schemas.openxmlformats.org/drawingml/2006/main" noGrp="1"/>
          </p:cNvSpPr>
          <p:nvPr/>
        </p:nvSpPr>
        <p:spPr>
          <a:xfrm xmlns:a="http://schemas.openxmlformats.org/drawingml/2006/main">
            <a:off x="8366760"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2D8A5E"/>
                </a:solidFill>
                <a:latin typeface="Calibri"/>
                <a:ea typeface="Calibri"/>
                <a:cs typeface="Calibri"/>
              </a:rPr>
              <a:t>RISK SEEKING</a:t>
            </a:r>
          </a:p>
        </p:txBody>
      </p:sp>
      <p:sp>
        <p:nvSpPr>
          <p:cNvPr id="79" name="Shape 77">
            <a:extLst xmlns:a="http://schemas.openxmlformats.org/drawingml/2006/main">
              <a:ext uri="{FF2B5EF4-FFF2-40B4-BE49-F238E27FC236}">
                <a16:creationId xmlns:a16="http://schemas.microsoft.com/office/drawing/2014/main" id="{7D285304-4255-4F04-9844-772A5DCC09A1}"/>
              </a:ext>
            </a:extLst>
          </p:cNvPr>
          <p:cNvSpPr>
            <a:spLocks xmlns:a="http://schemas.openxmlformats.org/drawingml/2006/main" noGrp="1"/>
          </p:cNvSpPr>
          <p:nvPr/>
        </p:nvSpPr>
        <p:spPr>
          <a:xfrm xmlns:a="http://schemas.openxmlformats.org/drawingml/2006/main">
            <a:off x="8174736"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80" name="Text 78">
            <a:extLst xmlns:a="http://schemas.openxmlformats.org/drawingml/2006/main">
              <a:ext uri="{FF2B5EF4-FFF2-40B4-BE49-F238E27FC236}">
                <a16:creationId xmlns:a16="http://schemas.microsoft.com/office/drawing/2014/main" id="{95BD673D-9BCC-49FB-B0B8-38F1F3FB09B7}"/>
              </a:ext>
            </a:extLst>
          </p:cNvPr>
          <p:cNvSpPr>
            <a:spLocks xmlns:a="http://schemas.openxmlformats.org/drawingml/2006/main" noGrp="1"/>
          </p:cNvSpPr>
          <p:nvPr/>
        </p:nvSpPr>
        <p:spPr>
          <a:xfrm xmlns:a="http://schemas.openxmlformats.org/drawingml/2006/main">
            <a:off x="817473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81" name="Text 79">
            <a:extLst xmlns:a="http://schemas.openxmlformats.org/drawingml/2006/main">
              <a:ext uri="{FF2B5EF4-FFF2-40B4-BE49-F238E27FC236}">
                <a16:creationId xmlns:a16="http://schemas.microsoft.com/office/drawing/2014/main" id="{BB7D7F43-1CA0-4F73-9A83-814808967BC2}"/>
              </a:ext>
            </a:extLst>
          </p:cNvPr>
          <p:cNvSpPr>
            <a:spLocks xmlns:a="http://schemas.openxmlformats.org/drawingml/2006/main" noGrp="1"/>
          </p:cNvSpPr>
          <p:nvPr/>
        </p:nvSpPr>
        <p:spPr>
          <a:xfrm xmlns:a="http://schemas.openxmlformats.org/drawingml/2006/main">
            <a:off x="817473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$450,000</a:t>
            </a:r>
          </a:p>
        </p:txBody>
      </p:sp>
      <p:sp>
        <p:nvSpPr>
          <p:cNvPr id="82" name="Text 80">
            <a:extLst xmlns:a="http://schemas.openxmlformats.org/drawingml/2006/main">
              <a:ext uri="{FF2B5EF4-FFF2-40B4-BE49-F238E27FC236}">
                <a16:creationId xmlns:a16="http://schemas.microsoft.com/office/drawing/2014/main" id="{735C6B6A-6E78-46B7-89B5-42A13A9FD869}"/>
              </a:ext>
            </a:extLst>
          </p:cNvPr>
          <p:cNvSpPr>
            <a:spLocks xmlns:a="http://schemas.openxmlformats.org/drawingml/2006/main" noGrp="1"/>
          </p:cNvSpPr>
          <p:nvPr/>
        </p:nvSpPr>
        <p:spPr>
          <a:xfrm xmlns:a="http://schemas.openxmlformats.org/drawingml/2006/main">
            <a:off x="991209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83" name="Text 81">
            <a:extLst xmlns:a="http://schemas.openxmlformats.org/drawingml/2006/main">
              <a:ext uri="{FF2B5EF4-FFF2-40B4-BE49-F238E27FC236}">
                <a16:creationId xmlns:a16="http://schemas.microsoft.com/office/drawing/2014/main" id="{EDDF9565-CB6E-4C6F-8168-056A15C7834C}"/>
              </a:ext>
            </a:extLst>
          </p:cNvPr>
          <p:cNvSpPr>
            <a:spLocks xmlns:a="http://schemas.openxmlformats.org/drawingml/2006/main" noGrp="1"/>
          </p:cNvSpPr>
          <p:nvPr/>
        </p:nvSpPr>
        <p:spPr>
          <a:xfrm xmlns:a="http://schemas.openxmlformats.org/drawingml/2006/main">
            <a:off x="991209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$4.0M</a:t>
            </a:r>
          </a:p>
        </p:txBody>
      </p:sp>
      <p:sp>
        <p:nvSpPr>
          <p:cNvPr id="84" name="Shape 82">
            <a:extLst xmlns:a="http://schemas.openxmlformats.org/drawingml/2006/main">
              <a:ext uri="{FF2B5EF4-FFF2-40B4-BE49-F238E27FC236}">
                <a16:creationId xmlns:a16="http://schemas.microsoft.com/office/drawing/2014/main" id="{3BF8CABE-C19F-418A-8EAA-CCFAB77148AE}"/>
              </a:ext>
            </a:extLst>
          </p:cNvPr>
          <p:cNvSpPr>
            <a:spLocks xmlns:a="http://schemas.openxmlformats.org/drawingml/2006/main" noGrp="1"/>
          </p:cNvSpPr>
          <p:nvPr/>
        </p:nvSpPr>
        <p:spPr>
          <a:xfrm xmlns:a="http://schemas.openxmlformats.org/drawingml/2006/main">
            <a:off x="8174736" y="3456432"/>
            <a:ext cx="3291840" cy="804672"/>
          </a:xfrm>
          <a:prstGeom xmlns:a="http://schemas.openxmlformats.org/drawingml/2006/main" prst="rect">
            <a:avLst/>
          </a:prstGeom>
          <a:solidFill xmlns:a="http://schemas.openxmlformats.org/drawingml/2006/main">
            <a:srgbClr val="E4D0F0"/>
          </a:solidFill>
          <a:ln xmlns:a="http://schemas.openxmlformats.org/drawingml/2006/main" w="12700">
            <a:solidFill>
              <a:srgbClr val="E4D0F0"/>
            </a:solidFill>
            <a:prstDash val="solid"/>
          </a:ln>
        </p:spPr>
        <p:txBody>
          <a:bodyPr xmlns:a="http://schemas.openxmlformats.org/drawingml/2006/main"/>
          <a:lstStyle xmlns:a="http://schemas.openxmlformats.org/drawingml/2006/main"/>
          <a:p xmlns:a="http://schemas.openxmlformats.org/drawingml/2006/main"/>
        </p:txBody>
      </p:sp>
      <p:sp>
        <p:nvSpPr>
          <p:cNvPr id="85" name="Shape 83">
            <a:extLst xmlns:a="http://schemas.openxmlformats.org/drawingml/2006/main">
              <a:ext uri="{FF2B5EF4-FFF2-40B4-BE49-F238E27FC236}">
                <a16:creationId xmlns:a16="http://schemas.microsoft.com/office/drawing/2014/main" id="{7A29D41A-80F1-4F14-BCA8-3AEF32259C56}"/>
              </a:ext>
            </a:extLst>
          </p:cNvPr>
          <p:cNvSpPr>
            <a:spLocks xmlns:a="http://schemas.openxmlformats.org/drawingml/2006/main" noGrp="1"/>
          </p:cNvSpPr>
          <p:nvPr/>
        </p:nvSpPr>
        <p:spPr>
          <a:xfrm xmlns:a="http://schemas.openxmlformats.org/drawingml/2006/main">
            <a:off x="8174736" y="3456432"/>
            <a:ext cx="54864" cy="804672"/>
          </a:xfrm>
          <a:prstGeom xmlns:a="http://schemas.openxmlformats.org/drawingml/2006/main" prst="rect">
            <a:avLst/>
          </a:prstGeom>
          <a:solidFill xmlns:a="http://schemas.openxmlformats.org/drawingml/2006/main">
            <a:srgbClr val="4A2060"/>
          </a:solidFill>
          <a:ln xmlns:a="http://schemas.openxmlformats.org/drawingml/2006/main" w="12700">
            <a:solidFill>
              <a:srgbClr val="4A2060"/>
            </a:solidFill>
            <a:prstDash val="solid"/>
          </a:ln>
        </p:spPr>
        <p:txBody>
          <a:bodyPr xmlns:a="http://schemas.openxmlformats.org/drawingml/2006/main"/>
          <a:lstStyle xmlns:a="http://schemas.openxmlformats.org/drawingml/2006/main"/>
          <a:p xmlns:a="http://schemas.openxmlformats.org/drawingml/2006/main"/>
        </p:txBody>
      </p:sp>
      <p:sp>
        <p:nvSpPr>
          <p:cNvPr id="86" name="Text 84">
            <a:extLst xmlns:a="http://schemas.openxmlformats.org/drawingml/2006/main">
              <a:ext uri="{FF2B5EF4-FFF2-40B4-BE49-F238E27FC236}">
                <a16:creationId xmlns:a16="http://schemas.microsoft.com/office/drawing/2014/main" id="{D838DEA1-28C5-4362-83BC-C96926A92A34}"/>
              </a:ext>
            </a:extLst>
          </p:cNvPr>
          <p:cNvSpPr>
            <a:spLocks xmlns:a="http://schemas.openxmlformats.org/drawingml/2006/main" noGrp="1"/>
          </p:cNvSpPr>
          <p:nvPr/>
        </p:nvSpPr>
        <p:spPr>
          <a:xfrm xmlns:a="http://schemas.openxmlformats.org/drawingml/2006/main">
            <a:off x="8293608"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4A2060"/>
                </a:solidFill>
                <a:latin typeface="Calibri"/>
                <a:ea typeface="Calibri"/>
                <a:cs typeface="Calibri"/>
              </a:rPr>
              <a:t>PRIMARY GOAL</a:t>
            </a:r>
          </a:p>
        </p:txBody>
      </p:sp>
      <p:sp>
        <p:nvSpPr>
          <p:cNvPr id="87" name="Text 85">
            <a:extLst xmlns:a="http://schemas.openxmlformats.org/drawingml/2006/main">
              <a:ext uri="{FF2B5EF4-FFF2-40B4-BE49-F238E27FC236}">
                <a16:creationId xmlns:a16="http://schemas.microsoft.com/office/drawing/2014/main" id="{5E3ABFC7-BC96-4953-B350-E38716C19032}"/>
              </a:ext>
            </a:extLst>
          </p:cNvPr>
          <p:cNvSpPr>
            <a:spLocks xmlns:a="http://schemas.openxmlformats.org/drawingml/2006/main" noGrp="1"/>
          </p:cNvSpPr>
          <p:nvPr/>
        </p:nvSpPr>
        <p:spPr>
          <a:xfrm xmlns:a="http://schemas.openxmlformats.org/drawingml/2006/main">
            <a:off x="8293608"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Tax Efficiency / Sophisticated Growth</a:t>
            </a:r>
          </a:p>
        </p:txBody>
      </p:sp>
      <p:sp>
        <p:nvSpPr>
          <p:cNvPr id="88" name="Shape 86">
            <a:extLst xmlns:a="http://schemas.openxmlformats.org/drawingml/2006/main">
              <a:ext uri="{FF2B5EF4-FFF2-40B4-BE49-F238E27FC236}">
                <a16:creationId xmlns:a16="http://schemas.microsoft.com/office/drawing/2014/main" id="{11D68C05-4391-4CBA-B388-4529045DB04B}"/>
              </a:ext>
            </a:extLst>
          </p:cNvPr>
          <p:cNvSpPr>
            <a:spLocks xmlns:a="http://schemas.openxmlformats.org/drawingml/2006/main" noGrp="1"/>
          </p:cNvSpPr>
          <p:nvPr/>
        </p:nvSpPr>
        <p:spPr>
          <a:xfrm xmlns:a="http://schemas.openxmlformats.org/drawingml/2006/main">
            <a:off x="8174736"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89" name="Text 87">
            <a:extLst xmlns:a="http://schemas.openxmlformats.org/drawingml/2006/main">
              <a:ext uri="{FF2B5EF4-FFF2-40B4-BE49-F238E27FC236}">
                <a16:creationId xmlns:a16="http://schemas.microsoft.com/office/drawing/2014/main" id="{8F8E125E-F2BF-4192-A69F-CE4694CC1FA7}"/>
              </a:ext>
            </a:extLst>
          </p:cNvPr>
          <p:cNvSpPr>
            <a:spLocks xmlns:a="http://schemas.openxmlformats.org/drawingml/2006/main" noGrp="1"/>
          </p:cNvSpPr>
          <p:nvPr/>
        </p:nvSpPr>
        <p:spPr>
          <a:xfrm xmlns:a="http://schemas.openxmlformats.org/drawingml/2006/main">
            <a:off x="8293608"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90" name="Text 88">
            <a:extLst xmlns:a="http://schemas.openxmlformats.org/drawingml/2006/main">
              <a:ext uri="{FF2B5EF4-FFF2-40B4-BE49-F238E27FC236}">
                <a16:creationId xmlns:a16="http://schemas.microsoft.com/office/drawing/2014/main" id="{DF2F1C85-CF69-46D5-A9AB-9E912F3D74A1}"/>
              </a:ext>
            </a:extLst>
          </p:cNvPr>
          <p:cNvSpPr>
            <a:spLocks xmlns:a="http://schemas.openxmlformats.org/drawingml/2006/main" noGrp="1"/>
          </p:cNvSpPr>
          <p:nvPr/>
        </p:nvSpPr>
        <p:spPr>
          <a:xfrm xmlns:a="http://schemas.openxmlformats.org/drawingml/2006/main">
            <a:off x="8293608"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SEC Rule 144 restrictions; High tax bracket</a:t>
            </a:r>
          </a:p>
        </p:txBody>
      </p:sp>
      <p:sp>
        <p:nvSpPr>
          <p:cNvPr id="91" name="Shape 89">
            <a:extLst xmlns:a="http://schemas.openxmlformats.org/drawingml/2006/main">
              <a:ext uri="{FF2B5EF4-FFF2-40B4-BE49-F238E27FC236}">
                <a16:creationId xmlns:a16="http://schemas.microsoft.com/office/drawing/2014/main" id="{AB7E219D-8EC6-4BAE-9285-8D7794CA4CC4}"/>
              </a:ext>
            </a:extLst>
          </p:cNvPr>
          <p:cNvSpPr>
            <a:spLocks xmlns:a="http://schemas.openxmlformats.org/drawingml/2006/main" noGrp="1"/>
          </p:cNvSpPr>
          <p:nvPr/>
        </p:nvSpPr>
        <p:spPr>
          <a:xfrm xmlns:a="http://schemas.openxmlformats.org/drawingml/2006/main">
            <a:off x="8174736" y="5230368"/>
            <a:ext cx="1097280" cy="877824"/>
          </a:xfrm>
          <a:prstGeom xmlns:a="http://schemas.openxmlformats.org/drawingml/2006/main" prst="rect">
            <a:avLst/>
          </a:prstGeom>
          <a:solidFill xmlns:a="http://schemas.openxmlformats.org/drawingml/2006/main">
            <a:srgbClr val="4A206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2" name="Text 90">
            <a:extLst xmlns:a="http://schemas.openxmlformats.org/drawingml/2006/main">
              <a:ext uri="{FF2B5EF4-FFF2-40B4-BE49-F238E27FC236}">
                <a16:creationId xmlns:a16="http://schemas.microsoft.com/office/drawing/2014/main" id="{3A11517D-B905-4AAF-A6DF-5D5E5FE8312F}"/>
              </a:ext>
            </a:extLst>
          </p:cNvPr>
          <p:cNvSpPr>
            <a:spLocks xmlns:a="http://schemas.openxmlformats.org/drawingml/2006/main" noGrp="1"/>
          </p:cNvSpPr>
          <p:nvPr/>
        </p:nvSpPr>
        <p:spPr>
          <a:xfrm xmlns:a="http://schemas.openxmlformats.org/drawingml/2006/main">
            <a:off x="819302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93" name="Text 91">
            <a:extLst xmlns:a="http://schemas.openxmlformats.org/drawingml/2006/main">
              <a:ext uri="{FF2B5EF4-FFF2-40B4-BE49-F238E27FC236}">
                <a16:creationId xmlns:a16="http://schemas.microsoft.com/office/drawing/2014/main" id="{1DA271E9-81D2-47A9-8D77-BC6CC8363519}"/>
              </a:ext>
            </a:extLst>
          </p:cNvPr>
          <p:cNvSpPr>
            <a:spLocks xmlns:a="http://schemas.openxmlformats.org/drawingml/2006/main" noGrp="1"/>
          </p:cNvSpPr>
          <p:nvPr/>
        </p:nvSpPr>
        <p:spPr>
          <a:xfrm xmlns:a="http://schemas.openxmlformats.org/drawingml/2006/main">
            <a:off x="822045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10.5%</a:t>
            </a:r>
          </a:p>
        </p:txBody>
      </p:sp>
      <p:sp>
        <p:nvSpPr>
          <p:cNvPr id="94" name="Shape 92">
            <a:extLst xmlns:a="http://schemas.openxmlformats.org/drawingml/2006/main">
              <a:ext uri="{FF2B5EF4-FFF2-40B4-BE49-F238E27FC236}">
                <a16:creationId xmlns:a16="http://schemas.microsoft.com/office/drawing/2014/main" id="{AC42D34E-ED0B-4639-91BF-CC3A43135A23}"/>
              </a:ext>
            </a:extLst>
          </p:cNvPr>
          <p:cNvSpPr>
            <a:spLocks xmlns:a="http://schemas.openxmlformats.org/drawingml/2006/main" noGrp="1"/>
          </p:cNvSpPr>
          <p:nvPr/>
        </p:nvSpPr>
        <p:spPr>
          <a:xfrm xmlns:a="http://schemas.openxmlformats.org/drawingml/2006/main">
            <a:off x="9272016"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5" name="Text 93">
            <a:extLst xmlns:a="http://schemas.openxmlformats.org/drawingml/2006/main">
              <a:ext uri="{FF2B5EF4-FFF2-40B4-BE49-F238E27FC236}">
                <a16:creationId xmlns:a16="http://schemas.microsoft.com/office/drawing/2014/main" id="{2E317EC0-2B30-43B0-963C-BE12DDBA2848}"/>
              </a:ext>
            </a:extLst>
          </p:cNvPr>
          <p:cNvSpPr>
            <a:spLocks xmlns:a="http://schemas.openxmlformats.org/drawingml/2006/main" noGrp="1"/>
          </p:cNvSpPr>
          <p:nvPr/>
        </p:nvSpPr>
        <p:spPr>
          <a:xfrm xmlns:a="http://schemas.openxmlformats.org/drawingml/2006/main">
            <a:off x="929030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96" name="Text 94">
            <a:extLst xmlns:a="http://schemas.openxmlformats.org/drawingml/2006/main">
              <a:ext uri="{FF2B5EF4-FFF2-40B4-BE49-F238E27FC236}">
                <a16:creationId xmlns:a16="http://schemas.microsoft.com/office/drawing/2014/main" id="{6AE0D748-B0D0-4A47-B78D-880CEF5BF663}"/>
              </a:ext>
            </a:extLst>
          </p:cNvPr>
          <p:cNvSpPr>
            <a:spLocks xmlns:a="http://schemas.openxmlformats.org/drawingml/2006/main" noGrp="1"/>
          </p:cNvSpPr>
          <p:nvPr/>
        </p:nvSpPr>
        <p:spPr>
          <a:xfrm xmlns:a="http://schemas.openxmlformats.org/drawingml/2006/main">
            <a:off x="931773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21.0%</a:t>
            </a:r>
          </a:p>
        </p:txBody>
      </p:sp>
      <p:sp>
        <p:nvSpPr>
          <p:cNvPr id="97" name="Shape 95">
            <a:extLst xmlns:a="http://schemas.openxmlformats.org/drawingml/2006/main">
              <a:ext uri="{FF2B5EF4-FFF2-40B4-BE49-F238E27FC236}">
                <a16:creationId xmlns:a16="http://schemas.microsoft.com/office/drawing/2014/main" id="{35446A88-4A35-4781-82F3-0F72B74672F8}"/>
              </a:ext>
            </a:extLst>
          </p:cNvPr>
          <p:cNvSpPr>
            <a:spLocks xmlns:a="http://schemas.openxmlformats.org/drawingml/2006/main" noGrp="1"/>
          </p:cNvSpPr>
          <p:nvPr/>
        </p:nvSpPr>
        <p:spPr>
          <a:xfrm xmlns:a="http://schemas.openxmlformats.org/drawingml/2006/main">
            <a:off x="10369296"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8" name="Text 96">
            <a:extLst xmlns:a="http://schemas.openxmlformats.org/drawingml/2006/main">
              <a:ext uri="{FF2B5EF4-FFF2-40B4-BE49-F238E27FC236}">
                <a16:creationId xmlns:a16="http://schemas.microsoft.com/office/drawing/2014/main" id="{0C1F7698-0DAD-4F61-B265-4C9F0537CBA3}"/>
              </a:ext>
            </a:extLst>
          </p:cNvPr>
          <p:cNvSpPr>
            <a:spLocks xmlns:a="http://schemas.openxmlformats.org/drawingml/2006/main" noGrp="1"/>
          </p:cNvSpPr>
          <p:nvPr/>
        </p:nvSpPr>
        <p:spPr>
          <a:xfrm xmlns:a="http://schemas.openxmlformats.org/drawingml/2006/main">
            <a:off x="1038758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99" name="Text 97">
            <a:extLst xmlns:a="http://schemas.openxmlformats.org/drawingml/2006/main">
              <a:ext uri="{FF2B5EF4-FFF2-40B4-BE49-F238E27FC236}">
                <a16:creationId xmlns:a16="http://schemas.microsoft.com/office/drawing/2014/main" id="{BB8CF713-220B-46AD-9A54-AF04D5BCB712}"/>
              </a:ext>
            </a:extLst>
          </p:cNvPr>
          <p:cNvSpPr>
            <a:spLocks xmlns:a="http://schemas.openxmlformats.org/drawingml/2006/main" noGrp="1"/>
          </p:cNvSpPr>
          <p:nvPr/>
        </p:nvSpPr>
        <p:spPr>
          <a:xfrm xmlns:a="http://schemas.openxmlformats.org/drawingml/2006/main">
            <a:off x="1041501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2.0</a:t>
            </a:r>
          </a:p>
        </p:txBody>
      </p:sp>
      <p:sp>
        <p:nvSpPr>
          <p:cNvPr id="100" name="Shape 98">
            <a:extLst xmlns:a="http://schemas.openxmlformats.org/drawingml/2006/main">
              <a:ext uri="{FF2B5EF4-FFF2-40B4-BE49-F238E27FC236}">
                <a16:creationId xmlns:a16="http://schemas.microsoft.com/office/drawing/2014/main" id="{3C0F657A-744A-49C8-8944-4736A64D3954}"/>
              </a:ext>
            </a:extLst>
          </p:cNvPr>
          <p:cNvSpPr>
            <a:spLocks xmlns:a="http://schemas.openxmlformats.org/drawingml/2006/main" noGrp="1"/>
          </p:cNvSpPr>
          <p:nvPr/>
        </p:nvSpPr>
        <p:spPr>
          <a:xfrm xmlns:a="http://schemas.openxmlformats.org/drawingml/2006/main">
            <a:off x="0" y="6565392"/>
            <a:ext cx="12161520" cy="292608"/>
          </a:xfrm>
          <a:prstGeom xmlns:a="http://schemas.openxmlformats.org/drawingml/2006/main" prst="rect">
            <a:avLst/>
          </a:prstGeom>
          <a:solidFill xmlns:a="http://schemas.openxmlformats.org/drawingml/2006/main">
            <a:srgbClr val="4A2060"/>
          </a:solidFill>
          <a:ln xmlns:a="http://schemas.openxmlformats.org/drawingml/2006/main" w="12700">
            <a:solidFill>
              <a:srgbClr val="4A2060"/>
            </a:solidFill>
            <a:prstDash val="solid"/>
          </a:ln>
        </p:spPr>
        <p:txBody>
          <a:bodyPr xmlns:a="http://schemas.openxmlformats.org/drawingml/2006/main"/>
          <a:lstStyle xmlns:a="http://schemas.openxmlformats.org/drawingml/2006/main"/>
          <a:p xmlns:a="http://schemas.openxmlformats.org/drawingml/2006/main"/>
        </p:txBody>
      </p:sp>
      <p:sp>
        <p:nvSpPr>
          <p:cNvPr id="101" name="Text 99">
            <a:extLst xmlns:a="http://schemas.openxmlformats.org/drawingml/2006/main">
              <a:ext uri="{FF2B5EF4-FFF2-40B4-BE49-F238E27FC236}">
                <a16:creationId xmlns:a16="http://schemas.microsoft.com/office/drawing/2014/main" id="{FE040D04-5C95-4E89-8566-5F4D7215767A}"/>
              </a:ext>
            </a:extLst>
          </p:cNvPr>
          <p:cNvSpPr>
            <a:spLocks xmlns:a="http://schemas.openxmlformats.org/drawingml/2006/main" noGrp="1"/>
          </p:cNvSpPr>
          <p:nvPr/>
        </p:nvSpPr>
        <p:spPr>
          <a:xfrm xmlns:a="http://schemas.openxmlformats.org/drawingml/2006/main">
            <a:off x="274320" y="6565392"/>
            <a:ext cx="11612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FFFFFF">
                    <a:alpha val="65000"/>
                  </a:srgbClr>
                </a:solidFill>
                <a:latin typeface="Calibri"/>
                <a:ea typeface="Calibri"/>
                <a:cs typeface="Calibri"/>
              </a:rPr>
              <a:t>BUS331 Investments  ·  Endicott College  ·  Team Four</a:t>
            </a:r>
          </a:p>
        </p:txBody>
      </p:sp>
    </p:spTree>
    <p:extLst>
      <p:ext uri="{BB962C8B-B14F-4D97-AF65-F5344CB8AC3E}">
        <p14:creationId xmlns:p14="http://schemas.microsoft.com/office/powerpoint/2010/main" val="829086394"/>
      </p:ext>
    </p:extLst>
  </p:cSld>
</p:sld>
</file>

<file path=ppt/slides/slide6.xml><?xml version="1.0" encoding="utf-8"?>
<p:sld xmlns:p="http://schemas.openxmlformats.org/presentationml/2006/main">
  <p:cSld>
    <p:bg>
      <p:bgPr>
        <a:solidFill xmlns:a="http://schemas.openxmlformats.org/drawingml/2006/main">
          <a:srgbClr val="F5F0E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69F0251-E423-4FBA-846B-159646F29927}"/>
              </a:ext>
            </a:extLst>
          </p:cNvPr>
          <p:cNvSpPr>
            <a:spLocks xmlns:a="http://schemas.openxmlformats.org/drawingml/2006/main" noGrp="1"/>
          </p:cNvSpPr>
          <p:nvPr/>
        </p:nvSpPr>
        <p:spPr>
          <a:xfrm xmlns:a="http://schemas.openxmlformats.org/drawingml/2006/main">
            <a:off x="0" y="0"/>
            <a:ext cx="12161520" cy="1005840"/>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A7BA8A7E-4B4A-4ED2-A7CF-4629172E65C8}"/>
              </a:ext>
            </a:extLst>
          </p:cNvPr>
          <p:cNvSpPr>
            <a:spLocks xmlns:a="http://schemas.openxmlformats.org/drawingml/2006/main" noGrp="1"/>
          </p:cNvSpPr>
          <p:nvPr/>
        </p:nvSpPr>
        <p:spPr>
          <a:xfrm xmlns:a="http://schemas.openxmlformats.org/drawingml/2006/main">
            <a:off x="91440" y="-45720"/>
            <a:ext cx="1463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200" b="1">
                <a:solidFill>
                  <a:srgbClr val="FFFFFF">
                    <a:alpha val="25000"/>
                  </a:srgbClr>
                </a:solidFill>
                <a:latin typeface="Georgia"/>
                <a:ea typeface="Georgia"/>
                <a:cs typeface="Georgia"/>
              </a:rPr>
              <a:t>05</a:t>
            </a:r>
          </a:p>
        </p:txBody>
      </p:sp>
      <p:sp>
        <p:nvSpPr>
          <p:cNvPr id="4" name="Text 2">
            <a:extLst xmlns:a="http://schemas.openxmlformats.org/drawingml/2006/main">
              <a:ext uri="{FF2B5EF4-FFF2-40B4-BE49-F238E27FC236}">
                <a16:creationId xmlns:a16="http://schemas.microsoft.com/office/drawing/2014/main" id="{74EDD47B-550C-4110-96D0-587922BCA7ED}"/>
              </a:ext>
            </a:extLst>
          </p:cNvPr>
          <p:cNvSpPr>
            <a:spLocks xmlns:a="http://schemas.openxmlformats.org/drawingml/2006/main" noGrp="1"/>
          </p:cNvSpPr>
          <p:nvPr/>
        </p:nvSpPr>
        <p:spPr>
          <a:xfrm xmlns:a="http://schemas.openxmlformats.org/drawingml/2006/main">
            <a:off x="1371600" y="73152"/>
            <a:ext cx="4572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FFFFFF">
                    <a:alpha val="60000"/>
                  </a:srgbClr>
                </a:solidFill>
                <a:latin typeface="Calibri"/>
                <a:ea typeface="Calibri"/>
                <a:cs typeface="Calibri"/>
              </a:rPr>
              <a:t>TEAM FIVE</a:t>
            </a:r>
          </a:p>
        </p:txBody>
      </p:sp>
      <p:sp>
        <p:nvSpPr>
          <p:cNvPr id="5" name="Text 3">
            <a:extLst xmlns:a="http://schemas.openxmlformats.org/drawingml/2006/main">
              <a:ext uri="{FF2B5EF4-FFF2-40B4-BE49-F238E27FC236}">
                <a16:creationId xmlns:a16="http://schemas.microsoft.com/office/drawing/2014/main" id="{69F23FA8-2481-4A74-BD79-3B7E4F5063D4}"/>
              </a:ext>
            </a:extLst>
          </p:cNvPr>
          <p:cNvSpPr>
            <a:spLocks xmlns:a="http://schemas.openxmlformats.org/drawingml/2006/main" noGrp="1"/>
          </p:cNvSpPr>
          <p:nvPr/>
        </p:nvSpPr>
        <p:spPr>
          <a:xfrm xmlns:a="http://schemas.openxmlformats.org/drawingml/2006/main">
            <a:off x="1371600" y="457200"/>
            <a:ext cx="7315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Georgia"/>
                <a:ea typeface="Georgia"/>
                <a:cs typeface="Georgia"/>
              </a:rPr>
              <a:t>Team Five · Client Profiles</a:t>
            </a:r>
          </a:p>
        </p:txBody>
      </p:sp>
      <p:sp>
        <p:nvSpPr>
          <p:cNvPr id="6" name="Text 4">
            <a:extLst xmlns:a="http://schemas.openxmlformats.org/drawingml/2006/main">
              <a:ext uri="{FF2B5EF4-FFF2-40B4-BE49-F238E27FC236}">
                <a16:creationId xmlns:a16="http://schemas.microsoft.com/office/drawing/2014/main" id="{AD7EB897-2A80-4802-87B4-5F7DEEF2E963}"/>
              </a:ext>
            </a:extLst>
          </p:cNvPr>
          <p:cNvSpPr>
            <a:spLocks xmlns:a="http://schemas.openxmlformats.org/drawingml/2006/main" noGrp="1"/>
          </p:cNvSpPr>
          <p:nvPr/>
        </p:nvSpPr>
        <p:spPr>
          <a:xfrm xmlns:a="http://schemas.openxmlformats.org/drawingml/2006/main">
            <a:off x="10789920" y="274320"/>
            <a:ext cx="1188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FFFFFF">
                    <a:alpha val="50000"/>
                  </a:srgbClr>
                </a:solidFill>
                <a:latin typeface="Calibri"/>
                <a:ea typeface="Calibri"/>
                <a:cs typeface="Calibri"/>
              </a:rPr>
              <a:t>5 / 6</a:t>
            </a:r>
          </a:p>
        </p:txBody>
      </p:sp>
      <p:sp>
        <p:nvSpPr>
          <p:cNvPr id="7" name="Shape 5">
            <a:extLst xmlns:a="http://schemas.openxmlformats.org/drawingml/2006/main">
              <a:ext uri="{FF2B5EF4-FFF2-40B4-BE49-F238E27FC236}">
                <a16:creationId xmlns:a16="http://schemas.microsoft.com/office/drawing/2014/main" id="{055BA55B-02D6-4C16-BAFF-E20C17244C81}"/>
              </a:ext>
            </a:extLst>
          </p:cNvPr>
          <p:cNvSpPr>
            <a:spLocks xmlns:a="http://schemas.openxmlformats.org/drawingml/2006/main" noGrp="1"/>
          </p:cNvSpPr>
          <p:nvPr/>
        </p:nvSpPr>
        <p:spPr>
          <a:xfrm xmlns:a="http://schemas.openxmlformats.org/drawingml/2006/main">
            <a:off x="137160"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3C4E0D51-4BA3-439D-A2B1-FBCB205B4298}"/>
              </a:ext>
            </a:extLst>
          </p:cNvPr>
          <p:cNvSpPr>
            <a:spLocks xmlns:a="http://schemas.openxmlformats.org/drawingml/2006/main" noGrp="1"/>
          </p:cNvSpPr>
          <p:nvPr/>
        </p:nvSpPr>
        <p:spPr>
          <a:xfrm xmlns:a="http://schemas.openxmlformats.org/drawingml/2006/main">
            <a:off x="137160" y="1188720"/>
            <a:ext cx="3749040" cy="109728"/>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124B962F-0D93-4BFD-8B31-78B203AAAD74}"/>
              </a:ext>
            </a:extLst>
          </p:cNvPr>
          <p:cNvSpPr>
            <a:spLocks xmlns:a="http://schemas.openxmlformats.org/drawingml/2006/main" noGrp="1"/>
          </p:cNvSpPr>
          <p:nvPr/>
        </p:nvSpPr>
        <p:spPr>
          <a:xfrm xmlns:a="http://schemas.openxmlformats.org/drawingml/2006/main">
            <a:off x="365760" y="1444752"/>
            <a:ext cx="749808" cy="749808"/>
          </a:xfrm>
          <a:prstGeom xmlns:a="http://schemas.openxmlformats.org/drawingml/2006/main" prst="ellipse">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6C287DE5-B7E0-4721-A6ED-D0FA1417F201}"/>
              </a:ext>
            </a:extLst>
          </p:cNvPr>
          <p:cNvSpPr>
            <a:spLocks xmlns:a="http://schemas.openxmlformats.org/drawingml/2006/main" noGrp="1"/>
          </p:cNvSpPr>
          <p:nvPr/>
        </p:nvSpPr>
        <p:spPr>
          <a:xfrm xmlns:a="http://schemas.openxmlformats.org/drawingml/2006/main">
            <a:off x="365760"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AS</a:t>
            </a:r>
          </a:p>
        </p:txBody>
      </p:sp>
      <p:sp>
        <p:nvSpPr>
          <p:cNvPr id="11" name="Text 9">
            <a:extLst xmlns:a="http://schemas.openxmlformats.org/drawingml/2006/main">
              <a:ext uri="{FF2B5EF4-FFF2-40B4-BE49-F238E27FC236}">
                <a16:creationId xmlns:a16="http://schemas.microsoft.com/office/drawing/2014/main" id="{6DB779E5-F47F-4CA0-90BE-B4CE1986292D}"/>
              </a:ext>
            </a:extLst>
          </p:cNvPr>
          <p:cNvSpPr>
            <a:spLocks xmlns:a="http://schemas.openxmlformats.org/drawingml/2006/main" noGrp="1"/>
          </p:cNvSpPr>
          <p:nvPr/>
        </p:nvSpPr>
        <p:spPr>
          <a:xfrm xmlns:a="http://schemas.openxmlformats.org/drawingml/2006/main">
            <a:off x="2423160"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#09</a:t>
            </a:r>
          </a:p>
        </p:txBody>
      </p:sp>
      <p:sp>
        <p:nvSpPr>
          <p:cNvPr id="12" name="Text 10">
            <a:extLst xmlns:a="http://schemas.openxmlformats.org/drawingml/2006/main">
              <a:ext uri="{FF2B5EF4-FFF2-40B4-BE49-F238E27FC236}">
                <a16:creationId xmlns:a16="http://schemas.microsoft.com/office/drawing/2014/main" id="{9A05FFAC-E2DC-4AB4-BC43-A651101FB090}"/>
              </a:ext>
            </a:extLst>
          </p:cNvPr>
          <p:cNvSpPr>
            <a:spLocks xmlns:a="http://schemas.openxmlformats.org/drawingml/2006/main" noGrp="1"/>
          </p:cNvSpPr>
          <p:nvPr/>
        </p:nvSpPr>
        <p:spPr>
          <a:xfrm xmlns:a="http://schemas.openxmlformats.org/drawingml/2006/main">
            <a:off x="1216152"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Arthur Sterling</a:t>
            </a:r>
          </a:p>
        </p:txBody>
      </p:sp>
      <p:sp>
        <p:nvSpPr>
          <p:cNvPr id="13" name="Text 11">
            <a:extLst xmlns:a="http://schemas.openxmlformats.org/drawingml/2006/main">
              <a:ext uri="{FF2B5EF4-FFF2-40B4-BE49-F238E27FC236}">
                <a16:creationId xmlns:a16="http://schemas.microsoft.com/office/drawing/2014/main" id="{748D1ADC-56AE-4F89-889E-2DD829392120}"/>
              </a:ext>
            </a:extLst>
          </p:cNvPr>
          <p:cNvSpPr>
            <a:spLocks xmlns:a="http://schemas.openxmlformats.org/drawingml/2006/main" noGrp="1"/>
          </p:cNvSpPr>
          <p:nvPr/>
        </p:nvSpPr>
        <p:spPr>
          <a:xfrm xmlns:a="http://schemas.openxmlformats.org/drawingml/2006/main">
            <a:off x="1216152"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80  ·  Retired Executive</a:t>
            </a:r>
          </a:p>
        </p:txBody>
      </p:sp>
      <p:sp>
        <p:nvSpPr>
          <p:cNvPr id="14" name="Shape 12">
            <a:extLst xmlns:a="http://schemas.openxmlformats.org/drawingml/2006/main">
              <a:ext uri="{FF2B5EF4-FFF2-40B4-BE49-F238E27FC236}">
                <a16:creationId xmlns:a16="http://schemas.microsoft.com/office/drawing/2014/main" id="{E089D0D5-96CD-4CA4-B99E-39606963402B}"/>
              </a:ext>
            </a:extLst>
          </p:cNvPr>
          <p:cNvSpPr>
            <a:spLocks xmlns:a="http://schemas.openxmlformats.org/drawingml/2006/main" noGrp="1"/>
          </p:cNvSpPr>
          <p:nvPr/>
        </p:nvSpPr>
        <p:spPr>
          <a:xfrm xmlns:a="http://schemas.openxmlformats.org/drawingml/2006/main">
            <a:off x="365760" y="2322576"/>
            <a:ext cx="1325880" cy="237744"/>
          </a:xfrm>
          <a:prstGeom xmlns:a="http://schemas.openxmlformats.org/drawingml/2006/main" prst="rect">
            <a:avLst/>
          </a:prstGeom>
          <a:solidFill xmlns:a="http://schemas.openxmlformats.org/drawingml/2006/main">
            <a:srgbClr val="E8F0FF"/>
          </a:solidFill>
          <a:ln xmlns:a="http://schemas.openxmlformats.org/drawingml/2006/main" w="12700">
            <a:solidFill>
              <a:srgbClr val="E8F0FF"/>
            </a:solidFill>
            <a:prstDash val="solid"/>
          </a:ln>
        </p:spPr>
        <p:txBody>
          <a:bodyPr xmlns:a="http://schemas.openxmlformats.org/drawingml/2006/main"/>
          <a:lstStyle xmlns:a="http://schemas.openxmlformats.org/drawingml/2006/main"/>
          <a:p xmlns:a="http://schemas.openxmlformats.org/drawingml/2006/main"/>
        </p:txBody>
      </p:sp>
      <p:sp>
        <p:nvSpPr>
          <p:cNvPr id="15" name="Shape 13">
            <a:extLst xmlns:a="http://schemas.openxmlformats.org/drawingml/2006/main">
              <a:ext uri="{FF2B5EF4-FFF2-40B4-BE49-F238E27FC236}">
                <a16:creationId xmlns:a16="http://schemas.microsoft.com/office/drawing/2014/main" id="{0A5FE6B7-BEAB-45D0-BC14-728505897F9A}"/>
              </a:ext>
            </a:extLst>
          </p:cNvPr>
          <p:cNvSpPr>
            <a:spLocks xmlns:a="http://schemas.openxmlformats.org/drawingml/2006/main" noGrp="1"/>
          </p:cNvSpPr>
          <p:nvPr/>
        </p:nvSpPr>
        <p:spPr>
          <a:xfrm xmlns:a="http://schemas.openxmlformats.org/drawingml/2006/main">
            <a:off x="429768" y="2382012"/>
            <a:ext cx="91440" cy="91440"/>
          </a:xfrm>
          <a:prstGeom xmlns:a="http://schemas.openxmlformats.org/drawingml/2006/main" prst="ellipse">
            <a:avLst/>
          </a:prstGeom>
          <a:solidFill xmlns:a="http://schemas.openxmlformats.org/drawingml/2006/main">
            <a:srgbClr val="3A6EA5"/>
          </a:solidFill>
          <a:ln xmlns:a="http://schemas.openxmlformats.org/drawingml/2006/main" w="12700">
            <a:solidFill>
              <a:srgbClr val="3A6EA5"/>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7E8454E9-4248-490B-AF56-F4FDEF58C0D8}"/>
              </a:ext>
            </a:extLst>
          </p:cNvPr>
          <p:cNvSpPr>
            <a:spLocks xmlns:a="http://schemas.openxmlformats.org/drawingml/2006/main" noGrp="1"/>
          </p:cNvSpPr>
          <p:nvPr/>
        </p:nvSpPr>
        <p:spPr>
          <a:xfrm xmlns:a="http://schemas.openxmlformats.org/drawingml/2006/main">
            <a:off x="557784"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3A6EA5"/>
                </a:solidFill>
                <a:latin typeface="Calibri"/>
                <a:ea typeface="Calibri"/>
                <a:cs typeface="Calibri"/>
              </a:rPr>
              <a:t>RISK NEUTRAL</a:t>
            </a:r>
          </a:p>
        </p:txBody>
      </p:sp>
      <p:sp>
        <p:nvSpPr>
          <p:cNvPr id="17" name="Shape 15">
            <a:extLst xmlns:a="http://schemas.openxmlformats.org/drawingml/2006/main">
              <a:ext uri="{FF2B5EF4-FFF2-40B4-BE49-F238E27FC236}">
                <a16:creationId xmlns:a16="http://schemas.microsoft.com/office/drawing/2014/main" id="{6FE551EA-9AEB-4FF7-9CAF-62D100E153E5}"/>
              </a:ext>
            </a:extLst>
          </p:cNvPr>
          <p:cNvSpPr>
            <a:spLocks xmlns:a="http://schemas.openxmlformats.org/drawingml/2006/main" noGrp="1"/>
          </p:cNvSpPr>
          <p:nvPr/>
        </p:nvSpPr>
        <p:spPr>
          <a:xfrm xmlns:a="http://schemas.openxmlformats.org/drawingml/2006/main">
            <a:off x="365760"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E74EAB25-80AF-48E8-8271-114AB57DD9A7}"/>
              </a:ext>
            </a:extLst>
          </p:cNvPr>
          <p:cNvSpPr>
            <a:spLocks xmlns:a="http://schemas.openxmlformats.org/drawingml/2006/main" noGrp="1"/>
          </p:cNvSpPr>
          <p:nvPr/>
        </p:nvSpPr>
        <p:spPr>
          <a:xfrm xmlns:a="http://schemas.openxmlformats.org/drawingml/2006/main">
            <a:off x="36576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19" name="Text 17">
            <a:extLst xmlns:a="http://schemas.openxmlformats.org/drawingml/2006/main">
              <a:ext uri="{FF2B5EF4-FFF2-40B4-BE49-F238E27FC236}">
                <a16:creationId xmlns:a16="http://schemas.microsoft.com/office/drawing/2014/main" id="{5853EE01-DBA3-4752-AEB6-E7B349C61B41}"/>
              </a:ext>
            </a:extLst>
          </p:cNvPr>
          <p:cNvSpPr>
            <a:spLocks xmlns:a="http://schemas.openxmlformats.org/drawingml/2006/main" noGrp="1"/>
          </p:cNvSpPr>
          <p:nvPr/>
        </p:nvSpPr>
        <p:spPr>
          <a:xfrm xmlns:a="http://schemas.openxmlformats.org/drawingml/2006/main">
            <a:off x="36576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N/A</a:t>
            </a:r>
          </a:p>
        </p:txBody>
      </p:sp>
      <p:sp>
        <p:nvSpPr>
          <p:cNvPr id="20" name="Text 18">
            <a:extLst xmlns:a="http://schemas.openxmlformats.org/drawingml/2006/main">
              <a:ext uri="{FF2B5EF4-FFF2-40B4-BE49-F238E27FC236}">
                <a16:creationId xmlns:a16="http://schemas.microsoft.com/office/drawing/2014/main" id="{0F1D5C0B-9FDD-4D88-93C1-695F85609901}"/>
              </a:ext>
            </a:extLst>
          </p:cNvPr>
          <p:cNvSpPr>
            <a:spLocks xmlns:a="http://schemas.openxmlformats.org/drawingml/2006/main" noGrp="1"/>
          </p:cNvSpPr>
          <p:nvPr/>
        </p:nvSpPr>
        <p:spPr>
          <a:xfrm xmlns:a="http://schemas.openxmlformats.org/drawingml/2006/main">
            <a:off x="210312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21" name="Text 19">
            <a:extLst xmlns:a="http://schemas.openxmlformats.org/drawingml/2006/main">
              <a:ext uri="{FF2B5EF4-FFF2-40B4-BE49-F238E27FC236}">
                <a16:creationId xmlns:a16="http://schemas.microsoft.com/office/drawing/2014/main" id="{64409596-77E4-4AD5-844D-388A134CFDF0}"/>
              </a:ext>
            </a:extLst>
          </p:cNvPr>
          <p:cNvSpPr>
            <a:spLocks xmlns:a="http://schemas.openxmlformats.org/drawingml/2006/main" noGrp="1"/>
          </p:cNvSpPr>
          <p:nvPr/>
        </p:nvSpPr>
        <p:spPr>
          <a:xfrm xmlns:a="http://schemas.openxmlformats.org/drawingml/2006/main">
            <a:off x="210312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$50M+</a:t>
            </a:r>
          </a:p>
        </p:txBody>
      </p:sp>
      <p:sp>
        <p:nvSpPr>
          <p:cNvPr id="22" name="Shape 20">
            <a:extLst xmlns:a="http://schemas.openxmlformats.org/drawingml/2006/main">
              <a:ext uri="{FF2B5EF4-FFF2-40B4-BE49-F238E27FC236}">
                <a16:creationId xmlns:a16="http://schemas.microsoft.com/office/drawing/2014/main" id="{6FC3F87C-449E-4C4F-A139-CE77C004994E}"/>
              </a:ext>
            </a:extLst>
          </p:cNvPr>
          <p:cNvSpPr>
            <a:spLocks xmlns:a="http://schemas.openxmlformats.org/drawingml/2006/main" noGrp="1"/>
          </p:cNvSpPr>
          <p:nvPr/>
        </p:nvSpPr>
        <p:spPr>
          <a:xfrm xmlns:a="http://schemas.openxmlformats.org/drawingml/2006/main">
            <a:off x="365760" y="3456432"/>
            <a:ext cx="3291840" cy="804672"/>
          </a:xfrm>
          <a:prstGeom xmlns:a="http://schemas.openxmlformats.org/drawingml/2006/main" prst="rect">
            <a:avLst/>
          </a:prstGeom>
          <a:solidFill xmlns:a="http://schemas.openxmlformats.org/drawingml/2006/main">
            <a:srgbClr val="F0D0D0"/>
          </a:solidFill>
          <a:ln xmlns:a="http://schemas.openxmlformats.org/drawingml/2006/main" w="12700">
            <a:solidFill>
              <a:srgbClr val="F0D0D0"/>
            </a:solidFill>
            <a:prstDash val="solid"/>
          </a:ln>
        </p:spPr>
        <p:txBody>
          <a:bodyPr xmlns:a="http://schemas.openxmlformats.org/drawingml/2006/main"/>
          <a:lstStyle xmlns:a="http://schemas.openxmlformats.org/drawingml/2006/main"/>
          <a:p xmlns:a="http://schemas.openxmlformats.org/drawingml/2006/main"/>
        </p:txBody>
      </p:sp>
      <p:sp>
        <p:nvSpPr>
          <p:cNvPr id="23" name="Shape 21">
            <a:extLst xmlns:a="http://schemas.openxmlformats.org/drawingml/2006/main">
              <a:ext uri="{FF2B5EF4-FFF2-40B4-BE49-F238E27FC236}">
                <a16:creationId xmlns:a16="http://schemas.microsoft.com/office/drawing/2014/main" id="{A08354B6-7267-4843-9F08-F78D24CE791F}"/>
              </a:ext>
            </a:extLst>
          </p:cNvPr>
          <p:cNvSpPr>
            <a:spLocks xmlns:a="http://schemas.openxmlformats.org/drawingml/2006/main" noGrp="1"/>
          </p:cNvSpPr>
          <p:nvPr/>
        </p:nvSpPr>
        <p:spPr>
          <a:xfrm xmlns:a="http://schemas.openxmlformats.org/drawingml/2006/main">
            <a:off x="365760" y="3456432"/>
            <a:ext cx="54864" cy="804672"/>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524FDCE6-D364-4EE4-9DA0-D7F0E681A0C8}"/>
              </a:ext>
            </a:extLst>
          </p:cNvPr>
          <p:cNvSpPr>
            <a:spLocks xmlns:a="http://schemas.openxmlformats.org/drawingml/2006/main" noGrp="1"/>
          </p:cNvSpPr>
          <p:nvPr/>
        </p:nvSpPr>
        <p:spPr>
          <a:xfrm xmlns:a="http://schemas.openxmlformats.org/drawingml/2006/main">
            <a:off x="484632"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8B1A1A"/>
                </a:solidFill>
                <a:latin typeface="Calibri"/>
                <a:ea typeface="Calibri"/>
                <a:cs typeface="Calibri"/>
              </a:rPr>
              <a:t>PRIMARY GOAL</a:t>
            </a:r>
          </a:p>
        </p:txBody>
      </p:sp>
      <p:sp>
        <p:nvSpPr>
          <p:cNvPr id="25" name="Text 23">
            <a:extLst xmlns:a="http://schemas.openxmlformats.org/drawingml/2006/main">
              <a:ext uri="{FF2B5EF4-FFF2-40B4-BE49-F238E27FC236}">
                <a16:creationId xmlns:a16="http://schemas.microsoft.com/office/drawing/2014/main" id="{F1BAAB0C-C00D-46A1-AE04-2CB11785D849}"/>
              </a:ext>
            </a:extLst>
          </p:cNvPr>
          <p:cNvSpPr>
            <a:spLocks xmlns:a="http://schemas.openxmlformats.org/drawingml/2006/main" noGrp="1"/>
          </p:cNvSpPr>
          <p:nvPr/>
        </p:nvSpPr>
        <p:spPr>
          <a:xfrm xmlns:a="http://schemas.openxmlformats.org/drawingml/2006/main">
            <a:off x="484632"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Philanthropy / Multi-gen Wealth</a:t>
            </a:r>
          </a:p>
        </p:txBody>
      </p:sp>
      <p:sp>
        <p:nvSpPr>
          <p:cNvPr id="26" name="Shape 24">
            <a:extLst xmlns:a="http://schemas.openxmlformats.org/drawingml/2006/main">
              <a:ext uri="{FF2B5EF4-FFF2-40B4-BE49-F238E27FC236}">
                <a16:creationId xmlns:a16="http://schemas.microsoft.com/office/drawing/2014/main" id="{99011B93-E38F-4E85-9547-F3AB3E5113CF}"/>
              </a:ext>
            </a:extLst>
          </p:cNvPr>
          <p:cNvSpPr>
            <a:spLocks xmlns:a="http://schemas.openxmlformats.org/drawingml/2006/main" noGrp="1"/>
          </p:cNvSpPr>
          <p:nvPr/>
        </p:nvSpPr>
        <p:spPr>
          <a:xfrm xmlns:a="http://schemas.openxmlformats.org/drawingml/2006/main">
            <a:off x="365760"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164E1F1B-B1ED-42DF-BF6C-F7238B102508}"/>
              </a:ext>
            </a:extLst>
          </p:cNvPr>
          <p:cNvSpPr>
            <a:spLocks xmlns:a="http://schemas.openxmlformats.org/drawingml/2006/main" noGrp="1"/>
          </p:cNvSpPr>
          <p:nvPr/>
        </p:nvSpPr>
        <p:spPr>
          <a:xfrm xmlns:a="http://schemas.openxmlformats.org/drawingml/2006/main">
            <a:off x="484632"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28" name="Text 26">
            <a:extLst xmlns:a="http://schemas.openxmlformats.org/drawingml/2006/main">
              <a:ext uri="{FF2B5EF4-FFF2-40B4-BE49-F238E27FC236}">
                <a16:creationId xmlns:a16="http://schemas.microsoft.com/office/drawing/2014/main" id="{F4E430AF-A917-43CB-A221-9AA1C7C14095}"/>
              </a:ext>
            </a:extLst>
          </p:cNvPr>
          <p:cNvSpPr>
            <a:spLocks xmlns:a="http://schemas.openxmlformats.org/drawingml/2006/main" noGrp="1"/>
          </p:cNvSpPr>
          <p:nvPr/>
        </p:nvSpPr>
        <p:spPr>
          <a:xfrm xmlns:a="http://schemas.openxmlformats.org/drawingml/2006/main">
            <a:off x="484632"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Multi-gen taxes; inflation protection</a:t>
            </a:r>
          </a:p>
        </p:txBody>
      </p:sp>
      <p:sp>
        <p:nvSpPr>
          <p:cNvPr id="29" name="Shape 27">
            <a:extLst xmlns:a="http://schemas.openxmlformats.org/drawingml/2006/main">
              <a:ext uri="{FF2B5EF4-FFF2-40B4-BE49-F238E27FC236}">
                <a16:creationId xmlns:a16="http://schemas.microsoft.com/office/drawing/2014/main" id="{D1683DFA-6A43-4759-858E-5C0B85E7C48A}"/>
              </a:ext>
            </a:extLst>
          </p:cNvPr>
          <p:cNvSpPr>
            <a:spLocks xmlns:a="http://schemas.openxmlformats.org/drawingml/2006/main" noGrp="1"/>
          </p:cNvSpPr>
          <p:nvPr/>
        </p:nvSpPr>
        <p:spPr>
          <a:xfrm xmlns:a="http://schemas.openxmlformats.org/drawingml/2006/main">
            <a:off x="365760" y="5230368"/>
            <a:ext cx="1097280" cy="877824"/>
          </a:xfrm>
          <a:prstGeom xmlns:a="http://schemas.openxmlformats.org/drawingml/2006/main" prst="rect">
            <a:avLst/>
          </a:prstGeom>
          <a:solidFill xmlns:a="http://schemas.openxmlformats.org/drawingml/2006/main">
            <a:srgbClr val="8B1A1A"/>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FA66E15C-9B3E-4225-8FF6-45DD1F868660}"/>
              </a:ext>
            </a:extLst>
          </p:cNvPr>
          <p:cNvSpPr>
            <a:spLocks xmlns:a="http://schemas.openxmlformats.org/drawingml/2006/main" noGrp="1"/>
          </p:cNvSpPr>
          <p:nvPr/>
        </p:nvSpPr>
        <p:spPr>
          <a:xfrm xmlns:a="http://schemas.openxmlformats.org/drawingml/2006/main">
            <a:off x="38404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31" name="Text 29">
            <a:extLst xmlns:a="http://schemas.openxmlformats.org/drawingml/2006/main">
              <a:ext uri="{FF2B5EF4-FFF2-40B4-BE49-F238E27FC236}">
                <a16:creationId xmlns:a16="http://schemas.microsoft.com/office/drawing/2014/main" id="{128758FB-A320-4D2C-AC4A-60AF1BDC017C}"/>
              </a:ext>
            </a:extLst>
          </p:cNvPr>
          <p:cNvSpPr>
            <a:spLocks xmlns:a="http://schemas.openxmlformats.org/drawingml/2006/main" noGrp="1"/>
          </p:cNvSpPr>
          <p:nvPr/>
        </p:nvSpPr>
        <p:spPr>
          <a:xfrm xmlns:a="http://schemas.openxmlformats.org/drawingml/2006/main">
            <a:off x="41148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5.0%</a:t>
            </a:r>
          </a:p>
        </p:txBody>
      </p:sp>
      <p:sp>
        <p:nvSpPr>
          <p:cNvPr id="32" name="Shape 30">
            <a:extLst xmlns:a="http://schemas.openxmlformats.org/drawingml/2006/main">
              <a:ext uri="{FF2B5EF4-FFF2-40B4-BE49-F238E27FC236}">
                <a16:creationId xmlns:a16="http://schemas.microsoft.com/office/drawing/2014/main" id="{FAEBE818-06C3-4710-9CEA-DA5163A87CEC}"/>
              </a:ext>
            </a:extLst>
          </p:cNvPr>
          <p:cNvSpPr>
            <a:spLocks xmlns:a="http://schemas.openxmlformats.org/drawingml/2006/main" noGrp="1"/>
          </p:cNvSpPr>
          <p:nvPr/>
        </p:nvSpPr>
        <p:spPr>
          <a:xfrm xmlns:a="http://schemas.openxmlformats.org/drawingml/2006/main">
            <a:off x="1463040"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4C8B5894-CE5F-4B2B-B8FC-260FD9F797EA}"/>
              </a:ext>
            </a:extLst>
          </p:cNvPr>
          <p:cNvSpPr>
            <a:spLocks xmlns:a="http://schemas.openxmlformats.org/drawingml/2006/main" noGrp="1"/>
          </p:cNvSpPr>
          <p:nvPr/>
        </p:nvSpPr>
        <p:spPr>
          <a:xfrm xmlns:a="http://schemas.openxmlformats.org/drawingml/2006/main">
            <a:off x="148132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34" name="Text 32">
            <a:extLst xmlns:a="http://schemas.openxmlformats.org/drawingml/2006/main">
              <a:ext uri="{FF2B5EF4-FFF2-40B4-BE49-F238E27FC236}">
                <a16:creationId xmlns:a16="http://schemas.microsoft.com/office/drawing/2014/main" id="{C3DDB97F-3159-4BC5-B4B7-44FF3C860B76}"/>
              </a:ext>
            </a:extLst>
          </p:cNvPr>
          <p:cNvSpPr>
            <a:spLocks xmlns:a="http://schemas.openxmlformats.org/drawingml/2006/main" noGrp="1"/>
          </p:cNvSpPr>
          <p:nvPr/>
        </p:nvSpPr>
        <p:spPr>
          <a:xfrm xmlns:a="http://schemas.openxmlformats.org/drawingml/2006/main">
            <a:off x="150876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7.0%</a:t>
            </a:r>
          </a:p>
        </p:txBody>
      </p:sp>
      <p:sp>
        <p:nvSpPr>
          <p:cNvPr id="35" name="Shape 33">
            <a:extLst xmlns:a="http://schemas.openxmlformats.org/drawingml/2006/main">
              <a:ext uri="{FF2B5EF4-FFF2-40B4-BE49-F238E27FC236}">
                <a16:creationId xmlns:a16="http://schemas.microsoft.com/office/drawing/2014/main" id="{5C22C8B6-E4A9-4EA9-8345-A017D159DF06}"/>
              </a:ext>
            </a:extLst>
          </p:cNvPr>
          <p:cNvSpPr>
            <a:spLocks xmlns:a="http://schemas.openxmlformats.org/drawingml/2006/main" noGrp="1"/>
          </p:cNvSpPr>
          <p:nvPr/>
        </p:nvSpPr>
        <p:spPr>
          <a:xfrm xmlns:a="http://schemas.openxmlformats.org/drawingml/2006/main">
            <a:off x="2560320"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D767649D-81E7-4ED9-8B06-AE035F21C6A4}"/>
              </a:ext>
            </a:extLst>
          </p:cNvPr>
          <p:cNvSpPr>
            <a:spLocks xmlns:a="http://schemas.openxmlformats.org/drawingml/2006/main" noGrp="1"/>
          </p:cNvSpPr>
          <p:nvPr/>
        </p:nvSpPr>
        <p:spPr>
          <a:xfrm xmlns:a="http://schemas.openxmlformats.org/drawingml/2006/main">
            <a:off x="257860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37" name="Text 35">
            <a:extLst xmlns:a="http://schemas.openxmlformats.org/drawingml/2006/main">
              <a:ext uri="{FF2B5EF4-FFF2-40B4-BE49-F238E27FC236}">
                <a16:creationId xmlns:a16="http://schemas.microsoft.com/office/drawing/2014/main" id="{6C9ACBE4-D3A6-4CC5-AA59-B5DF88ED85CE}"/>
              </a:ext>
            </a:extLst>
          </p:cNvPr>
          <p:cNvSpPr>
            <a:spLocks xmlns:a="http://schemas.openxmlformats.org/drawingml/2006/main" noGrp="1"/>
          </p:cNvSpPr>
          <p:nvPr/>
        </p:nvSpPr>
        <p:spPr>
          <a:xfrm xmlns:a="http://schemas.openxmlformats.org/drawingml/2006/main">
            <a:off x="260604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3.0</a:t>
            </a:r>
          </a:p>
        </p:txBody>
      </p:sp>
      <p:sp>
        <p:nvSpPr>
          <p:cNvPr id="38" name="Shape 36">
            <a:extLst xmlns:a="http://schemas.openxmlformats.org/drawingml/2006/main">
              <a:ext uri="{FF2B5EF4-FFF2-40B4-BE49-F238E27FC236}">
                <a16:creationId xmlns:a16="http://schemas.microsoft.com/office/drawing/2014/main" id="{E0A94625-6523-46A8-8EF3-50BDF1622133}"/>
              </a:ext>
            </a:extLst>
          </p:cNvPr>
          <p:cNvSpPr>
            <a:spLocks xmlns:a="http://schemas.openxmlformats.org/drawingml/2006/main" noGrp="1"/>
          </p:cNvSpPr>
          <p:nvPr/>
        </p:nvSpPr>
        <p:spPr>
          <a:xfrm xmlns:a="http://schemas.openxmlformats.org/drawingml/2006/main">
            <a:off x="4041648"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39" name="Shape 37">
            <a:extLst xmlns:a="http://schemas.openxmlformats.org/drawingml/2006/main">
              <a:ext uri="{FF2B5EF4-FFF2-40B4-BE49-F238E27FC236}">
                <a16:creationId xmlns:a16="http://schemas.microsoft.com/office/drawing/2014/main" id="{137CCB44-DC5C-482E-AB46-0947E9CEA3D8}"/>
              </a:ext>
            </a:extLst>
          </p:cNvPr>
          <p:cNvSpPr>
            <a:spLocks xmlns:a="http://schemas.openxmlformats.org/drawingml/2006/main" noGrp="1"/>
          </p:cNvSpPr>
          <p:nvPr/>
        </p:nvSpPr>
        <p:spPr>
          <a:xfrm xmlns:a="http://schemas.openxmlformats.org/drawingml/2006/main">
            <a:off x="4041648" y="1188720"/>
            <a:ext cx="3749040" cy="109728"/>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40" name="Shape 38">
            <a:extLst xmlns:a="http://schemas.openxmlformats.org/drawingml/2006/main">
              <a:ext uri="{FF2B5EF4-FFF2-40B4-BE49-F238E27FC236}">
                <a16:creationId xmlns:a16="http://schemas.microsoft.com/office/drawing/2014/main" id="{94DA2C87-32FE-4DC9-B1B7-1EDE88BAA4CA}"/>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ellipse">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41" name="Text 39">
            <a:extLst xmlns:a="http://schemas.openxmlformats.org/drawingml/2006/main">
              <a:ext uri="{FF2B5EF4-FFF2-40B4-BE49-F238E27FC236}">
                <a16:creationId xmlns:a16="http://schemas.microsoft.com/office/drawing/2014/main" id="{EA5D8677-CFDE-4285-980A-8F69530BA015}"/>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TP</a:t>
            </a:r>
          </a:p>
        </p:txBody>
      </p:sp>
      <p:sp>
        <p:nvSpPr>
          <p:cNvPr id="42" name="Text 40">
            <a:extLst xmlns:a="http://schemas.openxmlformats.org/drawingml/2006/main">
              <a:ext uri="{FF2B5EF4-FFF2-40B4-BE49-F238E27FC236}">
                <a16:creationId xmlns:a16="http://schemas.microsoft.com/office/drawing/2014/main" id="{72E61CCE-C21A-4A24-8201-9E42A79DF6F1}"/>
              </a:ext>
            </a:extLst>
          </p:cNvPr>
          <p:cNvSpPr>
            <a:spLocks xmlns:a="http://schemas.openxmlformats.org/drawingml/2006/main" noGrp="1"/>
          </p:cNvSpPr>
          <p:nvPr/>
        </p:nvSpPr>
        <p:spPr>
          <a:xfrm xmlns:a="http://schemas.openxmlformats.org/drawingml/2006/main">
            <a:off x="6327648"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#13</a:t>
            </a:r>
          </a:p>
        </p:txBody>
      </p:sp>
      <p:sp>
        <p:nvSpPr>
          <p:cNvPr id="43" name="Text 41">
            <a:extLst xmlns:a="http://schemas.openxmlformats.org/drawingml/2006/main">
              <a:ext uri="{FF2B5EF4-FFF2-40B4-BE49-F238E27FC236}">
                <a16:creationId xmlns:a16="http://schemas.microsoft.com/office/drawing/2014/main" id="{7710EEB8-4A5C-4B35-9912-C3E341A601F3}"/>
              </a:ext>
            </a:extLst>
          </p:cNvPr>
          <p:cNvSpPr>
            <a:spLocks xmlns:a="http://schemas.openxmlformats.org/drawingml/2006/main" noGrp="1"/>
          </p:cNvSpPr>
          <p:nvPr/>
        </p:nvSpPr>
        <p:spPr>
          <a:xfrm xmlns:a="http://schemas.openxmlformats.org/drawingml/2006/main">
            <a:off x="5120640"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The Petersons</a:t>
            </a:r>
          </a:p>
        </p:txBody>
      </p:sp>
      <p:sp>
        <p:nvSpPr>
          <p:cNvPr id="44" name="Text 42">
            <a:extLst xmlns:a="http://schemas.openxmlformats.org/drawingml/2006/main">
              <a:ext uri="{FF2B5EF4-FFF2-40B4-BE49-F238E27FC236}">
                <a16:creationId xmlns:a16="http://schemas.microsoft.com/office/drawing/2014/main" id="{59A01D38-966F-4C74-9C74-2A8ED491313D}"/>
              </a:ext>
            </a:extLst>
          </p:cNvPr>
          <p:cNvSpPr>
            <a:spLocks xmlns:a="http://schemas.openxmlformats.org/drawingml/2006/main" noGrp="1"/>
          </p:cNvSpPr>
          <p:nvPr/>
        </p:nvSpPr>
        <p:spPr>
          <a:xfrm xmlns:a="http://schemas.openxmlformats.org/drawingml/2006/main">
            <a:off x="5120640"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31/30  ·  Teacher &amp; Nurse</a:t>
            </a:r>
          </a:p>
        </p:txBody>
      </p:sp>
      <p:sp>
        <p:nvSpPr>
          <p:cNvPr id="45" name="Shape 43">
            <a:extLst xmlns:a="http://schemas.openxmlformats.org/drawingml/2006/main">
              <a:ext uri="{FF2B5EF4-FFF2-40B4-BE49-F238E27FC236}">
                <a16:creationId xmlns:a16="http://schemas.microsoft.com/office/drawing/2014/main" id="{2DF12CF7-07A0-42C8-85EB-FFBE4B7CB1AF}"/>
              </a:ext>
            </a:extLst>
          </p:cNvPr>
          <p:cNvSpPr>
            <a:spLocks xmlns:a="http://schemas.openxmlformats.org/drawingml/2006/main" noGrp="1"/>
          </p:cNvSpPr>
          <p:nvPr/>
        </p:nvSpPr>
        <p:spPr>
          <a:xfrm xmlns:a="http://schemas.openxmlformats.org/drawingml/2006/main">
            <a:off x="4270248" y="2322576"/>
            <a:ext cx="1325880" cy="237744"/>
          </a:xfrm>
          <a:prstGeom xmlns:a="http://schemas.openxmlformats.org/drawingml/2006/main" prst="rect">
            <a:avLst/>
          </a:prstGeom>
          <a:solidFill xmlns:a="http://schemas.openxmlformats.org/drawingml/2006/main">
            <a:srgbClr val="FFF0E8"/>
          </a:solidFill>
          <a:ln xmlns:a="http://schemas.openxmlformats.org/drawingml/2006/main" w="12700">
            <a:solidFill>
              <a:srgbClr val="FFF0E8"/>
            </a:solidFill>
            <a:prstDash val="solid"/>
          </a:ln>
        </p:spPr>
        <p:txBody>
          <a:bodyPr xmlns:a="http://schemas.openxmlformats.org/drawingml/2006/main"/>
          <a:lstStyle xmlns:a="http://schemas.openxmlformats.org/drawingml/2006/main"/>
          <a:p xmlns:a="http://schemas.openxmlformats.org/drawingml/2006/main"/>
        </p:txBody>
      </p:sp>
      <p:sp>
        <p:nvSpPr>
          <p:cNvPr id="46" name="Shape 44">
            <a:extLst xmlns:a="http://schemas.openxmlformats.org/drawingml/2006/main">
              <a:ext uri="{FF2B5EF4-FFF2-40B4-BE49-F238E27FC236}">
                <a16:creationId xmlns:a16="http://schemas.microsoft.com/office/drawing/2014/main" id="{F1973E76-5D9D-4ECD-B98B-138EE8F6FC87}"/>
              </a:ext>
            </a:extLst>
          </p:cNvPr>
          <p:cNvSpPr>
            <a:spLocks xmlns:a="http://schemas.openxmlformats.org/drawingml/2006/main" noGrp="1"/>
          </p:cNvSpPr>
          <p:nvPr/>
        </p:nvSpPr>
        <p:spPr>
          <a:xfrm xmlns:a="http://schemas.openxmlformats.org/drawingml/2006/main">
            <a:off x="4334256" y="2382012"/>
            <a:ext cx="91440" cy="91440"/>
          </a:xfrm>
          <a:prstGeom xmlns:a="http://schemas.openxmlformats.org/drawingml/2006/main" prst="ellipse">
            <a:avLst/>
          </a:prstGeom>
          <a:solidFill xmlns:a="http://schemas.openxmlformats.org/drawingml/2006/main">
            <a:srgbClr val="C05B30"/>
          </a:solidFill>
          <a:ln xmlns:a="http://schemas.openxmlformats.org/drawingml/2006/main" w="12700">
            <a:solidFill>
              <a:srgbClr val="C05B30"/>
            </a:solidFill>
            <a:prstDash val="solid"/>
          </a:ln>
        </p:spPr>
        <p:txBody>
          <a:bodyPr xmlns:a="http://schemas.openxmlformats.org/drawingml/2006/main"/>
          <a:lstStyle xmlns:a="http://schemas.openxmlformats.org/drawingml/2006/main"/>
          <a:p xmlns:a="http://schemas.openxmlformats.org/drawingml/2006/main"/>
        </p:txBody>
      </p:sp>
      <p:sp>
        <p:nvSpPr>
          <p:cNvPr id="47" name="Text 45">
            <a:extLst xmlns:a="http://schemas.openxmlformats.org/drawingml/2006/main">
              <a:ext uri="{FF2B5EF4-FFF2-40B4-BE49-F238E27FC236}">
                <a16:creationId xmlns:a16="http://schemas.microsoft.com/office/drawing/2014/main" id="{0AC9066D-3CB7-45F6-ACE6-22B7E9EECD26}"/>
              </a:ext>
            </a:extLst>
          </p:cNvPr>
          <p:cNvSpPr>
            <a:spLocks xmlns:a="http://schemas.openxmlformats.org/drawingml/2006/main" noGrp="1"/>
          </p:cNvSpPr>
          <p:nvPr/>
        </p:nvSpPr>
        <p:spPr>
          <a:xfrm xmlns:a="http://schemas.openxmlformats.org/drawingml/2006/main">
            <a:off x="4462272"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C05B30"/>
                </a:solidFill>
                <a:latin typeface="Calibri"/>
                <a:ea typeface="Calibri"/>
                <a:cs typeface="Calibri"/>
              </a:rPr>
              <a:t>RISK AVERSE</a:t>
            </a:r>
          </a:p>
        </p:txBody>
      </p:sp>
      <p:sp>
        <p:nvSpPr>
          <p:cNvPr id="48" name="Shape 46">
            <a:extLst xmlns:a="http://schemas.openxmlformats.org/drawingml/2006/main">
              <a:ext uri="{FF2B5EF4-FFF2-40B4-BE49-F238E27FC236}">
                <a16:creationId xmlns:a16="http://schemas.microsoft.com/office/drawing/2014/main" id="{EDF19E9D-A756-458E-90DE-F11F245292C8}"/>
              </a:ext>
            </a:extLst>
          </p:cNvPr>
          <p:cNvSpPr>
            <a:spLocks xmlns:a="http://schemas.openxmlformats.org/drawingml/2006/main" noGrp="1"/>
          </p:cNvSpPr>
          <p:nvPr/>
        </p:nvSpPr>
        <p:spPr>
          <a:xfrm xmlns:a="http://schemas.openxmlformats.org/drawingml/2006/main">
            <a:off x="4270248"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49" name="Text 47">
            <a:extLst xmlns:a="http://schemas.openxmlformats.org/drawingml/2006/main">
              <a:ext uri="{FF2B5EF4-FFF2-40B4-BE49-F238E27FC236}">
                <a16:creationId xmlns:a16="http://schemas.microsoft.com/office/drawing/2014/main" id="{FCCAA529-93BE-45D9-AA74-BB71309AC7BF}"/>
              </a:ext>
            </a:extLst>
          </p:cNvPr>
          <p:cNvSpPr>
            <a:spLocks xmlns:a="http://schemas.openxmlformats.org/drawingml/2006/main" noGrp="1"/>
          </p:cNvSpPr>
          <p:nvPr/>
        </p:nvSpPr>
        <p:spPr>
          <a:xfrm xmlns:a="http://schemas.openxmlformats.org/drawingml/2006/main">
            <a:off x="427024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50" name="Text 48">
            <a:extLst xmlns:a="http://schemas.openxmlformats.org/drawingml/2006/main">
              <a:ext uri="{FF2B5EF4-FFF2-40B4-BE49-F238E27FC236}">
                <a16:creationId xmlns:a16="http://schemas.microsoft.com/office/drawing/2014/main" id="{17D373B4-DD8C-4190-8ED6-5920C3B57C0F}"/>
              </a:ext>
            </a:extLst>
          </p:cNvPr>
          <p:cNvSpPr>
            <a:spLocks xmlns:a="http://schemas.openxmlformats.org/drawingml/2006/main" noGrp="1"/>
          </p:cNvSpPr>
          <p:nvPr/>
        </p:nvSpPr>
        <p:spPr>
          <a:xfrm xmlns:a="http://schemas.openxmlformats.org/drawingml/2006/main">
            <a:off x="427024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$110,000</a:t>
            </a:r>
          </a:p>
        </p:txBody>
      </p:sp>
      <p:sp>
        <p:nvSpPr>
          <p:cNvPr id="51" name="Text 49">
            <a:extLst xmlns:a="http://schemas.openxmlformats.org/drawingml/2006/main">
              <a:ext uri="{FF2B5EF4-FFF2-40B4-BE49-F238E27FC236}">
                <a16:creationId xmlns:a16="http://schemas.microsoft.com/office/drawing/2014/main" id="{5693FA75-71F4-4D81-AA63-F490501897D4}"/>
              </a:ext>
            </a:extLst>
          </p:cNvPr>
          <p:cNvSpPr>
            <a:spLocks xmlns:a="http://schemas.openxmlformats.org/drawingml/2006/main" noGrp="1"/>
          </p:cNvSpPr>
          <p:nvPr/>
        </p:nvSpPr>
        <p:spPr>
          <a:xfrm xmlns:a="http://schemas.openxmlformats.org/drawingml/2006/main">
            <a:off x="600760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52" name="Text 50">
            <a:extLst xmlns:a="http://schemas.openxmlformats.org/drawingml/2006/main">
              <a:ext uri="{FF2B5EF4-FFF2-40B4-BE49-F238E27FC236}">
                <a16:creationId xmlns:a16="http://schemas.microsoft.com/office/drawing/2014/main" id="{2C1C928C-F885-4F3F-98B5-ADE1A8BB644D}"/>
              </a:ext>
            </a:extLst>
          </p:cNvPr>
          <p:cNvSpPr>
            <a:spLocks xmlns:a="http://schemas.openxmlformats.org/drawingml/2006/main" noGrp="1"/>
          </p:cNvSpPr>
          <p:nvPr/>
        </p:nvSpPr>
        <p:spPr>
          <a:xfrm xmlns:a="http://schemas.openxmlformats.org/drawingml/2006/main">
            <a:off x="600760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$20,000</a:t>
            </a:r>
          </a:p>
        </p:txBody>
      </p:sp>
      <p:sp>
        <p:nvSpPr>
          <p:cNvPr id="53" name="Shape 51">
            <a:extLst xmlns:a="http://schemas.openxmlformats.org/drawingml/2006/main">
              <a:ext uri="{FF2B5EF4-FFF2-40B4-BE49-F238E27FC236}">
                <a16:creationId xmlns:a16="http://schemas.microsoft.com/office/drawing/2014/main" id="{1AA92162-502D-45EE-893B-529666E54E1A}"/>
              </a:ext>
            </a:extLst>
          </p:cNvPr>
          <p:cNvSpPr>
            <a:spLocks xmlns:a="http://schemas.openxmlformats.org/drawingml/2006/main" noGrp="1"/>
          </p:cNvSpPr>
          <p:nvPr/>
        </p:nvSpPr>
        <p:spPr>
          <a:xfrm xmlns:a="http://schemas.openxmlformats.org/drawingml/2006/main">
            <a:off x="4270248" y="3456432"/>
            <a:ext cx="3291840" cy="804672"/>
          </a:xfrm>
          <a:prstGeom xmlns:a="http://schemas.openxmlformats.org/drawingml/2006/main" prst="rect">
            <a:avLst/>
          </a:prstGeom>
          <a:solidFill xmlns:a="http://schemas.openxmlformats.org/drawingml/2006/main">
            <a:srgbClr val="F0D0D0"/>
          </a:solidFill>
          <a:ln xmlns:a="http://schemas.openxmlformats.org/drawingml/2006/main" w="12700">
            <a:solidFill>
              <a:srgbClr val="F0D0D0"/>
            </a:solidFill>
            <a:prstDash val="solid"/>
          </a:ln>
        </p:spPr>
        <p:txBody>
          <a:bodyPr xmlns:a="http://schemas.openxmlformats.org/drawingml/2006/main"/>
          <a:lstStyle xmlns:a="http://schemas.openxmlformats.org/drawingml/2006/main"/>
          <a:p xmlns:a="http://schemas.openxmlformats.org/drawingml/2006/main"/>
        </p:txBody>
      </p:sp>
      <p:sp>
        <p:nvSpPr>
          <p:cNvPr id="54" name="Shape 52">
            <a:extLst xmlns:a="http://schemas.openxmlformats.org/drawingml/2006/main">
              <a:ext uri="{FF2B5EF4-FFF2-40B4-BE49-F238E27FC236}">
                <a16:creationId xmlns:a16="http://schemas.microsoft.com/office/drawing/2014/main" id="{C99F5B5A-54BA-4541-9FD0-164E48EA50CE}"/>
              </a:ext>
            </a:extLst>
          </p:cNvPr>
          <p:cNvSpPr>
            <a:spLocks xmlns:a="http://schemas.openxmlformats.org/drawingml/2006/main" noGrp="1"/>
          </p:cNvSpPr>
          <p:nvPr/>
        </p:nvSpPr>
        <p:spPr>
          <a:xfrm xmlns:a="http://schemas.openxmlformats.org/drawingml/2006/main">
            <a:off x="4270248" y="3456432"/>
            <a:ext cx="54864" cy="804672"/>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55" name="Text 53">
            <a:extLst xmlns:a="http://schemas.openxmlformats.org/drawingml/2006/main">
              <a:ext uri="{FF2B5EF4-FFF2-40B4-BE49-F238E27FC236}">
                <a16:creationId xmlns:a16="http://schemas.microsoft.com/office/drawing/2014/main" id="{F57DF732-3458-4606-9F50-850C618ED661}"/>
              </a:ext>
            </a:extLst>
          </p:cNvPr>
          <p:cNvSpPr>
            <a:spLocks xmlns:a="http://schemas.openxmlformats.org/drawingml/2006/main" noGrp="1"/>
          </p:cNvSpPr>
          <p:nvPr/>
        </p:nvSpPr>
        <p:spPr>
          <a:xfrm xmlns:a="http://schemas.openxmlformats.org/drawingml/2006/main">
            <a:off x="4389120"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8B1A1A"/>
                </a:solidFill>
                <a:latin typeface="Calibri"/>
                <a:ea typeface="Calibri"/>
                <a:cs typeface="Calibri"/>
              </a:rPr>
              <a:t>PRIMARY GOAL</a:t>
            </a:r>
          </a:p>
        </p:txBody>
      </p:sp>
      <p:sp>
        <p:nvSpPr>
          <p:cNvPr id="56" name="Text 54">
            <a:extLst xmlns:a="http://schemas.openxmlformats.org/drawingml/2006/main">
              <a:ext uri="{FF2B5EF4-FFF2-40B4-BE49-F238E27FC236}">
                <a16:creationId xmlns:a16="http://schemas.microsoft.com/office/drawing/2014/main" id="{83BE17F5-1223-4256-B402-30CE26D6F2C9}"/>
              </a:ext>
            </a:extLst>
          </p:cNvPr>
          <p:cNvSpPr>
            <a:spLocks xmlns:a="http://schemas.openxmlformats.org/drawingml/2006/main" noGrp="1"/>
          </p:cNvSpPr>
          <p:nvPr/>
        </p:nvSpPr>
        <p:spPr>
          <a:xfrm xmlns:a="http://schemas.openxmlformats.org/drawingml/2006/main">
            <a:off x="4389120"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Debt Paydown / Child Education</a:t>
            </a:r>
          </a:p>
        </p:txBody>
      </p:sp>
      <p:sp>
        <p:nvSpPr>
          <p:cNvPr id="57" name="Shape 55">
            <a:extLst xmlns:a="http://schemas.openxmlformats.org/drawingml/2006/main">
              <a:ext uri="{FF2B5EF4-FFF2-40B4-BE49-F238E27FC236}">
                <a16:creationId xmlns:a16="http://schemas.microsoft.com/office/drawing/2014/main" id="{12B75C82-30E9-4297-8AD6-BC8BDAE86296}"/>
              </a:ext>
            </a:extLst>
          </p:cNvPr>
          <p:cNvSpPr>
            <a:spLocks xmlns:a="http://schemas.openxmlformats.org/drawingml/2006/main" noGrp="1"/>
          </p:cNvSpPr>
          <p:nvPr/>
        </p:nvSpPr>
        <p:spPr>
          <a:xfrm xmlns:a="http://schemas.openxmlformats.org/drawingml/2006/main">
            <a:off x="4270248"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58" name="Text 56">
            <a:extLst xmlns:a="http://schemas.openxmlformats.org/drawingml/2006/main">
              <a:ext uri="{FF2B5EF4-FFF2-40B4-BE49-F238E27FC236}">
                <a16:creationId xmlns:a16="http://schemas.microsoft.com/office/drawing/2014/main" id="{789A0CCC-D585-4E92-8894-FAC99FE7E7E4}"/>
              </a:ext>
            </a:extLst>
          </p:cNvPr>
          <p:cNvSpPr>
            <a:spLocks xmlns:a="http://schemas.openxmlformats.org/drawingml/2006/main" noGrp="1"/>
          </p:cNvSpPr>
          <p:nvPr/>
        </p:nvSpPr>
        <p:spPr>
          <a:xfrm xmlns:a="http://schemas.openxmlformats.org/drawingml/2006/main">
            <a:off x="4389120"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59" name="Text 57">
            <a:extLst xmlns:a="http://schemas.openxmlformats.org/drawingml/2006/main">
              <a:ext uri="{FF2B5EF4-FFF2-40B4-BE49-F238E27FC236}">
                <a16:creationId xmlns:a16="http://schemas.microsoft.com/office/drawing/2014/main" id="{0F030B8E-5B89-44D1-AF0C-895890926FE7}"/>
              </a:ext>
            </a:extLst>
          </p:cNvPr>
          <p:cNvSpPr>
            <a:spLocks xmlns:a="http://schemas.openxmlformats.org/drawingml/2006/main" noGrp="1"/>
          </p:cNvSpPr>
          <p:nvPr/>
        </p:nvSpPr>
        <p:spPr>
          <a:xfrm xmlns:a="http://schemas.openxmlformats.org/drawingml/2006/main">
            <a:off x="4389120"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$180k Student Debt; Low cash flow</a:t>
            </a:r>
          </a:p>
        </p:txBody>
      </p:sp>
      <p:sp>
        <p:nvSpPr>
          <p:cNvPr id="60" name="Shape 58">
            <a:extLst xmlns:a="http://schemas.openxmlformats.org/drawingml/2006/main">
              <a:ext uri="{FF2B5EF4-FFF2-40B4-BE49-F238E27FC236}">
                <a16:creationId xmlns:a16="http://schemas.microsoft.com/office/drawing/2014/main" id="{C8F3E105-FB37-4CFA-A6EC-59FEF146586D}"/>
              </a:ext>
            </a:extLst>
          </p:cNvPr>
          <p:cNvSpPr>
            <a:spLocks xmlns:a="http://schemas.openxmlformats.org/drawingml/2006/main" noGrp="1"/>
          </p:cNvSpPr>
          <p:nvPr/>
        </p:nvSpPr>
        <p:spPr>
          <a:xfrm xmlns:a="http://schemas.openxmlformats.org/drawingml/2006/main">
            <a:off x="4270248" y="5230368"/>
            <a:ext cx="1097280" cy="877824"/>
          </a:xfrm>
          <a:prstGeom xmlns:a="http://schemas.openxmlformats.org/drawingml/2006/main" prst="rect">
            <a:avLst/>
          </a:prstGeom>
          <a:solidFill xmlns:a="http://schemas.openxmlformats.org/drawingml/2006/main">
            <a:srgbClr val="8B1A1A"/>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1" name="Text 59">
            <a:extLst xmlns:a="http://schemas.openxmlformats.org/drawingml/2006/main">
              <a:ext uri="{FF2B5EF4-FFF2-40B4-BE49-F238E27FC236}">
                <a16:creationId xmlns:a16="http://schemas.microsoft.com/office/drawing/2014/main" id="{770125D4-B108-437D-812F-317460BA89B4}"/>
              </a:ext>
            </a:extLst>
          </p:cNvPr>
          <p:cNvSpPr>
            <a:spLocks xmlns:a="http://schemas.openxmlformats.org/drawingml/2006/main" noGrp="1"/>
          </p:cNvSpPr>
          <p:nvPr/>
        </p:nvSpPr>
        <p:spPr>
          <a:xfrm xmlns:a="http://schemas.openxmlformats.org/drawingml/2006/main">
            <a:off x="428853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62" name="Text 60">
            <a:extLst xmlns:a="http://schemas.openxmlformats.org/drawingml/2006/main">
              <a:ext uri="{FF2B5EF4-FFF2-40B4-BE49-F238E27FC236}">
                <a16:creationId xmlns:a16="http://schemas.microsoft.com/office/drawing/2014/main" id="{026186E8-2951-4E01-B25A-4487429D3BFA}"/>
              </a:ext>
            </a:extLst>
          </p:cNvPr>
          <p:cNvSpPr>
            <a:spLocks xmlns:a="http://schemas.openxmlformats.org/drawingml/2006/main" noGrp="1"/>
          </p:cNvSpPr>
          <p:nvPr/>
        </p:nvSpPr>
        <p:spPr>
          <a:xfrm xmlns:a="http://schemas.openxmlformats.org/drawingml/2006/main">
            <a:off x="431596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6.0%</a:t>
            </a:r>
          </a:p>
        </p:txBody>
      </p:sp>
      <p:sp>
        <p:nvSpPr>
          <p:cNvPr id="63" name="Shape 61">
            <a:extLst xmlns:a="http://schemas.openxmlformats.org/drawingml/2006/main">
              <a:ext uri="{FF2B5EF4-FFF2-40B4-BE49-F238E27FC236}">
                <a16:creationId xmlns:a16="http://schemas.microsoft.com/office/drawing/2014/main" id="{8816860E-4694-4A64-8AAC-D50BB9447F5E}"/>
              </a:ext>
            </a:extLst>
          </p:cNvPr>
          <p:cNvSpPr>
            <a:spLocks xmlns:a="http://schemas.openxmlformats.org/drawingml/2006/main" noGrp="1"/>
          </p:cNvSpPr>
          <p:nvPr/>
        </p:nvSpPr>
        <p:spPr>
          <a:xfrm xmlns:a="http://schemas.openxmlformats.org/drawingml/2006/main">
            <a:off x="5367528"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4" name="Text 62">
            <a:extLst xmlns:a="http://schemas.openxmlformats.org/drawingml/2006/main">
              <a:ext uri="{FF2B5EF4-FFF2-40B4-BE49-F238E27FC236}">
                <a16:creationId xmlns:a16="http://schemas.microsoft.com/office/drawing/2014/main" id="{E6464BB4-71B4-42DD-A959-DB445647A286}"/>
              </a:ext>
            </a:extLst>
          </p:cNvPr>
          <p:cNvSpPr>
            <a:spLocks xmlns:a="http://schemas.openxmlformats.org/drawingml/2006/main" noGrp="1"/>
          </p:cNvSpPr>
          <p:nvPr/>
        </p:nvSpPr>
        <p:spPr>
          <a:xfrm xmlns:a="http://schemas.openxmlformats.org/drawingml/2006/main">
            <a:off x="538581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65" name="Text 63">
            <a:extLst xmlns:a="http://schemas.openxmlformats.org/drawingml/2006/main">
              <a:ext uri="{FF2B5EF4-FFF2-40B4-BE49-F238E27FC236}">
                <a16:creationId xmlns:a16="http://schemas.microsoft.com/office/drawing/2014/main" id="{3A5A746E-DC4F-47C1-B80B-96C100FCDEF3}"/>
              </a:ext>
            </a:extLst>
          </p:cNvPr>
          <p:cNvSpPr>
            <a:spLocks xmlns:a="http://schemas.openxmlformats.org/drawingml/2006/main" noGrp="1"/>
          </p:cNvSpPr>
          <p:nvPr/>
        </p:nvSpPr>
        <p:spPr>
          <a:xfrm xmlns:a="http://schemas.openxmlformats.org/drawingml/2006/main">
            <a:off x="541324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10.0%</a:t>
            </a:r>
          </a:p>
        </p:txBody>
      </p:sp>
      <p:sp>
        <p:nvSpPr>
          <p:cNvPr id="66" name="Shape 64">
            <a:extLst xmlns:a="http://schemas.openxmlformats.org/drawingml/2006/main">
              <a:ext uri="{FF2B5EF4-FFF2-40B4-BE49-F238E27FC236}">
                <a16:creationId xmlns:a16="http://schemas.microsoft.com/office/drawing/2014/main" id="{0CA679BB-BF22-4F42-A8EA-F2D7C20E8A0F}"/>
              </a:ext>
            </a:extLst>
          </p:cNvPr>
          <p:cNvSpPr>
            <a:spLocks xmlns:a="http://schemas.openxmlformats.org/drawingml/2006/main" noGrp="1"/>
          </p:cNvSpPr>
          <p:nvPr/>
        </p:nvSpPr>
        <p:spPr>
          <a:xfrm xmlns:a="http://schemas.openxmlformats.org/drawingml/2006/main">
            <a:off x="6464808"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7" name="Text 65">
            <a:extLst xmlns:a="http://schemas.openxmlformats.org/drawingml/2006/main">
              <a:ext uri="{FF2B5EF4-FFF2-40B4-BE49-F238E27FC236}">
                <a16:creationId xmlns:a16="http://schemas.microsoft.com/office/drawing/2014/main" id="{57D4CD42-5FB8-4EE1-807E-54B31D4FC330}"/>
              </a:ext>
            </a:extLst>
          </p:cNvPr>
          <p:cNvSpPr>
            <a:spLocks xmlns:a="http://schemas.openxmlformats.org/drawingml/2006/main" noGrp="1"/>
          </p:cNvSpPr>
          <p:nvPr/>
        </p:nvSpPr>
        <p:spPr>
          <a:xfrm xmlns:a="http://schemas.openxmlformats.org/drawingml/2006/main">
            <a:off x="648309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68" name="Text 66">
            <a:extLst xmlns:a="http://schemas.openxmlformats.org/drawingml/2006/main">
              <a:ext uri="{FF2B5EF4-FFF2-40B4-BE49-F238E27FC236}">
                <a16:creationId xmlns:a16="http://schemas.microsoft.com/office/drawing/2014/main" id="{0551414F-7723-41EF-87EC-1E9C632B1042}"/>
              </a:ext>
            </a:extLst>
          </p:cNvPr>
          <p:cNvSpPr>
            <a:spLocks xmlns:a="http://schemas.openxmlformats.org/drawingml/2006/main" noGrp="1"/>
          </p:cNvSpPr>
          <p:nvPr/>
        </p:nvSpPr>
        <p:spPr>
          <a:xfrm xmlns:a="http://schemas.openxmlformats.org/drawingml/2006/main">
            <a:off x="651052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7.0</a:t>
            </a:r>
          </a:p>
        </p:txBody>
      </p:sp>
      <p:sp>
        <p:nvSpPr>
          <p:cNvPr id="69" name="Shape 67">
            <a:extLst xmlns:a="http://schemas.openxmlformats.org/drawingml/2006/main">
              <a:ext uri="{FF2B5EF4-FFF2-40B4-BE49-F238E27FC236}">
                <a16:creationId xmlns:a16="http://schemas.microsoft.com/office/drawing/2014/main" id="{6CD6A837-4168-4598-BA21-799E20EEE33C}"/>
              </a:ext>
            </a:extLst>
          </p:cNvPr>
          <p:cNvSpPr>
            <a:spLocks xmlns:a="http://schemas.openxmlformats.org/drawingml/2006/main" noGrp="1"/>
          </p:cNvSpPr>
          <p:nvPr/>
        </p:nvSpPr>
        <p:spPr>
          <a:xfrm xmlns:a="http://schemas.openxmlformats.org/drawingml/2006/main">
            <a:off x="7946136"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70" name="Shape 68">
            <a:extLst xmlns:a="http://schemas.openxmlformats.org/drawingml/2006/main">
              <a:ext uri="{FF2B5EF4-FFF2-40B4-BE49-F238E27FC236}">
                <a16:creationId xmlns:a16="http://schemas.microsoft.com/office/drawing/2014/main" id="{40DA7865-55BE-4D64-A3D3-1367E79E84B3}"/>
              </a:ext>
            </a:extLst>
          </p:cNvPr>
          <p:cNvSpPr>
            <a:spLocks xmlns:a="http://schemas.openxmlformats.org/drawingml/2006/main" noGrp="1"/>
          </p:cNvSpPr>
          <p:nvPr/>
        </p:nvSpPr>
        <p:spPr>
          <a:xfrm xmlns:a="http://schemas.openxmlformats.org/drawingml/2006/main">
            <a:off x="7946136" y="1188720"/>
            <a:ext cx="3749040" cy="109728"/>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71" name="Shape 69">
            <a:extLst xmlns:a="http://schemas.openxmlformats.org/drawingml/2006/main">
              <a:ext uri="{FF2B5EF4-FFF2-40B4-BE49-F238E27FC236}">
                <a16:creationId xmlns:a16="http://schemas.microsoft.com/office/drawing/2014/main" id="{2D8AE7E7-B12F-4AD2-846F-D2E48C7C21A6}"/>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ellipse">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72" name="Text 70">
            <a:extLst xmlns:a="http://schemas.openxmlformats.org/drawingml/2006/main">
              <a:ext uri="{FF2B5EF4-FFF2-40B4-BE49-F238E27FC236}">
                <a16:creationId xmlns:a16="http://schemas.microsoft.com/office/drawing/2014/main" id="{88ED9BBD-C644-426E-98EE-3B98C8E1822D}"/>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TR</a:t>
            </a:r>
          </a:p>
        </p:txBody>
      </p:sp>
      <p:sp>
        <p:nvSpPr>
          <p:cNvPr id="73" name="Text 71">
            <a:extLst xmlns:a="http://schemas.openxmlformats.org/drawingml/2006/main">
              <a:ext uri="{FF2B5EF4-FFF2-40B4-BE49-F238E27FC236}">
                <a16:creationId xmlns:a16="http://schemas.microsoft.com/office/drawing/2014/main" id="{5B777AD6-5482-4778-B887-17B38D776CD6}"/>
              </a:ext>
            </a:extLst>
          </p:cNvPr>
          <p:cNvSpPr>
            <a:spLocks xmlns:a="http://schemas.openxmlformats.org/drawingml/2006/main" noGrp="1"/>
          </p:cNvSpPr>
          <p:nvPr/>
        </p:nvSpPr>
        <p:spPr>
          <a:xfrm xmlns:a="http://schemas.openxmlformats.org/drawingml/2006/main">
            <a:off x="10232136"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#15</a:t>
            </a:r>
          </a:p>
        </p:txBody>
      </p:sp>
      <p:sp>
        <p:nvSpPr>
          <p:cNvPr id="74" name="Text 72">
            <a:extLst xmlns:a="http://schemas.openxmlformats.org/drawingml/2006/main">
              <a:ext uri="{FF2B5EF4-FFF2-40B4-BE49-F238E27FC236}">
                <a16:creationId xmlns:a16="http://schemas.microsoft.com/office/drawing/2014/main" id="{1917A345-642D-4D1A-A66E-E7EB80FAA0EF}"/>
              </a:ext>
            </a:extLst>
          </p:cNvPr>
          <p:cNvSpPr>
            <a:spLocks xmlns:a="http://schemas.openxmlformats.org/drawingml/2006/main" noGrp="1"/>
          </p:cNvSpPr>
          <p:nvPr/>
        </p:nvSpPr>
        <p:spPr>
          <a:xfrm xmlns:a="http://schemas.openxmlformats.org/drawingml/2006/main">
            <a:off x="9025128"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Tyler Reed</a:t>
            </a:r>
          </a:p>
        </p:txBody>
      </p:sp>
      <p:sp>
        <p:nvSpPr>
          <p:cNvPr id="75" name="Text 73">
            <a:extLst xmlns:a="http://schemas.openxmlformats.org/drawingml/2006/main">
              <a:ext uri="{FF2B5EF4-FFF2-40B4-BE49-F238E27FC236}">
                <a16:creationId xmlns:a16="http://schemas.microsoft.com/office/drawing/2014/main" id="{0AF284E5-D67D-4271-806F-CC9D6D899E28}"/>
              </a:ext>
            </a:extLst>
          </p:cNvPr>
          <p:cNvSpPr>
            <a:spLocks xmlns:a="http://schemas.openxmlformats.org/drawingml/2006/main" noGrp="1"/>
          </p:cNvSpPr>
          <p:nvPr/>
        </p:nvSpPr>
        <p:spPr>
          <a:xfrm xmlns:a="http://schemas.openxmlformats.org/drawingml/2006/main">
            <a:off x="9025128"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27  ·  Gig Economy</a:t>
            </a:r>
          </a:p>
        </p:txBody>
      </p:sp>
      <p:sp>
        <p:nvSpPr>
          <p:cNvPr id="76" name="Shape 74">
            <a:extLst xmlns:a="http://schemas.openxmlformats.org/drawingml/2006/main">
              <a:ext uri="{FF2B5EF4-FFF2-40B4-BE49-F238E27FC236}">
                <a16:creationId xmlns:a16="http://schemas.microsoft.com/office/drawing/2014/main" id="{2ECBE23C-12D1-40DF-9811-DA847BF80318}"/>
              </a:ext>
            </a:extLst>
          </p:cNvPr>
          <p:cNvSpPr>
            <a:spLocks xmlns:a="http://schemas.openxmlformats.org/drawingml/2006/main" noGrp="1"/>
          </p:cNvSpPr>
          <p:nvPr/>
        </p:nvSpPr>
        <p:spPr>
          <a:xfrm xmlns:a="http://schemas.openxmlformats.org/drawingml/2006/main">
            <a:off x="8174736" y="2322576"/>
            <a:ext cx="1325880" cy="237744"/>
          </a:xfrm>
          <a:prstGeom xmlns:a="http://schemas.openxmlformats.org/drawingml/2006/main" prst="rect">
            <a:avLst/>
          </a:prstGeom>
          <a:solidFill xmlns:a="http://schemas.openxmlformats.org/drawingml/2006/main">
            <a:srgbClr val="E8F5EE"/>
          </a:solidFill>
          <a:ln xmlns:a="http://schemas.openxmlformats.org/drawingml/2006/main" w="12700">
            <a:solidFill>
              <a:srgbClr val="E8F5EE"/>
            </a:solidFill>
            <a:prstDash val="solid"/>
          </a:ln>
        </p:spPr>
        <p:txBody>
          <a:bodyPr xmlns:a="http://schemas.openxmlformats.org/drawingml/2006/main"/>
          <a:lstStyle xmlns:a="http://schemas.openxmlformats.org/drawingml/2006/main"/>
          <a:p xmlns:a="http://schemas.openxmlformats.org/drawingml/2006/main"/>
        </p:txBody>
      </p:sp>
      <p:sp>
        <p:nvSpPr>
          <p:cNvPr id="77" name="Shape 75">
            <a:extLst xmlns:a="http://schemas.openxmlformats.org/drawingml/2006/main">
              <a:ext uri="{FF2B5EF4-FFF2-40B4-BE49-F238E27FC236}">
                <a16:creationId xmlns:a16="http://schemas.microsoft.com/office/drawing/2014/main" id="{EE28ECEB-F56E-463D-B381-677AC1FEB57D}"/>
              </a:ext>
            </a:extLst>
          </p:cNvPr>
          <p:cNvSpPr>
            <a:spLocks xmlns:a="http://schemas.openxmlformats.org/drawingml/2006/main" noGrp="1"/>
          </p:cNvSpPr>
          <p:nvPr/>
        </p:nvSpPr>
        <p:spPr>
          <a:xfrm xmlns:a="http://schemas.openxmlformats.org/drawingml/2006/main">
            <a:off x="8238744" y="2382012"/>
            <a:ext cx="91440" cy="91440"/>
          </a:xfrm>
          <a:prstGeom xmlns:a="http://schemas.openxmlformats.org/drawingml/2006/main" prst="ellipse">
            <a:avLst/>
          </a:prstGeom>
          <a:solidFill xmlns:a="http://schemas.openxmlformats.org/drawingml/2006/main">
            <a:srgbClr val="2D8A5E"/>
          </a:solidFill>
          <a:ln xmlns:a="http://schemas.openxmlformats.org/drawingml/2006/main" w="12700">
            <a:solidFill>
              <a:srgbClr val="2D8A5E"/>
            </a:solidFill>
            <a:prstDash val="solid"/>
          </a:ln>
        </p:spPr>
        <p:txBody>
          <a:bodyPr xmlns:a="http://schemas.openxmlformats.org/drawingml/2006/main"/>
          <a:lstStyle xmlns:a="http://schemas.openxmlformats.org/drawingml/2006/main"/>
          <a:p xmlns:a="http://schemas.openxmlformats.org/drawingml/2006/main"/>
        </p:txBody>
      </p:sp>
      <p:sp>
        <p:nvSpPr>
          <p:cNvPr id="78" name="Text 76">
            <a:extLst xmlns:a="http://schemas.openxmlformats.org/drawingml/2006/main">
              <a:ext uri="{FF2B5EF4-FFF2-40B4-BE49-F238E27FC236}">
                <a16:creationId xmlns:a16="http://schemas.microsoft.com/office/drawing/2014/main" id="{8759DA92-30D6-4C7C-BB62-D760AD33B431}"/>
              </a:ext>
            </a:extLst>
          </p:cNvPr>
          <p:cNvSpPr>
            <a:spLocks xmlns:a="http://schemas.openxmlformats.org/drawingml/2006/main" noGrp="1"/>
          </p:cNvSpPr>
          <p:nvPr/>
        </p:nvSpPr>
        <p:spPr>
          <a:xfrm xmlns:a="http://schemas.openxmlformats.org/drawingml/2006/main">
            <a:off x="8366760"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2D8A5E"/>
                </a:solidFill>
                <a:latin typeface="Calibri"/>
                <a:ea typeface="Calibri"/>
                <a:cs typeface="Calibri"/>
              </a:rPr>
              <a:t>RISK SEEKING</a:t>
            </a:r>
          </a:p>
        </p:txBody>
      </p:sp>
      <p:sp>
        <p:nvSpPr>
          <p:cNvPr id="79" name="Shape 77">
            <a:extLst xmlns:a="http://schemas.openxmlformats.org/drawingml/2006/main">
              <a:ext uri="{FF2B5EF4-FFF2-40B4-BE49-F238E27FC236}">
                <a16:creationId xmlns:a16="http://schemas.microsoft.com/office/drawing/2014/main" id="{B93A88A8-FA2F-4135-84FE-070BE7CC9471}"/>
              </a:ext>
            </a:extLst>
          </p:cNvPr>
          <p:cNvSpPr>
            <a:spLocks xmlns:a="http://schemas.openxmlformats.org/drawingml/2006/main" noGrp="1"/>
          </p:cNvSpPr>
          <p:nvPr/>
        </p:nvSpPr>
        <p:spPr>
          <a:xfrm xmlns:a="http://schemas.openxmlformats.org/drawingml/2006/main">
            <a:off x="8174736"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80" name="Text 78">
            <a:extLst xmlns:a="http://schemas.openxmlformats.org/drawingml/2006/main">
              <a:ext uri="{FF2B5EF4-FFF2-40B4-BE49-F238E27FC236}">
                <a16:creationId xmlns:a16="http://schemas.microsoft.com/office/drawing/2014/main" id="{97C4A658-F687-499C-A506-F5FA8DAE4750}"/>
              </a:ext>
            </a:extLst>
          </p:cNvPr>
          <p:cNvSpPr>
            <a:spLocks xmlns:a="http://schemas.openxmlformats.org/drawingml/2006/main" noGrp="1"/>
          </p:cNvSpPr>
          <p:nvPr/>
        </p:nvSpPr>
        <p:spPr>
          <a:xfrm xmlns:a="http://schemas.openxmlformats.org/drawingml/2006/main">
            <a:off x="817473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81" name="Text 79">
            <a:extLst xmlns:a="http://schemas.openxmlformats.org/drawingml/2006/main">
              <a:ext uri="{FF2B5EF4-FFF2-40B4-BE49-F238E27FC236}">
                <a16:creationId xmlns:a16="http://schemas.microsoft.com/office/drawing/2014/main" id="{9F05672F-7C80-474D-801E-7753E80C387D}"/>
              </a:ext>
            </a:extLst>
          </p:cNvPr>
          <p:cNvSpPr>
            <a:spLocks xmlns:a="http://schemas.openxmlformats.org/drawingml/2006/main" noGrp="1"/>
          </p:cNvSpPr>
          <p:nvPr/>
        </p:nvSpPr>
        <p:spPr>
          <a:xfrm xmlns:a="http://schemas.openxmlformats.org/drawingml/2006/main">
            <a:off x="817473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$55,000</a:t>
            </a:r>
          </a:p>
        </p:txBody>
      </p:sp>
      <p:sp>
        <p:nvSpPr>
          <p:cNvPr id="82" name="Text 80">
            <a:extLst xmlns:a="http://schemas.openxmlformats.org/drawingml/2006/main">
              <a:ext uri="{FF2B5EF4-FFF2-40B4-BE49-F238E27FC236}">
                <a16:creationId xmlns:a16="http://schemas.microsoft.com/office/drawing/2014/main" id="{3F14F857-DCA7-43F8-A2F8-897354BB9FC0}"/>
              </a:ext>
            </a:extLst>
          </p:cNvPr>
          <p:cNvSpPr>
            <a:spLocks xmlns:a="http://schemas.openxmlformats.org/drawingml/2006/main" noGrp="1"/>
          </p:cNvSpPr>
          <p:nvPr/>
        </p:nvSpPr>
        <p:spPr>
          <a:xfrm xmlns:a="http://schemas.openxmlformats.org/drawingml/2006/main">
            <a:off x="991209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83" name="Text 81">
            <a:extLst xmlns:a="http://schemas.openxmlformats.org/drawingml/2006/main">
              <a:ext uri="{FF2B5EF4-FFF2-40B4-BE49-F238E27FC236}">
                <a16:creationId xmlns:a16="http://schemas.microsoft.com/office/drawing/2014/main" id="{3DDEFBCB-D953-4D24-9949-3F6FAB941274}"/>
              </a:ext>
            </a:extLst>
          </p:cNvPr>
          <p:cNvSpPr>
            <a:spLocks xmlns:a="http://schemas.openxmlformats.org/drawingml/2006/main" noGrp="1"/>
          </p:cNvSpPr>
          <p:nvPr/>
        </p:nvSpPr>
        <p:spPr>
          <a:xfrm xmlns:a="http://schemas.openxmlformats.org/drawingml/2006/main">
            <a:off x="991209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$5,000</a:t>
            </a:r>
          </a:p>
        </p:txBody>
      </p:sp>
      <p:sp>
        <p:nvSpPr>
          <p:cNvPr id="84" name="Shape 82">
            <a:extLst xmlns:a="http://schemas.openxmlformats.org/drawingml/2006/main">
              <a:ext uri="{FF2B5EF4-FFF2-40B4-BE49-F238E27FC236}">
                <a16:creationId xmlns:a16="http://schemas.microsoft.com/office/drawing/2014/main" id="{FD4045EA-30ED-457A-9984-F3D77FB7F3B3}"/>
              </a:ext>
            </a:extLst>
          </p:cNvPr>
          <p:cNvSpPr>
            <a:spLocks xmlns:a="http://schemas.openxmlformats.org/drawingml/2006/main" noGrp="1"/>
          </p:cNvSpPr>
          <p:nvPr/>
        </p:nvSpPr>
        <p:spPr>
          <a:xfrm xmlns:a="http://schemas.openxmlformats.org/drawingml/2006/main">
            <a:off x="8174736" y="3456432"/>
            <a:ext cx="3291840" cy="804672"/>
          </a:xfrm>
          <a:prstGeom xmlns:a="http://schemas.openxmlformats.org/drawingml/2006/main" prst="rect">
            <a:avLst/>
          </a:prstGeom>
          <a:solidFill xmlns:a="http://schemas.openxmlformats.org/drawingml/2006/main">
            <a:srgbClr val="F0D0D0"/>
          </a:solidFill>
          <a:ln xmlns:a="http://schemas.openxmlformats.org/drawingml/2006/main" w="12700">
            <a:solidFill>
              <a:srgbClr val="F0D0D0"/>
            </a:solidFill>
            <a:prstDash val="solid"/>
          </a:ln>
        </p:spPr>
        <p:txBody>
          <a:bodyPr xmlns:a="http://schemas.openxmlformats.org/drawingml/2006/main"/>
          <a:lstStyle xmlns:a="http://schemas.openxmlformats.org/drawingml/2006/main"/>
          <a:p xmlns:a="http://schemas.openxmlformats.org/drawingml/2006/main"/>
        </p:txBody>
      </p:sp>
      <p:sp>
        <p:nvSpPr>
          <p:cNvPr id="85" name="Shape 83">
            <a:extLst xmlns:a="http://schemas.openxmlformats.org/drawingml/2006/main">
              <a:ext uri="{FF2B5EF4-FFF2-40B4-BE49-F238E27FC236}">
                <a16:creationId xmlns:a16="http://schemas.microsoft.com/office/drawing/2014/main" id="{8125C087-E929-4722-A75F-6D1A94C32FBC}"/>
              </a:ext>
            </a:extLst>
          </p:cNvPr>
          <p:cNvSpPr>
            <a:spLocks xmlns:a="http://schemas.openxmlformats.org/drawingml/2006/main" noGrp="1"/>
          </p:cNvSpPr>
          <p:nvPr/>
        </p:nvSpPr>
        <p:spPr>
          <a:xfrm xmlns:a="http://schemas.openxmlformats.org/drawingml/2006/main">
            <a:off x="8174736" y="3456432"/>
            <a:ext cx="54864" cy="804672"/>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86" name="Text 84">
            <a:extLst xmlns:a="http://schemas.openxmlformats.org/drawingml/2006/main">
              <a:ext uri="{FF2B5EF4-FFF2-40B4-BE49-F238E27FC236}">
                <a16:creationId xmlns:a16="http://schemas.microsoft.com/office/drawing/2014/main" id="{37653717-4120-406E-8096-F3DCEE8015C5}"/>
              </a:ext>
            </a:extLst>
          </p:cNvPr>
          <p:cNvSpPr>
            <a:spLocks xmlns:a="http://schemas.openxmlformats.org/drawingml/2006/main" noGrp="1"/>
          </p:cNvSpPr>
          <p:nvPr/>
        </p:nvSpPr>
        <p:spPr>
          <a:xfrm xmlns:a="http://schemas.openxmlformats.org/drawingml/2006/main">
            <a:off x="8293608"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8B1A1A"/>
                </a:solidFill>
                <a:latin typeface="Calibri"/>
                <a:ea typeface="Calibri"/>
                <a:cs typeface="Calibri"/>
              </a:rPr>
              <a:t>PRIMARY GOAL</a:t>
            </a:r>
          </a:p>
        </p:txBody>
      </p:sp>
      <p:sp>
        <p:nvSpPr>
          <p:cNvPr id="87" name="Text 85">
            <a:extLst xmlns:a="http://schemas.openxmlformats.org/drawingml/2006/main">
              <a:ext uri="{FF2B5EF4-FFF2-40B4-BE49-F238E27FC236}">
                <a16:creationId xmlns:a16="http://schemas.microsoft.com/office/drawing/2014/main" id="{7E6C7934-70DF-4FB8-86E5-34D7B0438507}"/>
              </a:ext>
            </a:extLst>
          </p:cNvPr>
          <p:cNvSpPr>
            <a:spLocks xmlns:a="http://schemas.openxmlformats.org/drawingml/2006/main" noGrp="1"/>
          </p:cNvSpPr>
          <p:nvPr/>
        </p:nvSpPr>
        <p:spPr>
          <a:xfrm xmlns:a="http://schemas.openxmlformats.org/drawingml/2006/main">
            <a:off x="8293608"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Capital Accumulation</a:t>
            </a:r>
          </a:p>
        </p:txBody>
      </p:sp>
      <p:sp>
        <p:nvSpPr>
          <p:cNvPr id="88" name="Shape 86">
            <a:extLst xmlns:a="http://schemas.openxmlformats.org/drawingml/2006/main">
              <a:ext uri="{FF2B5EF4-FFF2-40B4-BE49-F238E27FC236}">
                <a16:creationId xmlns:a16="http://schemas.microsoft.com/office/drawing/2014/main" id="{EC4FFFEC-C0F0-40D0-B79C-534DB5A20146}"/>
              </a:ext>
            </a:extLst>
          </p:cNvPr>
          <p:cNvSpPr>
            <a:spLocks xmlns:a="http://schemas.openxmlformats.org/drawingml/2006/main" noGrp="1"/>
          </p:cNvSpPr>
          <p:nvPr/>
        </p:nvSpPr>
        <p:spPr>
          <a:xfrm xmlns:a="http://schemas.openxmlformats.org/drawingml/2006/main">
            <a:off x="8174736"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89" name="Text 87">
            <a:extLst xmlns:a="http://schemas.openxmlformats.org/drawingml/2006/main">
              <a:ext uri="{FF2B5EF4-FFF2-40B4-BE49-F238E27FC236}">
                <a16:creationId xmlns:a16="http://schemas.microsoft.com/office/drawing/2014/main" id="{3997D47A-7FAF-462D-9634-C64E5E6D5EB7}"/>
              </a:ext>
            </a:extLst>
          </p:cNvPr>
          <p:cNvSpPr>
            <a:spLocks xmlns:a="http://schemas.openxmlformats.org/drawingml/2006/main" noGrp="1"/>
          </p:cNvSpPr>
          <p:nvPr/>
        </p:nvSpPr>
        <p:spPr>
          <a:xfrm xmlns:a="http://schemas.openxmlformats.org/drawingml/2006/main">
            <a:off x="8293608"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90" name="Text 88">
            <a:extLst xmlns:a="http://schemas.openxmlformats.org/drawingml/2006/main">
              <a:ext uri="{FF2B5EF4-FFF2-40B4-BE49-F238E27FC236}">
                <a16:creationId xmlns:a16="http://schemas.microsoft.com/office/drawing/2014/main" id="{FF7180ED-8731-40B7-AFDE-B777852E5978}"/>
              </a:ext>
            </a:extLst>
          </p:cNvPr>
          <p:cNvSpPr>
            <a:spLocks xmlns:a="http://schemas.openxmlformats.org/drawingml/2006/main" noGrp="1"/>
          </p:cNvSpPr>
          <p:nvPr/>
        </p:nvSpPr>
        <p:spPr>
          <a:xfrm xmlns:a="http://schemas.openxmlformats.org/drawingml/2006/main">
            <a:off x="8293608"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Minimal starting capital; Very long horizon</a:t>
            </a:r>
          </a:p>
        </p:txBody>
      </p:sp>
      <p:sp>
        <p:nvSpPr>
          <p:cNvPr id="91" name="Shape 89">
            <a:extLst xmlns:a="http://schemas.openxmlformats.org/drawingml/2006/main">
              <a:ext uri="{FF2B5EF4-FFF2-40B4-BE49-F238E27FC236}">
                <a16:creationId xmlns:a16="http://schemas.microsoft.com/office/drawing/2014/main" id="{882750A5-95B9-4AAD-8112-EF01064DAB9E}"/>
              </a:ext>
            </a:extLst>
          </p:cNvPr>
          <p:cNvSpPr>
            <a:spLocks xmlns:a="http://schemas.openxmlformats.org/drawingml/2006/main" noGrp="1"/>
          </p:cNvSpPr>
          <p:nvPr/>
        </p:nvSpPr>
        <p:spPr>
          <a:xfrm xmlns:a="http://schemas.openxmlformats.org/drawingml/2006/main">
            <a:off x="8174736" y="5230368"/>
            <a:ext cx="1097280" cy="877824"/>
          </a:xfrm>
          <a:prstGeom xmlns:a="http://schemas.openxmlformats.org/drawingml/2006/main" prst="rect">
            <a:avLst/>
          </a:prstGeom>
          <a:solidFill xmlns:a="http://schemas.openxmlformats.org/drawingml/2006/main">
            <a:srgbClr val="8B1A1A"/>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2" name="Text 90">
            <a:extLst xmlns:a="http://schemas.openxmlformats.org/drawingml/2006/main">
              <a:ext uri="{FF2B5EF4-FFF2-40B4-BE49-F238E27FC236}">
                <a16:creationId xmlns:a16="http://schemas.microsoft.com/office/drawing/2014/main" id="{D42A368D-E429-401E-B7AB-516F4BB6676A}"/>
              </a:ext>
            </a:extLst>
          </p:cNvPr>
          <p:cNvSpPr>
            <a:spLocks xmlns:a="http://schemas.openxmlformats.org/drawingml/2006/main" noGrp="1"/>
          </p:cNvSpPr>
          <p:nvPr/>
        </p:nvSpPr>
        <p:spPr>
          <a:xfrm xmlns:a="http://schemas.openxmlformats.org/drawingml/2006/main">
            <a:off x="819302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93" name="Text 91">
            <a:extLst xmlns:a="http://schemas.openxmlformats.org/drawingml/2006/main">
              <a:ext uri="{FF2B5EF4-FFF2-40B4-BE49-F238E27FC236}">
                <a16:creationId xmlns:a16="http://schemas.microsoft.com/office/drawing/2014/main" id="{5DAD0904-92A6-4EF1-A229-A19C79BCD91D}"/>
              </a:ext>
            </a:extLst>
          </p:cNvPr>
          <p:cNvSpPr>
            <a:spLocks xmlns:a="http://schemas.openxmlformats.org/drawingml/2006/main" noGrp="1"/>
          </p:cNvSpPr>
          <p:nvPr/>
        </p:nvSpPr>
        <p:spPr>
          <a:xfrm xmlns:a="http://schemas.openxmlformats.org/drawingml/2006/main">
            <a:off x="822045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9.0%</a:t>
            </a:r>
          </a:p>
        </p:txBody>
      </p:sp>
      <p:sp>
        <p:nvSpPr>
          <p:cNvPr id="94" name="Shape 92">
            <a:extLst xmlns:a="http://schemas.openxmlformats.org/drawingml/2006/main">
              <a:ext uri="{FF2B5EF4-FFF2-40B4-BE49-F238E27FC236}">
                <a16:creationId xmlns:a16="http://schemas.microsoft.com/office/drawing/2014/main" id="{7DF5E700-3FD8-4D4C-8338-33D85C70DC1E}"/>
              </a:ext>
            </a:extLst>
          </p:cNvPr>
          <p:cNvSpPr>
            <a:spLocks xmlns:a="http://schemas.openxmlformats.org/drawingml/2006/main" noGrp="1"/>
          </p:cNvSpPr>
          <p:nvPr/>
        </p:nvSpPr>
        <p:spPr>
          <a:xfrm xmlns:a="http://schemas.openxmlformats.org/drawingml/2006/main">
            <a:off x="9272016"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5" name="Text 93">
            <a:extLst xmlns:a="http://schemas.openxmlformats.org/drawingml/2006/main">
              <a:ext uri="{FF2B5EF4-FFF2-40B4-BE49-F238E27FC236}">
                <a16:creationId xmlns:a16="http://schemas.microsoft.com/office/drawing/2014/main" id="{4F67E60D-01C3-438E-BEC1-11BE5625F55B}"/>
              </a:ext>
            </a:extLst>
          </p:cNvPr>
          <p:cNvSpPr>
            <a:spLocks xmlns:a="http://schemas.openxmlformats.org/drawingml/2006/main" noGrp="1"/>
          </p:cNvSpPr>
          <p:nvPr/>
        </p:nvSpPr>
        <p:spPr>
          <a:xfrm xmlns:a="http://schemas.openxmlformats.org/drawingml/2006/main">
            <a:off x="929030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96" name="Text 94">
            <a:extLst xmlns:a="http://schemas.openxmlformats.org/drawingml/2006/main">
              <a:ext uri="{FF2B5EF4-FFF2-40B4-BE49-F238E27FC236}">
                <a16:creationId xmlns:a16="http://schemas.microsoft.com/office/drawing/2014/main" id="{6F860F8C-C517-4A8F-B8B3-73ECE8F97FD0}"/>
              </a:ext>
            </a:extLst>
          </p:cNvPr>
          <p:cNvSpPr>
            <a:spLocks xmlns:a="http://schemas.openxmlformats.org/drawingml/2006/main" noGrp="1"/>
          </p:cNvSpPr>
          <p:nvPr/>
        </p:nvSpPr>
        <p:spPr>
          <a:xfrm xmlns:a="http://schemas.openxmlformats.org/drawingml/2006/main">
            <a:off x="931773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19.0%</a:t>
            </a:r>
          </a:p>
        </p:txBody>
      </p:sp>
      <p:sp>
        <p:nvSpPr>
          <p:cNvPr id="97" name="Shape 95">
            <a:extLst xmlns:a="http://schemas.openxmlformats.org/drawingml/2006/main">
              <a:ext uri="{FF2B5EF4-FFF2-40B4-BE49-F238E27FC236}">
                <a16:creationId xmlns:a16="http://schemas.microsoft.com/office/drawing/2014/main" id="{9E426DF4-0202-495D-911F-7D1ADD675B3B}"/>
              </a:ext>
            </a:extLst>
          </p:cNvPr>
          <p:cNvSpPr>
            <a:spLocks xmlns:a="http://schemas.openxmlformats.org/drawingml/2006/main" noGrp="1"/>
          </p:cNvSpPr>
          <p:nvPr/>
        </p:nvSpPr>
        <p:spPr>
          <a:xfrm xmlns:a="http://schemas.openxmlformats.org/drawingml/2006/main">
            <a:off x="10369296"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8" name="Text 96">
            <a:extLst xmlns:a="http://schemas.openxmlformats.org/drawingml/2006/main">
              <a:ext uri="{FF2B5EF4-FFF2-40B4-BE49-F238E27FC236}">
                <a16:creationId xmlns:a16="http://schemas.microsoft.com/office/drawing/2014/main" id="{3A381DCE-B1A1-4608-AD2E-432392801770}"/>
              </a:ext>
            </a:extLst>
          </p:cNvPr>
          <p:cNvSpPr>
            <a:spLocks xmlns:a="http://schemas.openxmlformats.org/drawingml/2006/main" noGrp="1"/>
          </p:cNvSpPr>
          <p:nvPr/>
        </p:nvSpPr>
        <p:spPr>
          <a:xfrm xmlns:a="http://schemas.openxmlformats.org/drawingml/2006/main">
            <a:off x="1038758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99" name="Text 97">
            <a:extLst xmlns:a="http://schemas.openxmlformats.org/drawingml/2006/main">
              <a:ext uri="{FF2B5EF4-FFF2-40B4-BE49-F238E27FC236}">
                <a16:creationId xmlns:a16="http://schemas.microsoft.com/office/drawing/2014/main" id="{DD146FEC-EEC1-44C9-86B9-87455A656921}"/>
              </a:ext>
            </a:extLst>
          </p:cNvPr>
          <p:cNvSpPr>
            <a:spLocks xmlns:a="http://schemas.openxmlformats.org/drawingml/2006/main" noGrp="1"/>
          </p:cNvSpPr>
          <p:nvPr/>
        </p:nvSpPr>
        <p:spPr>
          <a:xfrm xmlns:a="http://schemas.openxmlformats.org/drawingml/2006/main">
            <a:off x="1041501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2.5</a:t>
            </a:r>
          </a:p>
        </p:txBody>
      </p:sp>
      <p:sp>
        <p:nvSpPr>
          <p:cNvPr id="100" name="Shape 98">
            <a:extLst xmlns:a="http://schemas.openxmlformats.org/drawingml/2006/main">
              <a:ext uri="{FF2B5EF4-FFF2-40B4-BE49-F238E27FC236}">
                <a16:creationId xmlns:a16="http://schemas.microsoft.com/office/drawing/2014/main" id="{60C78A13-A47D-420A-9172-DE7E9D96542A}"/>
              </a:ext>
            </a:extLst>
          </p:cNvPr>
          <p:cNvSpPr>
            <a:spLocks xmlns:a="http://schemas.openxmlformats.org/drawingml/2006/main" noGrp="1"/>
          </p:cNvSpPr>
          <p:nvPr/>
        </p:nvSpPr>
        <p:spPr>
          <a:xfrm xmlns:a="http://schemas.openxmlformats.org/drawingml/2006/main">
            <a:off x="0" y="6565392"/>
            <a:ext cx="12161520" cy="292608"/>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101" name="Text 99">
            <a:extLst xmlns:a="http://schemas.openxmlformats.org/drawingml/2006/main">
              <a:ext uri="{FF2B5EF4-FFF2-40B4-BE49-F238E27FC236}">
                <a16:creationId xmlns:a16="http://schemas.microsoft.com/office/drawing/2014/main" id="{1673FAF9-5D76-44B5-865C-4E28436E03D0}"/>
              </a:ext>
            </a:extLst>
          </p:cNvPr>
          <p:cNvSpPr>
            <a:spLocks xmlns:a="http://schemas.openxmlformats.org/drawingml/2006/main" noGrp="1"/>
          </p:cNvSpPr>
          <p:nvPr/>
        </p:nvSpPr>
        <p:spPr>
          <a:xfrm xmlns:a="http://schemas.openxmlformats.org/drawingml/2006/main">
            <a:off x="274320" y="6565392"/>
            <a:ext cx="11612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FFFFFF">
                    <a:alpha val="65000"/>
                  </a:srgbClr>
                </a:solidFill>
                <a:latin typeface="Calibri"/>
                <a:ea typeface="Calibri"/>
                <a:cs typeface="Calibri"/>
              </a:rPr>
              <a:t>BUS331 Investments  ·  Endicott College  ·  Team Five</a:t>
            </a:r>
          </a:p>
        </p:txBody>
      </p:sp>
    </p:spTree>
    <p:extLst>
      <p:ext uri="{BB962C8B-B14F-4D97-AF65-F5344CB8AC3E}">
        <p14:creationId xmlns:p14="http://schemas.microsoft.com/office/powerpoint/2010/main" val="1683970182"/>
      </p:ext>
    </p:extLst>
  </p:cSld>
</p:sld>
</file>

<file path=ppt/slides/slide7.xml><?xml version="1.0" encoding="utf-8"?>
<p:sld xmlns:p="http://schemas.openxmlformats.org/presentationml/2006/main">
  <p:cSld>
    <p:bg>
      <p:bgPr>
        <a:solidFill xmlns:a="http://schemas.openxmlformats.org/drawingml/2006/main">
          <a:srgbClr val="F5F0E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69F0251-E423-4FBA-846B-159646F29927}"/>
              </a:ext>
            </a:extLst>
          </p:cNvPr>
          <p:cNvSpPr>
            <a:spLocks xmlns:a="http://schemas.openxmlformats.org/drawingml/2006/main" noGrp="1"/>
          </p:cNvSpPr>
          <p:nvPr/>
        </p:nvSpPr>
        <p:spPr>
          <a:xfrm xmlns:a="http://schemas.openxmlformats.org/drawingml/2006/main">
            <a:off x="0" y="0"/>
            <a:ext cx="12161520" cy="1005840"/>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A7BA8A7E-4B4A-4ED2-A7CF-4629172E65C8}"/>
              </a:ext>
            </a:extLst>
          </p:cNvPr>
          <p:cNvSpPr>
            <a:spLocks xmlns:a="http://schemas.openxmlformats.org/drawingml/2006/main" noGrp="1"/>
          </p:cNvSpPr>
          <p:nvPr/>
        </p:nvSpPr>
        <p:spPr>
          <a:xfrm xmlns:a="http://schemas.openxmlformats.org/drawingml/2006/main">
            <a:off x="91440" y="-45720"/>
            <a:ext cx="14630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200" b="1">
                <a:solidFill>
                  <a:srgbClr val="FFFFFF">
                    <a:alpha val="25000"/>
                  </a:srgbClr>
                </a:solidFill>
                <a:latin typeface="Georgia"/>
                <a:ea typeface="Georgia"/>
                <a:cs typeface="Georgia"/>
              </a:rPr>
              <a:t>06</a:t>
            </a:r>
          </a:p>
        </p:txBody>
      </p:sp>
      <p:sp>
        <p:nvSpPr>
          <p:cNvPr id="4" name="Text 2">
            <a:extLst xmlns:a="http://schemas.openxmlformats.org/drawingml/2006/main">
              <a:ext uri="{FF2B5EF4-FFF2-40B4-BE49-F238E27FC236}">
                <a16:creationId xmlns:a16="http://schemas.microsoft.com/office/drawing/2014/main" id="{74EDD47B-550C-4110-96D0-587922BCA7ED}"/>
              </a:ext>
            </a:extLst>
          </p:cNvPr>
          <p:cNvSpPr>
            <a:spLocks xmlns:a="http://schemas.openxmlformats.org/drawingml/2006/main" noGrp="1"/>
          </p:cNvSpPr>
          <p:nvPr/>
        </p:nvSpPr>
        <p:spPr>
          <a:xfrm xmlns:a="http://schemas.openxmlformats.org/drawingml/2006/main">
            <a:off x="1371600" y="73152"/>
            <a:ext cx="4572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FFFFFF">
                    <a:alpha val="60000"/>
                  </a:srgbClr>
                </a:solidFill>
                <a:latin typeface="Calibri"/>
                <a:ea typeface="Calibri"/>
                <a:cs typeface="Calibri"/>
              </a:rPr>
              <a:t>TEAM SIX</a:t>
            </a:r>
          </a:p>
        </p:txBody>
      </p:sp>
      <p:sp>
        <p:nvSpPr>
          <p:cNvPr id="5" name="Text 3">
            <a:extLst xmlns:a="http://schemas.openxmlformats.org/drawingml/2006/main">
              <a:ext uri="{FF2B5EF4-FFF2-40B4-BE49-F238E27FC236}">
                <a16:creationId xmlns:a16="http://schemas.microsoft.com/office/drawing/2014/main" id="{69F23FA8-2481-4A74-BD79-3B7E4F5063D4}"/>
              </a:ext>
            </a:extLst>
          </p:cNvPr>
          <p:cNvSpPr>
            <a:spLocks xmlns:a="http://schemas.openxmlformats.org/drawingml/2006/main" noGrp="1"/>
          </p:cNvSpPr>
          <p:nvPr/>
        </p:nvSpPr>
        <p:spPr>
          <a:xfrm xmlns:a="http://schemas.openxmlformats.org/drawingml/2006/main">
            <a:off x="1371600" y="457200"/>
            <a:ext cx="73152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600" b="1">
                <a:solidFill>
                  <a:srgbClr val="FFFFFF"/>
                </a:solidFill>
                <a:latin typeface="Georgia"/>
                <a:ea typeface="Georgia"/>
                <a:cs typeface="Georgia"/>
              </a:rPr>
              <a:t>Team Six · Client Profiles</a:t>
            </a:r>
          </a:p>
        </p:txBody>
      </p:sp>
      <p:sp>
        <p:nvSpPr>
          <p:cNvPr id="6" name="Text 4">
            <a:extLst xmlns:a="http://schemas.openxmlformats.org/drawingml/2006/main">
              <a:ext uri="{FF2B5EF4-FFF2-40B4-BE49-F238E27FC236}">
                <a16:creationId xmlns:a16="http://schemas.microsoft.com/office/drawing/2014/main" id="{AD7EB897-2A80-4802-87B4-5F7DEEF2E963}"/>
              </a:ext>
            </a:extLst>
          </p:cNvPr>
          <p:cNvSpPr>
            <a:spLocks xmlns:a="http://schemas.openxmlformats.org/drawingml/2006/main" noGrp="1"/>
          </p:cNvSpPr>
          <p:nvPr/>
        </p:nvSpPr>
        <p:spPr>
          <a:xfrm xmlns:a="http://schemas.openxmlformats.org/drawingml/2006/main">
            <a:off x="10789920" y="274320"/>
            <a:ext cx="1188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FFFFFF">
                    <a:alpha val="50000"/>
                  </a:srgbClr>
                </a:solidFill>
                <a:latin typeface="Calibri"/>
                <a:ea typeface="Calibri"/>
                <a:cs typeface="Calibri"/>
              </a:rPr>
              <a:t>6 / 6</a:t>
            </a:r>
          </a:p>
        </p:txBody>
      </p:sp>
      <p:sp>
        <p:nvSpPr>
          <p:cNvPr id="7" name="Shape 5">
            <a:extLst xmlns:a="http://schemas.openxmlformats.org/drawingml/2006/main">
              <a:ext uri="{FF2B5EF4-FFF2-40B4-BE49-F238E27FC236}">
                <a16:creationId xmlns:a16="http://schemas.microsoft.com/office/drawing/2014/main" id="{055BA55B-02D6-4C16-BAFF-E20C17244C81}"/>
              </a:ext>
            </a:extLst>
          </p:cNvPr>
          <p:cNvSpPr>
            <a:spLocks xmlns:a="http://schemas.openxmlformats.org/drawingml/2006/main" noGrp="1"/>
          </p:cNvSpPr>
          <p:nvPr/>
        </p:nvSpPr>
        <p:spPr>
          <a:xfrm xmlns:a="http://schemas.openxmlformats.org/drawingml/2006/main">
            <a:off x="137160"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8" name="Shape 6">
            <a:extLst xmlns:a="http://schemas.openxmlformats.org/drawingml/2006/main">
              <a:ext uri="{FF2B5EF4-FFF2-40B4-BE49-F238E27FC236}">
                <a16:creationId xmlns:a16="http://schemas.microsoft.com/office/drawing/2014/main" id="{3C4E0D51-4BA3-439D-A2B1-FBCB205B4298}"/>
              </a:ext>
            </a:extLst>
          </p:cNvPr>
          <p:cNvSpPr>
            <a:spLocks xmlns:a="http://schemas.openxmlformats.org/drawingml/2006/main" noGrp="1"/>
          </p:cNvSpPr>
          <p:nvPr/>
        </p:nvSpPr>
        <p:spPr>
          <a:xfrm xmlns:a="http://schemas.openxmlformats.org/drawingml/2006/main">
            <a:off x="137160" y="1188720"/>
            <a:ext cx="3749040" cy="109728"/>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9" name="Shape 7">
            <a:extLst xmlns:a="http://schemas.openxmlformats.org/drawingml/2006/main">
              <a:ext uri="{FF2B5EF4-FFF2-40B4-BE49-F238E27FC236}">
                <a16:creationId xmlns:a16="http://schemas.microsoft.com/office/drawing/2014/main" id="{124B962F-0D93-4BFD-8B31-78B203AAAD74}"/>
              </a:ext>
            </a:extLst>
          </p:cNvPr>
          <p:cNvSpPr>
            <a:spLocks xmlns:a="http://schemas.openxmlformats.org/drawingml/2006/main" noGrp="1"/>
          </p:cNvSpPr>
          <p:nvPr/>
        </p:nvSpPr>
        <p:spPr>
          <a:xfrm xmlns:a="http://schemas.openxmlformats.org/drawingml/2006/main">
            <a:off x="365760" y="1444752"/>
            <a:ext cx="749808" cy="749808"/>
          </a:xfrm>
          <a:prstGeom xmlns:a="http://schemas.openxmlformats.org/drawingml/2006/main" prst="ellipse">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10" name="Text 8">
            <a:extLst xmlns:a="http://schemas.openxmlformats.org/drawingml/2006/main">
              <a:ext uri="{FF2B5EF4-FFF2-40B4-BE49-F238E27FC236}">
                <a16:creationId xmlns:a16="http://schemas.microsoft.com/office/drawing/2014/main" id="{6C287DE5-B7E0-4721-A6ED-D0FA1417F201}"/>
              </a:ext>
            </a:extLst>
          </p:cNvPr>
          <p:cNvSpPr>
            <a:spLocks xmlns:a="http://schemas.openxmlformats.org/drawingml/2006/main" noGrp="1"/>
          </p:cNvSpPr>
          <p:nvPr/>
        </p:nvSpPr>
        <p:spPr>
          <a:xfrm xmlns:a="http://schemas.openxmlformats.org/drawingml/2006/main">
            <a:off x="365760"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NE</a:t>
            </a:r>
          </a:p>
        </p:txBody>
      </p:sp>
      <p:sp>
        <p:nvSpPr>
          <p:cNvPr id="11" name="Text 9">
            <a:extLst xmlns:a="http://schemas.openxmlformats.org/drawingml/2006/main">
              <a:ext uri="{FF2B5EF4-FFF2-40B4-BE49-F238E27FC236}">
                <a16:creationId xmlns:a16="http://schemas.microsoft.com/office/drawing/2014/main" id="{6DB779E5-F47F-4CA0-90BE-B4CE1986292D}"/>
              </a:ext>
            </a:extLst>
          </p:cNvPr>
          <p:cNvSpPr>
            <a:spLocks xmlns:a="http://schemas.openxmlformats.org/drawingml/2006/main" noGrp="1"/>
          </p:cNvSpPr>
          <p:nvPr/>
        </p:nvSpPr>
        <p:spPr>
          <a:xfrm xmlns:a="http://schemas.openxmlformats.org/drawingml/2006/main">
            <a:off x="2423160"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#16</a:t>
            </a:r>
          </a:p>
        </p:txBody>
      </p:sp>
      <p:sp>
        <p:nvSpPr>
          <p:cNvPr id="12" name="Text 10">
            <a:extLst xmlns:a="http://schemas.openxmlformats.org/drawingml/2006/main">
              <a:ext uri="{FF2B5EF4-FFF2-40B4-BE49-F238E27FC236}">
                <a16:creationId xmlns:a16="http://schemas.microsoft.com/office/drawing/2014/main" id="{9A05FFAC-E2DC-4AB4-BC43-A651101FB090}"/>
              </a:ext>
            </a:extLst>
          </p:cNvPr>
          <p:cNvSpPr>
            <a:spLocks xmlns:a="http://schemas.openxmlformats.org/drawingml/2006/main" noGrp="1"/>
          </p:cNvSpPr>
          <p:nvPr/>
        </p:nvSpPr>
        <p:spPr>
          <a:xfrm xmlns:a="http://schemas.openxmlformats.org/drawingml/2006/main">
            <a:off x="1216152"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Nora Ellis</a:t>
            </a:r>
          </a:p>
        </p:txBody>
      </p:sp>
      <p:sp>
        <p:nvSpPr>
          <p:cNvPr id="13" name="Text 11">
            <a:extLst xmlns:a="http://schemas.openxmlformats.org/drawingml/2006/main">
              <a:ext uri="{FF2B5EF4-FFF2-40B4-BE49-F238E27FC236}">
                <a16:creationId xmlns:a16="http://schemas.microsoft.com/office/drawing/2014/main" id="{748D1ADC-56AE-4F89-889E-2DD829392120}"/>
              </a:ext>
            </a:extLst>
          </p:cNvPr>
          <p:cNvSpPr>
            <a:spLocks xmlns:a="http://schemas.openxmlformats.org/drawingml/2006/main" noGrp="1"/>
          </p:cNvSpPr>
          <p:nvPr/>
        </p:nvSpPr>
        <p:spPr>
          <a:xfrm xmlns:a="http://schemas.openxmlformats.org/drawingml/2006/main">
            <a:off x="1216152"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61  ·  Occupational Therapist</a:t>
            </a:r>
          </a:p>
        </p:txBody>
      </p:sp>
      <p:sp>
        <p:nvSpPr>
          <p:cNvPr id="14" name="Shape 12">
            <a:extLst xmlns:a="http://schemas.openxmlformats.org/drawingml/2006/main">
              <a:ext uri="{FF2B5EF4-FFF2-40B4-BE49-F238E27FC236}">
                <a16:creationId xmlns:a16="http://schemas.microsoft.com/office/drawing/2014/main" id="{E089D0D5-96CD-4CA4-B99E-39606963402B}"/>
              </a:ext>
            </a:extLst>
          </p:cNvPr>
          <p:cNvSpPr>
            <a:spLocks xmlns:a="http://schemas.openxmlformats.org/drawingml/2006/main" noGrp="1"/>
          </p:cNvSpPr>
          <p:nvPr/>
        </p:nvSpPr>
        <p:spPr>
          <a:xfrm xmlns:a="http://schemas.openxmlformats.org/drawingml/2006/main">
            <a:off x="365760" y="2322576"/>
            <a:ext cx="1325880" cy="237744"/>
          </a:xfrm>
          <a:prstGeom xmlns:a="http://schemas.openxmlformats.org/drawingml/2006/main" prst="rect">
            <a:avLst/>
          </a:prstGeom>
          <a:solidFill xmlns:a="http://schemas.openxmlformats.org/drawingml/2006/main">
            <a:srgbClr val="E8F0FF"/>
          </a:solidFill>
          <a:ln xmlns:a="http://schemas.openxmlformats.org/drawingml/2006/main" w="12700">
            <a:solidFill>
              <a:srgbClr val="E8F0FF"/>
            </a:solidFill>
            <a:prstDash val="solid"/>
          </a:ln>
        </p:spPr>
        <p:txBody>
          <a:bodyPr xmlns:a="http://schemas.openxmlformats.org/drawingml/2006/main"/>
          <a:lstStyle xmlns:a="http://schemas.openxmlformats.org/drawingml/2006/main"/>
          <a:p xmlns:a="http://schemas.openxmlformats.org/drawingml/2006/main"/>
        </p:txBody>
      </p:sp>
      <p:sp>
        <p:nvSpPr>
          <p:cNvPr id="15" name="Shape 13">
            <a:extLst xmlns:a="http://schemas.openxmlformats.org/drawingml/2006/main">
              <a:ext uri="{FF2B5EF4-FFF2-40B4-BE49-F238E27FC236}">
                <a16:creationId xmlns:a16="http://schemas.microsoft.com/office/drawing/2014/main" id="{0A5FE6B7-BEAB-45D0-BC14-728505897F9A}"/>
              </a:ext>
            </a:extLst>
          </p:cNvPr>
          <p:cNvSpPr>
            <a:spLocks xmlns:a="http://schemas.openxmlformats.org/drawingml/2006/main" noGrp="1"/>
          </p:cNvSpPr>
          <p:nvPr/>
        </p:nvSpPr>
        <p:spPr>
          <a:xfrm xmlns:a="http://schemas.openxmlformats.org/drawingml/2006/main">
            <a:off x="429768" y="2382012"/>
            <a:ext cx="91440" cy="91440"/>
          </a:xfrm>
          <a:prstGeom xmlns:a="http://schemas.openxmlformats.org/drawingml/2006/main" prst="ellipse">
            <a:avLst/>
          </a:prstGeom>
          <a:solidFill xmlns:a="http://schemas.openxmlformats.org/drawingml/2006/main">
            <a:srgbClr val="3A6EA5"/>
          </a:solidFill>
          <a:ln xmlns:a="http://schemas.openxmlformats.org/drawingml/2006/main" w="12700">
            <a:solidFill>
              <a:srgbClr val="3A6EA5"/>
            </a:solidFill>
            <a:prstDash val="solid"/>
          </a:ln>
        </p:spPr>
        <p:txBody>
          <a:bodyPr xmlns:a="http://schemas.openxmlformats.org/drawingml/2006/main"/>
          <a:lstStyle xmlns:a="http://schemas.openxmlformats.org/drawingml/2006/main"/>
          <a:p xmlns:a="http://schemas.openxmlformats.org/drawingml/2006/main"/>
        </p:txBody>
      </p:sp>
      <p:sp>
        <p:nvSpPr>
          <p:cNvPr id="16" name="Text 14">
            <a:extLst xmlns:a="http://schemas.openxmlformats.org/drawingml/2006/main">
              <a:ext uri="{FF2B5EF4-FFF2-40B4-BE49-F238E27FC236}">
                <a16:creationId xmlns:a16="http://schemas.microsoft.com/office/drawing/2014/main" id="{7E8454E9-4248-490B-AF56-F4FDEF58C0D8}"/>
              </a:ext>
            </a:extLst>
          </p:cNvPr>
          <p:cNvSpPr>
            <a:spLocks xmlns:a="http://schemas.openxmlformats.org/drawingml/2006/main" noGrp="1"/>
          </p:cNvSpPr>
          <p:nvPr/>
        </p:nvSpPr>
        <p:spPr>
          <a:xfrm xmlns:a="http://schemas.openxmlformats.org/drawingml/2006/main">
            <a:off x="557784"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3A6EA5"/>
                </a:solidFill>
                <a:latin typeface="Calibri"/>
                <a:ea typeface="Calibri"/>
                <a:cs typeface="Calibri"/>
              </a:rPr>
              <a:t>RISK AVERSE</a:t>
            </a:r>
          </a:p>
        </p:txBody>
      </p:sp>
      <p:sp>
        <p:nvSpPr>
          <p:cNvPr id="17" name="Shape 15">
            <a:extLst xmlns:a="http://schemas.openxmlformats.org/drawingml/2006/main">
              <a:ext uri="{FF2B5EF4-FFF2-40B4-BE49-F238E27FC236}">
                <a16:creationId xmlns:a16="http://schemas.microsoft.com/office/drawing/2014/main" id="{6FE551EA-9AEB-4FF7-9CAF-62D100E153E5}"/>
              </a:ext>
            </a:extLst>
          </p:cNvPr>
          <p:cNvSpPr>
            <a:spLocks xmlns:a="http://schemas.openxmlformats.org/drawingml/2006/main" noGrp="1"/>
          </p:cNvSpPr>
          <p:nvPr/>
        </p:nvSpPr>
        <p:spPr>
          <a:xfrm xmlns:a="http://schemas.openxmlformats.org/drawingml/2006/main">
            <a:off x="365760"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18" name="Text 16">
            <a:extLst xmlns:a="http://schemas.openxmlformats.org/drawingml/2006/main">
              <a:ext uri="{FF2B5EF4-FFF2-40B4-BE49-F238E27FC236}">
                <a16:creationId xmlns:a16="http://schemas.microsoft.com/office/drawing/2014/main" id="{E74EAB25-80AF-48E8-8271-114AB57DD9A7}"/>
              </a:ext>
            </a:extLst>
          </p:cNvPr>
          <p:cNvSpPr>
            <a:spLocks xmlns:a="http://schemas.openxmlformats.org/drawingml/2006/main" noGrp="1"/>
          </p:cNvSpPr>
          <p:nvPr/>
        </p:nvSpPr>
        <p:spPr>
          <a:xfrm xmlns:a="http://schemas.openxmlformats.org/drawingml/2006/main">
            <a:off x="36576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19" name="Text 17">
            <a:extLst xmlns:a="http://schemas.openxmlformats.org/drawingml/2006/main">
              <a:ext uri="{FF2B5EF4-FFF2-40B4-BE49-F238E27FC236}">
                <a16:creationId xmlns:a16="http://schemas.microsoft.com/office/drawing/2014/main" id="{5853EE01-DBA3-4752-AEB6-E7B349C61B41}"/>
              </a:ext>
            </a:extLst>
          </p:cNvPr>
          <p:cNvSpPr>
            <a:spLocks xmlns:a="http://schemas.openxmlformats.org/drawingml/2006/main" noGrp="1"/>
          </p:cNvSpPr>
          <p:nvPr/>
        </p:nvSpPr>
        <p:spPr>
          <a:xfrm xmlns:a="http://schemas.openxmlformats.org/drawingml/2006/main">
            <a:off x="36576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$95,000</a:t>
            </a:r>
          </a:p>
        </p:txBody>
      </p:sp>
      <p:sp>
        <p:nvSpPr>
          <p:cNvPr id="20" name="Text 18">
            <a:extLst xmlns:a="http://schemas.openxmlformats.org/drawingml/2006/main">
              <a:ext uri="{FF2B5EF4-FFF2-40B4-BE49-F238E27FC236}">
                <a16:creationId xmlns:a16="http://schemas.microsoft.com/office/drawing/2014/main" id="{0F1D5C0B-9FDD-4D88-93C1-695F85609901}"/>
              </a:ext>
            </a:extLst>
          </p:cNvPr>
          <p:cNvSpPr>
            <a:spLocks xmlns:a="http://schemas.openxmlformats.org/drawingml/2006/main" noGrp="1"/>
          </p:cNvSpPr>
          <p:nvPr/>
        </p:nvSpPr>
        <p:spPr>
          <a:xfrm xmlns:a="http://schemas.openxmlformats.org/drawingml/2006/main">
            <a:off x="2103120"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21" name="Text 19">
            <a:extLst xmlns:a="http://schemas.openxmlformats.org/drawingml/2006/main">
              <a:ext uri="{FF2B5EF4-FFF2-40B4-BE49-F238E27FC236}">
                <a16:creationId xmlns:a16="http://schemas.microsoft.com/office/drawing/2014/main" id="{64409596-77E4-4AD5-844D-388A134CFDF0}"/>
              </a:ext>
            </a:extLst>
          </p:cNvPr>
          <p:cNvSpPr>
            <a:spLocks xmlns:a="http://schemas.openxmlformats.org/drawingml/2006/main" noGrp="1"/>
          </p:cNvSpPr>
          <p:nvPr/>
        </p:nvSpPr>
        <p:spPr>
          <a:xfrm xmlns:a="http://schemas.openxmlformats.org/drawingml/2006/main">
            <a:off x="2103120"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$900,000</a:t>
            </a:r>
          </a:p>
        </p:txBody>
      </p:sp>
      <p:sp>
        <p:nvSpPr>
          <p:cNvPr id="22" name="Shape 20">
            <a:extLst xmlns:a="http://schemas.openxmlformats.org/drawingml/2006/main">
              <a:ext uri="{FF2B5EF4-FFF2-40B4-BE49-F238E27FC236}">
                <a16:creationId xmlns:a16="http://schemas.microsoft.com/office/drawing/2014/main" id="{6FC3F87C-449E-4C4F-A139-CE77C004994E}"/>
              </a:ext>
            </a:extLst>
          </p:cNvPr>
          <p:cNvSpPr>
            <a:spLocks xmlns:a="http://schemas.openxmlformats.org/drawingml/2006/main" noGrp="1"/>
          </p:cNvSpPr>
          <p:nvPr/>
        </p:nvSpPr>
        <p:spPr>
          <a:xfrm xmlns:a="http://schemas.openxmlformats.org/drawingml/2006/main">
            <a:off x="365760" y="3456432"/>
            <a:ext cx="3291840" cy="804672"/>
          </a:xfrm>
          <a:prstGeom xmlns:a="http://schemas.openxmlformats.org/drawingml/2006/main" prst="rect">
            <a:avLst/>
          </a:prstGeom>
          <a:solidFill xmlns:a="http://schemas.openxmlformats.org/drawingml/2006/main">
            <a:srgbClr val="F0D0D0"/>
          </a:solidFill>
          <a:ln xmlns:a="http://schemas.openxmlformats.org/drawingml/2006/main" w="12700">
            <a:solidFill>
              <a:srgbClr val="F0D0D0"/>
            </a:solidFill>
            <a:prstDash val="solid"/>
          </a:ln>
        </p:spPr>
        <p:txBody>
          <a:bodyPr xmlns:a="http://schemas.openxmlformats.org/drawingml/2006/main"/>
          <a:lstStyle xmlns:a="http://schemas.openxmlformats.org/drawingml/2006/main"/>
          <a:p xmlns:a="http://schemas.openxmlformats.org/drawingml/2006/main"/>
        </p:txBody>
      </p:sp>
      <p:sp>
        <p:nvSpPr>
          <p:cNvPr id="23" name="Shape 21">
            <a:extLst xmlns:a="http://schemas.openxmlformats.org/drawingml/2006/main">
              <a:ext uri="{FF2B5EF4-FFF2-40B4-BE49-F238E27FC236}">
                <a16:creationId xmlns:a16="http://schemas.microsoft.com/office/drawing/2014/main" id="{A08354B6-7267-4843-9F08-F78D24CE791F}"/>
              </a:ext>
            </a:extLst>
          </p:cNvPr>
          <p:cNvSpPr>
            <a:spLocks xmlns:a="http://schemas.openxmlformats.org/drawingml/2006/main" noGrp="1"/>
          </p:cNvSpPr>
          <p:nvPr/>
        </p:nvSpPr>
        <p:spPr>
          <a:xfrm xmlns:a="http://schemas.openxmlformats.org/drawingml/2006/main">
            <a:off x="365760" y="3456432"/>
            <a:ext cx="54864" cy="804672"/>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524FDCE6-D364-4EE4-9DA0-D7F0E681A0C8}"/>
              </a:ext>
            </a:extLst>
          </p:cNvPr>
          <p:cNvSpPr>
            <a:spLocks xmlns:a="http://schemas.openxmlformats.org/drawingml/2006/main" noGrp="1"/>
          </p:cNvSpPr>
          <p:nvPr/>
        </p:nvSpPr>
        <p:spPr>
          <a:xfrm xmlns:a="http://schemas.openxmlformats.org/drawingml/2006/main">
            <a:off x="484632"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8B1A1A"/>
                </a:solidFill>
                <a:latin typeface="Calibri"/>
                <a:ea typeface="Calibri"/>
                <a:cs typeface="Calibri"/>
              </a:rPr>
              <a:t>PRIMARY GOAL</a:t>
            </a:r>
          </a:p>
        </p:txBody>
      </p:sp>
      <p:sp>
        <p:nvSpPr>
          <p:cNvPr id="25" name="Text 23">
            <a:extLst xmlns:a="http://schemas.openxmlformats.org/drawingml/2006/main">
              <a:ext uri="{FF2B5EF4-FFF2-40B4-BE49-F238E27FC236}">
                <a16:creationId xmlns:a16="http://schemas.microsoft.com/office/drawing/2014/main" id="{F1BAAB0C-C00D-46A1-AE04-2CB11785D849}"/>
              </a:ext>
            </a:extLst>
          </p:cNvPr>
          <p:cNvSpPr>
            <a:spLocks xmlns:a="http://schemas.openxmlformats.org/drawingml/2006/main" noGrp="1"/>
          </p:cNvSpPr>
          <p:nvPr/>
        </p:nvSpPr>
        <p:spPr>
          <a:xfrm xmlns:a="http://schemas.openxmlformats.org/drawingml/2006/main">
            <a:off x="484632"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Family Care / Capital Preservation</a:t>
            </a:r>
          </a:p>
        </p:txBody>
      </p:sp>
      <p:sp>
        <p:nvSpPr>
          <p:cNvPr id="26" name="Shape 24">
            <a:extLst xmlns:a="http://schemas.openxmlformats.org/drawingml/2006/main">
              <a:ext uri="{FF2B5EF4-FFF2-40B4-BE49-F238E27FC236}">
                <a16:creationId xmlns:a16="http://schemas.microsoft.com/office/drawing/2014/main" id="{99011B93-E38F-4E85-9547-F3AB3E5113CF}"/>
              </a:ext>
            </a:extLst>
          </p:cNvPr>
          <p:cNvSpPr>
            <a:spLocks xmlns:a="http://schemas.openxmlformats.org/drawingml/2006/main" noGrp="1"/>
          </p:cNvSpPr>
          <p:nvPr/>
        </p:nvSpPr>
        <p:spPr>
          <a:xfrm xmlns:a="http://schemas.openxmlformats.org/drawingml/2006/main">
            <a:off x="365760"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27" name="Text 25">
            <a:extLst xmlns:a="http://schemas.openxmlformats.org/drawingml/2006/main">
              <a:ext uri="{FF2B5EF4-FFF2-40B4-BE49-F238E27FC236}">
                <a16:creationId xmlns:a16="http://schemas.microsoft.com/office/drawing/2014/main" id="{164E1F1B-B1ED-42DF-BF6C-F7238B102508}"/>
              </a:ext>
            </a:extLst>
          </p:cNvPr>
          <p:cNvSpPr>
            <a:spLocks xmlns:a="http://schemas.openxmlformats.org/drawingml/2006/main" noGrp="1"/>
          </p:cNvSpPr>
          <p:nvPr/>
        </p:nvSpPr>
        <p:spPr>
          <a:xfrm xmlns:a="http://schemas.openxmlformats.org/drawingml/2006/main">
            <a:off x="484632"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28" name="Text 26">
            <a:extLst xmlns:a="http://schemas.openxmlformats.org/drawingml/2006/main">
              <a:ext uri="{FF2B5EF4-FFF2-40B4-BE49-F238E27FC236}">
                <a16:creationId xmlns:a16="http://schemas.microsoft.com/office/drawing/2014/main" id="{F4E430AF-A917-43CB-A221-9AA1C7C14095}"/>
              </a:ext>
            </a:extLst>
          </p:cNvPr>
          <p:cNvSpPr>
            <a:spLocks xmlns:a="http://schemas.openxmlformats.org/drawingml/2006/main" noGrp="1"/>
          </p:cNvSpPr>
          <p:nvPr/>
        </p:nvSpPr>
        <p:spPr>
          <a:xfrm xmlns:a="http://schemas.openxmlformats.org/drawingml/2006/main">
            <a:off x="484632"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$90k access work in 2 yrs; care reserve</a:t>
            </a:r>
          </a:p>
        </p:txBody>
      </p:sp>
      <p:sp>
        <p:nvSpPr>
          <p:cNvPr id="29" name="Shape 27">
            <a:extLst xmlns:a="http://schemas.openxmlformats.org/drawingml/2006/main">
              <a:ext uri="{FF2B5EF4-FFF2-40B4-BE49-F238E27FC236}">
                <a16:creationId xmlns:a16="http://schemas.microsoft.com/office/drawing/2014/main" id="{D1683DFA-6A43-4759-858E-5C0B85E7C48A}"/>
              </a:ext>
            </a:extLst>
          </p:cNvPr>
          <p:cNvSpPr>
            <a:spLocks xmlns:a="http://schemas.openxmlformats.org/drawingml/2006/main" noGrp="1"/>
          </p:cNvSpPr>
          <p:nvPr/>
        </p:nvSpPr>
        <p:spPr>
          <a:xfrm xmlns:a="http://schemas.openxmlformats.org/drawingml/2006/main">
            <a:off x="365760" y="5230368"/>
            <a:ext cx="1097280" cy="877824"/>
          </a:xfrm>
          <a:prstGeom xmlns:a="http://schemas.openxmlformats.org/drawingml/2006/main" prst="rect">
            <a:avLst/>
          </a:prstGeom>
          <a:solidFill xmlns:a="http://schemas.openxmlformats.org/drawingml/2006/main">
            <a:srgbClr val="8B1A1A"/>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0" name="Text 28">
            <a:extLst xmlns:a="http://schemas.openxmlformats.org/drawingml/2006/main">
              <a:ext uri="{FF2B5EF4-FFF2-40B4-BE49-F238E27FC236}">
                <a16:creationId xmlns:a16="http://schemas.microsoft.com/office/drawing/2014/main" id="{FA66E15C-9B3E-4225-8FF6-45DD1F868660}"/>
              </a:ext>
            </a:extLst>
          </p:cNvPr>
          <p:cNvSpPr>
            <a:spLocks xmlns:a="http://schemas.openxmlformats.org/drawingml/2006/main" noGrp="1"/>
          </p:cNvSpPr>
          <p:nvPr/>
        </p:nvSpPr>
        <p:spPr>
          <a:xfrm xmlns:a="http://schemas.openxmlformats.org/drawingml/2006/main">
            <a:off x="38404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31" name="Text 29">
            <a:extLst xmlns:a="http://schemas.openxmlformats.org/drawingml/2006/main">
              <a:ext uri="{FF2B5EF4-FFF2-40B4-BE49-F238E27FC236}">
                <a16:creationId xmlns:a16="http://schemas.microsoft.com/office/drawing/2014/main" id="{128758FB-A320-4D2C-AC4A-60AF1BDC017C}"/>
              </a:ext>
            </a:extLst>
          </p:cNvPr>
          <p:cNvSpPr>
            <a:spLocks xmlns:a="http://schemas.openxmlformats.org/drawingml/2006/main" noGrp="1"/>
          </p:cNvSpPr>
          <p:nvPr/>
        </p:nvSpPr>
        <p:spPr>
          <a:xfrm xmlns:a="http://schemas.openxmlformats.org/drawingml/2006/main">
            <a:off x="41148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4.5%</a:t>
            </a:r>
          </a:p>
        </p:txBody>
      </p:sp>
      <p:sp>
        <p:nvSpPr>
          <p:cNvPr id="32" name="Shape 30">
            <a:extLst xmlns:a="http://schemas.openxmlformats.org/drawingml/2006/main">
              <a:ext uri="{FF2B5EF4-FFF2-40B4-BE49-F238E27FC236}">
                <a16:creationId xmlns:a16="http://schemas.microsoft.com/office/drawing/2014/main" id="{FAEBE818-06C3-4710-9CEA-DA5163A87CEC}"/>
              </a:ext>
            </a:extLst>
          </p:cNvPr>
          <p:cNvSpPr>
            <a:spLocks xmlns:a="http://schemas.openxmlformats.org/drawingml/2006/main" noGrp="1"/>
          </p:cNvSpPr>
          <p:nvPr/>
        </p:nvSpPr>
        <p:spPr>
          <a:xfrm xmlns:a="http://schemas.openxmlformats.org/drawingml/2006/main">
            <a:off x="1463040"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3" name="Text 31">
            <a:extLst xmlns:a="http://schemas.openxmlformats.org/drawingml/2006/main">
              <a:ext uri="{FF2B5EF4-FFF2-40B4-BE49-F238E27FC236}">
                <a16:creationId xmlns:a16="http://schemas.microsoft.com/office/drawing/2014/main" id="{4C8B5894-CE5F-4B2B-B8FC-260FD9F797EA}"/>
              </a:ext>
            </a:extLst>
          </p:cNvPr>
          <p:cNvSpPr>
            <a:spLocks xmlns:a="http://schemas.openxmlformats.org/drawingml/2006/main" noGrp="1"/>
          </p:cNvSpPr>
          <p:nvPr/>
        </p:nvSpPr>
        <p:spPr>
          <a:xfrm xmlns:a="http://schemas.openxmlformats.org/drawingml/2006/main">
            <a:off x="148132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34" name="Text 32">
            <a:extLst xmlns:a="http://schemas.openxmlformats.org/drawingml/2006/main">
              <a:ext uri="{FF2B5EF4-FFF2-40B4-BE49-F238E27FC236}">
                <a16:creationId xmlns:a16="http://schemas.microsoft.com/office/drawing/2014/main" id="{C3DDB97F-3159-4BC5-B4B7-44FF3C860B76}"/>
              </a:ext>
            </a:extLst>
          </p:cNvPr>
          <p:cNvSpPr>
            <a:spLocks xmlns:a="http://schemas.openxmlformats.org/drawingml/2006/main" noGrp="1"/>
          </p:cNvSpPr>
          <p:nvPr/>
        </p:nvSpPr>
        <p:spPr>
          <a:xfrm xmlns:a="http://schemas.openxmlformats.org/drawingml/2006/main">
            <a:off x="150876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7.0%</a:t>
            </a:r>
          </a:p>
        </p:txBody>
      </p:sp>
      <p:sp>
        <p:nvSpPr>
          <p:cNvPr id="35" name="Shape 33">
            <a:extLst xmlns:a="http://schemas.openxmlformats.org/drawingml/2006/main">
              <a:ext uri="{FF2B5EF4-FFF2-40B4-BE49-F238E27FC236}">
                <a16:creationId xmlns:a16="http://schemas.microsoft.com/office/drawing/2014/main" id="{5C22C8B6-E4A9-4EA9-8345-A017D159DF06}"/>
              </a:ext>
            </a:extLst>
          </p:cNvPr>
          <p:cNvSpPr>
            <a:spLocks xmlns:a="http://schemas.openxmlformats.org/drawingml/2006/main" noGrp="1"/>
          </p:cNvSpPr>
          <p:nvPr/>
        </p:nvSpPr>
        <p:spPr>
          <a:xfrm xmlns:a="http://schemas.openxmlformats.org/drawingml/2006/main">
            <a:off x="2560320"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6" name="Text 34">
            <a:extLst xmlns:a="http://schemas.openxmlformats.org/drawingml/2006/main">
              <a:ext uri="{FF2B5EF4-FFF2-40B4-BE49-F238E27FC236}">
                <a16:creationId xmlns:a16="http://schemas.microsoft.com/office/drawing/2014/main" id="{D767649D-81E7-4ED9-8B06-AE035F21C6A4}"/>
              </a:ext>
            </a:extLst>
          </p:cNvPr>
          <p:cNvSpPr>
            <a:spLocks xmlns:a="http://schemas.openxmlformats.org/drawingml/2006/main" noGrp="1"/>
          </p:cNvSpPr>
          <p:nvPr/>
        </p:nvSpPr>
        <p:spPr>
          <a:xfrm xmlns:a="http://schemas.openxmlformats.org/drawingml/2006/main">
            <a:off x="2578608"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37" name="Text 35">
            <a:extLst xmlns:a="http://schemas.openxmlformats.org/drawingml/2006/main">
              <a:ext uri="{FF2B5EF4-FFF2-40B4-BE49-F238E27FC236}">
                <a16:creationId xmlns:a16="http://schemas.microsoft.com/office/drawing/2014/main" id="{6C9ACBE4-D3A6-4CC5-AA59-B5DF88ED85CE}"/>
              </a:ext>
            </a:extLst>
          </p:cNvPr>
          <p:cNvSpPr>
            <a:spLocks xmlns:a="http://schemas.openxmlformats.org/drawingml/2006/main" noGrp="1"/>
          </p:cNvSpPr>
          <p:nvPr/>
        </p:nvSpPr>
        <p:spPr>
          <a:xfrm xmlns:a="http://schemas.openxmlformats.org/drawingml/2006/main">
            <a:off x="2606040"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8.0</a:t>
            </a:r>
          </a:p>
        </p:txBody>
      </p:sp>
      <p:sp>
        <p:nvSpPr>
          <p:cNvPr id="38" name="Shape 36">
            <a:extLst xmlns:a="http://schemas.openxmlformats.org/drawingml/2006/main">
              <a:ext uri="{FF2B5EF4-FFF2-40B4-BE49-F238E27FC236}">
                <a16:creationId xmlns:a16="http://schemas.microsoft.com/office/drawing/2014/main" id="{E0A94625-6523-46A8-8EF3-50BDF1622133}"/>
              </a:ext>
            </a:extLst>
          </p:cNvPr>
          <p:cNvSpPr>
            <a:spLocks xmlns:a="http://schemas.openxmlformats.org/drawingml/2006/main" noGrp="1"/>
          </p:cNvSpPr>
          <p:nvPr/>
        </p:nvSpPr>
        <p:spPr>
          <a:xfrm xmlns:a="http://schemas.openxmlformats.org/drawingml/2006/main">
            <a:off x="4041648"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39" name="Shape 37">
            <a:extLst xmlns:a="http://schemas.openxmlformats.org/drawingml/2006/main">
              <a:ext uri="{FF2B5EF4-FFF2-40B4-BE49-F238E27FC236}">
                <a16:creationId xmlns:a16="http://schemas.microsoft.com/office/drawing/2014/main" id="{137CCB44-DC5C-482E-AB46-0947E9CEA3D8}"/>
              </a:ext>
            </a:extLst>
          </p:cNvPr>
          <p:cNvSpPr>
            <a:spLocks xmlns:a="http://schemas.openxmlformats.org/drawingml/2006/main" noGrp="1"/>
          </p:cNvSpPr>
          <p:nvPr/>
        </p:nvSpPr>
        <p:spPr>
          <a:xfrm xmlns:a="http://schemas.openxmlformats.org/drawingml/2006/main">
            <a:off x="4041648" y="1188720"/>
            <a:ext cx="3749040" cy="109728"/>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40" name="Shape 38">
            <a:extLst xmlns:a="http://schemas.openxmlformats.org/drawingml/2006/main">
              <a:ext uri="{FF2B5EF4-FFF2-40B4-BE49-F238E27FC236}">
                <a16:creationId xmlns:a16="http://schemas.microsoft.com/office/drawing/2014/main" id="{94DA2C87-32FE-4DC9-B1B7-1EDE88BAA4CA}"/>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ellipse">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41" name="Text 39">
            <a:extLst xmlns:a="http://schemas.openxmlformats.org/drawingml/2006/main">
              <a:ext uri="{FF2B5EF4-FFF2-40B4-BE49-F238E27FC236}">
                <a16:creationId xmlns:a16="http://schemas.microsoft.com/office/drawing/2014/main" id="{EA5D8677-CFDE-4285-980A-8F69530BA015}"/>
              </a:ext>
            </a:extLst>
          </p:cNvPr>
          <p:cNvSpPr>
            <a:spLocks xmlns:a="http://schemas.openxmlformats.org/drawingml/2006/main" noGrp="1"/>
          </p:cNvSpPr>
          <p:nvPr/>
        </p:nvSpPr>
        <p:spPr>
          <a:xfrm xmlns:a="http://schemas.openxmlformats.org/drawingml/2006/main">
            <a:off x="4270248"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PB</a:t>
            </a:r>
          </a:p>
        </p:txBody>
      </p:sp>
      <p:sp>
        <p:nvSpPr>
          <p:cNvPr id="42" name="Text 40">
            <a:extLst xmlns:a="http://schemas.openxmlformats.org/drawingml/2006/main">
              <a:ext uri="{FF2B5EF4-FFF2-40B4-BE49-F238E27FC236}">
                <a16:creationId xmlns:a16="http://schemas.microsoft.com/office/drawing/2014/main" id="{72E61CCE-C21A-4A24-8201-9E42A79DF6F1}"/>
              </a:ext>
            </a:extLst>
          </p:cNvPr>
          <p:cNvSpPr>
            <a:spLocks xmlns:a="http://schemas.openxmlformats.org/drawingml/2006/main" noGrp="1"/>
          </p:cNvSpPr>
          <p:nvPr/>
        </p:nvSpPr>
        <p:spPr>
          <a:xfrm xmlns:a="http://schemas.openxmlformats.org/drawingml/2006/main">
            <a:off x="6327648"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#17</a:t>
            </a:r>
          </a:p>
        </p:txBody>
      </p:sp>
      <p:sp>
        <p:nvSpPr>
          <p:cNvPr id="43" name="Text 41">
            <a:extLst xmlns:a="http://schemas.openxmlformats.org/drawingml/2006/main">
              <a:ext uri="{FF2B5EF4-FFF2-40B4-BE49-F238E27FC236}">
                <a16:creationId xmlns:a16="http://schemas.microsoft.com/office/drawing/2014/main" id="{7710EEB8-4A5C-4B35-9912-C3E341A601F3}"/>
              </a:ext>
            </a:extLst>
          </p:cNvPr>
          <p:cNvSpPr>
            <a:spLocks xmlns:a="http://schemas.openxmlformats.org/drawingml/2006/main" noGrp="1"/>
          </p:cNvSpPr>
          <p:nvPr/>
        </p:nvSpPr>
        <p:spPr>
          <a:xfrm xmlns:a="http://schemas.openxmlformats.org/drawingml/2006/main">
            <a:off x="5120640"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Priya &amp; Owen Brooks</a:t>
            </a:r>
          </a:p>
        </p:txBody>
      </p:sp>
      <p:sp>
        <p:nvSpPr>
          <p:cNvPr id="44" name="Text 42">
            <a:extLst xmlns:a="http://schemas.openxmlformats.org/drawingml/2006/main">
              <a:ext uri="{FF2B5EF4-FFF2-40B4-BE49-F238E27FC236}">
                <a16:creationId xmlns:a16="http://schemas.microsoft.com/office/drawing/2014/main" id="{59A01D38-966F-4C74-9C74-2A8ED491313D}"/>
              </a:ext>
            </a:extLst>
          </p:cNvPr>
          <p:cNvSpPr>
            <a:spLocks xmlns:a="http://schemas.openxmlformats.org/drawingml/2006/main" noGrp="1"/>
          </p:cNvSpPr>
          <p:nvPr/>
        </p:nvSpPr>
        <p:spPr>
          <a:xfrm xmlns:a="http://schemas.openxmlformats.org/drawingml/2006/main">
            <a:off x="5120640"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40/42  ·  Engineer / School Administrator</a:t>
            </a:r>
          </a:p>
        </p:txBody>
      </p:sp>
      <p:sp>
        <p:nvSpPr>
          <p:cNvPr id="45" name="Shape 43">
            <a:extLst xmlns:a="http://schemas.openxmlformats.org/drawingml/2006/main">
              <a:ext uri="{FF2B5EF4-FFF2-40B4-BE49-F238E27FC236}">
                <a16:creationId xmlns:a16="http://schemas.microsoft.com/office/drawing/2014/main" id="{2DF12CF7-07A0-42C8-85EB-FFBE4B7CB1AF}"/>
              </a:ext>
            </a:extLst>
          </p:cNvPr>
          <p:cNvSpPr>
            <a:spLocks xmlns:a="http://schemas.openxmlformats.org/drawingml/2006/main" noGrp="1"/>
          </p:cNvSpPr>
          <p:nvPr/>
        </p:nvSpPr>
        <p:spPr>
          <a:xfrm xmlns:a="http://schemas.openxmlformats.org/drawingml/2006/main">
            <a:off x="4270248" y="2322576"/>
            <a:ext cx="1325880" cy="237744"/>
          </a:xfrm>
          <a:prstGeom xmlns:a="http://schemas.openxmlformats.org/drawingml/2006/main" prst="rect">
            <a:avLst/>
          </a:prstGeom>
          <a:solidFill xmlns:a="http://schemas.openxmlformats.org/drawingml/2006/main">
            <a:srgbClr val="FFF0E8"/>
          </a:solidFill>
          <a:ln xmlns:a="http://schemas.openxmlformats.org/drawingml/2006/main" w="12700">
            <a:solidFill>
              <a:srgbClr val="FFF0E8"/>
            </a:solidFill>
            <a:prstDash val="solid"/>
          </a:ln>
        </p:spPr>
        <p:txBody>
          <a:bodyPr xmlns:a="http://schemas.openxmlformats.org/drawingml/2006/main"/>
          <a:lstStyle xmlns:a="http://schemas.openxmlformats.org/drawingml/2006/main"/>
          <a:p xmlns:a="http://schemas.openxmlformats.org/drawingml/2006/main"/>
        </p:txBody>
      </p:sp>
      <p:sp>
        <p:nvSpPr>
          <p:cNvPr id="46" name="Shape 44">
            <a:extLst xmlns:a="http://schemas.openxmlformats.org/drawingml/2006/main">
              <a:ext uri="{FF2B5EF4-FFF2-40B4-BE49-F238E27FC236}">
                <a16:creationId xmlns:a16="http://schemas.microsoft.com/office/drawing/2014/main" id="{F1973E76-5D9D-4ECD-B98B-138EE8F6FC87}"/>
              </a:ext>
            </a:extLst>
          </p:cNvPr>
          <p:cNvSpPr>
            <a:spLocks xmlns:a="http://schemas.openxmlformats.org/drawingml/2006/main" noGrp="1"/>
          </p:cNvSpPr>
          <p:nvPr/>
        </p:nvSpPr>
        <p:spPr>
          <a:xfrm xmlns:a="http://schemas.openxmlformats.org/drawingml/2006/main">
            <a:off x="4334256" y="2382012"/>
            <a:ext cx="91440" cy="91440"/>
          </a:xfrm>
          <a:prstGeom xmlns:a="http://schemas.openxmlformats.org/drawingml/2006/main" prst="ellipse">
            <a:avLst/>
          </a:prstGeom>
          <a:solidFill xmlns:a="http://schemas.openxmlformats.org/drawingml/2006/main">
            <a:srgbClr val="C05B30"/>
          </a:solidFill>
          <a:ln xmlns:a="http://schemas.openxmlformats.org/drawingml/2006/main" w="12700">
            <a:solidFill>
              <a:srgbClr val="C05B30"/>
            </a:solidFill>
            <a:prstDash val="solid"/>
          </a:ln>
        </p:spPr>
        <p:txBody>
          <a:bodyPr xmlns:a="http://schemas.openxmlformats.org/drawingml/2006/main"/>
          <a:lstStyle xmlns:a="http://schemas.openxmlformats.org/drawingml/2006/main"/>
          <a:p xmlns:a="http://schemas.openxmlformats.org/drawingml/2006/main"/>
        </p:txBody>
      </p:sp>
      <p:sp>
        <p:nvSpPr>
          <p:cNvPr id="47" name="Text 45">
            <a:extLst xmlns:a="http://schemas.openxmlformats.org/drawingml/2006/main">
              <a:ext uri="{FF2B5EF4-FFF2-40B4-BE49-F238E27FC236}">
                <a16:creationId xmlns:a16="http://schemas.microsoft.com/office/drawing/2014/main" id="{0AC9066D-3CB7-45F6-ACE6-22B7E9EECD26}"/>
              </a:ext>
            </a:extLst>
          </p:cNvPr>
          <p:cNvSpPr>
            <a:spLocks xmlns:a="http://schemas.openxmlformats.org/drawingml/2006/main" noGrp="1"/>
          </p:cNvSpPr>
          <p:nvPr/>
        </p:nvSpPr>
        <p:spPr>
          <a:xfrm xmlns:a="http://schemas.openxmlformats.org/drawingml/2006/main">
            <a:off x="4462272"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C05B30"/>
                </a:solidFill>
                <a:latin typeface="Calibri"/>
                <a:ea typeface="Calibri"/>
                <a:cs typeface="Calibri"/>
              </a:rPr>
              <a:t>RISK NEUTRAL</a:t>
            </a:r>
          </a:p>
        </p:txBody>
      </p:sp>
      <p:sp>
        <p:nvSpPr>
          <p:cNvPr id="48" name="Shape 46">
            <a:extLst xmlns:a="http://schemas.openxmlformats.org/drawingml/2006/main">
              <a:ext uri="{FF2B5EF4-FFF2-40B4-BE49-F238E27FC236}">
                <a16:creationId xmlns:a16="http://schemas.microsoft.com/office/drawing/2014/main" id="{EDF19E9D-A756-458E-90DE-F11F245292C8}"/>
              </a:ext>
            </a:extLst>
          </p:cNvPr>
          <p:cNvSpPr>
            <a:spLocks xmlns:a="http://schemas.openxmlformats.org/drawingml/2006/main" noGrp="1"/>
          </p:cNvSpPr>
          <p:nvPr/>
        </p:nvSpPr>
        <p:spPr>
          <a:xfrm xmlns:a="http://schemas.openxmlformats.org/drawingml/2006/main">
            <a:off x="4270248"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49" name="Text 47">
            <a:extLst xmlns:a="http://schemas.openxmlformats.org/drawingml/2006/main">
              <a:ext uri="{FF2B5EF4-FFF2-40B4-BE49-F238E27FC236}">
                <a16:creationId xmlns:a16="http://schemas.microsoft.com/office/drawing/2014/main" id="{FCCAA529-93BE-45D9-AA74-BB71309AC7BF}"/>
              </a:ext>
            </a:extLst>
          </p:cNvPr>
          <p:cNvSpPr>
            <a:spLocks xmlns:a="http://schemas.openxmlformats.org/drawingml/2006/main" noGrp="1"/>
          </p:cNvSpPr>
          <p:nvPr/>
        </p:nvSpPr>
        <p:spPr>
          <a:xfrm xmlns:a="http://schemas.openxmlformats.org/drawingml/2006/main">
            <a:off x="427024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50" name="Text 48">
            <a:extLst xmlns:a="http://schemas.openxmlformats.org/drawingml/2006/main">
              <a:ext uri="{FF2B5EF4-FFF2-40B4-BE49-F238E27FC236}">
                <a16:creationId xmlns:a16="http://schemas.microsoft.com/office/drawing/2014/main" id="{17D373B4-DD8C-4190-8ED6-5920C3B57C0F}"/>
              </a:ext>
            </a:extLst>
          </p:cNvPr>
          <p:cNvSpPr>
            <a:spLocks xmlns:a="http://schemas.openxmlformats.org/drawingml/2006/main" noGrp="1"/>
          </p:cNvSpPr>
          <p:nvPr/>
        </p:nvSpPr>
        <p:spPr>
          <a:xfrm xmlns:a="http://schemas.openxmlformats.org/drawingml/2006/main">
            <a:off x="427024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$205,000</a:t>
            </a:r>
          </a:p>
        </p:txBody>
      </p:sp>
      <p:sp>
        <p:nvSpPr>
          <p:cNvPr id="51" name="Text 49">
            <a:extLst xmlns:a="http://schemas.openxmlformats.org/drawingml/2006/main">
              <a:ext uri="{FF2B5EF4-FFF2-40B4-BE49-F238E27FC236}">
                <a16:creationId xmlns:a16="http://schemas.microsoft.com/office/drawing/2014/main" id="{5693FA75-71F4-4D81-AA63-F490501897D4}"/>
              </a:ext>
            </a:extLst>
          </p:cNvPr>
          <p:cNvSpPr>
            <a:spLocks xmlns:a="http://schemas.openxmlformats.org/drawingml/2006/main" noGrp="1"/>
          </p:cNvSpPr>
          <p:nvPr/>
        </p:nvSpPr>
        <p:spPr>
          <a:xfrm xmlns:a="http://schemas.openxmlformats.org/drawingml/2006/main">
            <a:off x="6007608"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52" name="Text 50">
            <a:extLst xmlns:a="http://schemas.openxmlformats.org/drawingml/2006/main">
              <a:ext uri="{FF2B5EF4-FFF2-40B4-BE49-F238E27FC236}">
                <a16:creationId xmlns:a16="http://schemas.microsoft.com/office/drawing/2014/main" id="{2C1C928C-F885-4F3F-98B5-ADE1A8BB644D}"/>
              </a:ext>
            </a:extLst>
          </p:cNvPr>
          <p:cNvSpPr>
            <a:spLocks xmlns:a="http://schemas.openxmlformats.org/drawingml/2006/main" noGrp="1"/>
          </p:cNvSpPr>
          <p:nvPr/>
        </p:nvSpPr>
        <p:spPr>
          <a:xfrm xmlns:a="http://schemas.openxmlformats.org/drawingml/2006/main">
            <a:off x="6007608"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$780,000</a:t>
            </a:r>
          </a:p>
        </p:txBody>
      </p:sp>
      <p:sp>
        <p:nvSpPr>
          <p:cNvPr id="53" name="Shape 51">
            <a:extLst xmlns:a="http://schemas.openxmlformats.org/drawingml/2006/main">
              <a:ext uri="{FF2B5EF4-FFF2-40B4-BE49-F238E27FC236}">
                <a16:creationId xmlns:a16="http://schemas.microsoft.com/office/drawing/2014/main" id="{1AA92162-502D-45EE-893B-529666E54E1A}"/>
              </a:ext>
            </a:extLst>
          </p:cNvPr>
          <p:cNvSpPr>
            <a:spLocks xmlns:a="http://schemas.openxmlformats.org/drawingml/2006/main" noGrp="1"/>
          </p:cNvSpPr>
          <p:nvPr/>
        </p:nvSpPr>
        <p:spPr>
          <a:xfrm xmlns:a="http://schemas.openxmlformats.org/drawingml/2006/main">
            <a:off x="4270248" y="3456432"/>
            <a:ext cx="3291840" cy="804672"/>
          </a:xfrm>
          <a:prstGeom xmlns:a="http://schemas.openxmlformats.org/drawingml/2006/main" prst="rect">
            <a:avLst/>
          </a:prstGeom>
          <a:solidFill xmlns:a="http://schemas.openxmlformats.org/drawingml/2006/main">
            <a:srgbClr val="F0D0D0"/>
          </a:solidFill>
          <a:ln xmlns:a="http://schemas.openxmlformats.org/drawingml/2006/main" w="12700">
            <a:solidFill>
              <a:srgbClr val="F0D0D0"/>
            </a:solidFill>
            <a:prstDash val="solid"/>
          </a:ln>
        </p:spPr>
        <p:txBody>
          <a:bodyPr xmlns:a="http://schemas.openxmlformats.org/drawingml/2006/main"/>
          <a:lstStyle xmlns:a="http://schemas.openxmlformats.org/drawingml/2006/main"/>
          <a:p xmlns:a="http://schemas.openxmlformats.org/drawingml/2006/main"/>
        </p:txBody>
      </p:sp>
      <p:sp>
        <p:nvSpPr>
          <p:cNvPr id="54" name="Shape 52">
            <a:extLst xmlns:a="http://schemas.openxmlformats.org/drawingml/2006/main">
              <a:ext uri="{FF2B5EF4-FFF2-40B4-BE49-F238E27FC236}">
                <a16:creationId xmlns:a16="http://schemas.microsoft.com/office/drawing/2014/main" id="{C99F5B5A-54BA-4541-9FD0-164E48EA50CE}"/>
              </a:ext>
            </a:extLst>
          </p:cNvPr>
          <p:cNvSpPr>
            <a:spLocks xmlns:a="http://schemas.openxmlformats.org/drawingml/2006/main" noGrp="1"/>
          </p:cNvSpPr>
          <p:nvPr/>
        </p:nvSpPr>
        <p:spPr>
          <a:xfrm xmlns:a="http://schemas.openxmlformats.org/drawingml/2006/main">
            <a:off x="4270248" y="3456432"/>
            <a:ext cx="54864" cy="804672"/>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55" name="Text 53">
            <a:extLst xmlns:a="http://schemas.openxmlformats.org/drawingml/2006/main">
              <a:ext uri="{FF2B5EF4-FFF2-40B4-BE49-F238E27FC236}">
                <a16:creationId xmlns:a16="http://schemas.microsoft.com/office/drawing/2014/main" id="{F57DF732-3458-4606-9F50-850C618ED661}"/>
              </a:ext>
            </a:extLst>
          </p:cNvPr>
          <p:cNvSpPr>
            <a:spLocks xmlns:a="http://schemas.openxmlformats.org/drawingml/2006/main" noGrp="1"/>
          </p:cNvSpPr>
          <p:nvPr/>
        </p:nvSpPr>
        <p:spPr>
          <a:xfrm xmlns:a="http://schemas.openxmlformats.org/drawingml/2006/main">
            <a:off x="4389120"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8B1A1A"/>
                </a:solidFill>
                <a:latin typeface="Calibri"/>
                <a:ea typeface="Calibri"/>
                <a:cs typeface="Calibri"/>
              </a:rPr>
              <a:t>PRIMARY GOAL</a:t>
            </a:r>
          </a:p>
        </p:txBody>
      </p:sp>
      <p:sp>
        <p:nvSpPr>
          <p:cNvPr id="56" name="Text 54">
            <a:extLst xmlns:a="http://schemas.openxmlformats.org/drawingml/2006/main">
              <a:ext uri="{FF2B5EF4-FFF2-40B4-BE49-F238E27FC236}">
                <a16:creationId xmlns:a16="http://schemas.microsoft.com/office/drawing/2014/main" id="{83BE17F5-1223-4256-B402-30CE26D6F2C9}"/>
              </a:ext>
            </a:extLst>
          </p:cNvPr>
          <p:cNvSpPr>
            <a:spLocks xmlns:a="http://schemas.openxmlformats.org/drawingml/2006/main" noGrp="1"/>
          </p:cNvSpPr>
          <p:nvPr/>
        </p:nvSpPr>
        <p:spPr>
          <a:xfrm xmlns:a="http://schemas.openxmlformats.org/drawingml/2006/main">
            <a:off x="4389120"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Career Break / Retirement</a:t>
            </a:r>
          </a:p>
        </p:txBody>
      </p:sp>
      <p:sp>
        <p:nvSpPr>
          <p:cNvPr id="57" name="Shape 55">
            <a:extLst xmlns:a="http://schemas.openxmlformats.org/drawingml/2006/main">
              <a:ext uri="{FF2B5EF4-FFF2-40B4-BE49-F238E27FC236}">
                <a16:creationId xmlns:a16="http://schemas.microsoft.com/office/drawing/2014/main" id="{12B75C82-30E9-4297-8AD6-BC8BDAE86296}"/>
              </a:ext>
            </a:extLst>
          </p:cNvPr>
          <p:cNvSpPr>
            <a:spLocks xmlns:a="http://schemas.openxmlformats.org/drawingml/2006/main" noGrp="1"/>
          </p:cNvSpPr>
          <p:nvPr/>
        </p:nvSpPr>
        <p:spPr>
          <a:xfrm xmlns:a="http://schemas.openxmlformats.org/drawingml/2006/main">
            <a:off x="4270248"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58" name="Text 56">
            <a:extLst xmlns:a="http://schemas.openxmlformats.org/drawingml/2006/main">
              <a:ext uri="{FF2B5EF4-FFF2-40B4-BE49-F238E27FC236}">
                <a16:creationId xmlns:a16="http://schemas.microsoft.com/office/drawing/2014/main" id="{789A0CCC-D585-4E92-8894-FAC99FE7E7E4}"/>
              </a:ext>
            </a:extLst>
          </p:cNvPr>
          <p:cNvSpPr>
            <a:spLocks xmlns:a="http://schemas.openxmlformats.org/drawingml/2006/main" noGrp="1"/>
          </p:cNvSpPr>
          <p:nvPr/>
        </p:nvSpPr>
        <p:spPr>
          <a:xfrm xmlns:a="http://schemas.openxmlformats.org/drawingml/2006/main">
            <a:off x="4389120"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59" name="Text 57">
            <a:extLst xmlns:a="http://schemas.openxmlformats.org/drawingml/2006/main">
              <a:ext uri="{FF2B5EF4-FFF2-40B4-BE49-F238E27FC236}">
                <a16:creationId xmlns:a16="http://schemas.microsoft.com/office/drawing/2014/main" id="{0F030B8E-5B89-44D1-AF0C-895890926FE7}"/>
              </a:ext>
            </a:extLst>
          </p:cNvPr>
          <p:cNvSpPr>
            <a:spLocks xmlns:a="http://schemas.openxmlformats.org/drawingml/2006/main" noGrp="1"/>
          </p:cNvSpPr>
          <p:nvPr/>
        </p:nvSpPr>
        <p:spPr>
          <a:xfrm xmlns:a="http://schemas.openxmlformats.org/drawingml/2006/main">
            <a:off x="4389120"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$100k career break in 4 yrs; 20-yr retirement</a:t>
            </a:r>
          </a:p>
        </p:txBody>
      </p:sp>
      <p:sp>
        <p:nvSpPr>
          <p:cNvPr id="60" name="Shape 58">
            <a:extLst xmlns:a="http://schemas.openxmlformats.org/drawingml/2006/main">
              <a:ext uri="{FF2B5EF4-FFF2-40B4-BE49-F238E27FC236}">
                <a16:creationId xmlns:a16="http://schemas.microsoft.com/office/drawing/2014/main" id="{C8F3E105-FB37-4CFA-A6EC-59FEF146586D}"/>
              </a:ext>
            </a:extLst>
          </p:cNvPr>
          <p:cNvSpPr>
            <a:spLocks xmlns:a="http://schemas.openxmlformats.org/drawingml/2006/main" noGrp="1"/>
          </p:cNvSpPr>
          <p:nvPr/>
        </p:nvSpPr>
        <p:spPr>
          <a:xfrm xmlns:a="http://schemas.openxmlformats.org/drawingml/2006/main">
            <a:off x="4270248" y="5230368"/>
            <a:ext cx="1097280" cy="877824"/>
          </a:xfrm>
          <a:prstGeom xmlns:a="http://schemas.openxmlformats.org/drawingml/2006/main" prst="rect">
            <a:avLst/>
          </a:prstGeom>
          <a:solidFill xmlns:a="http://schemas.openxmlformats.org/drawingml/2006/main">
            <a:srgbClr val="8B1A1A"/>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1" name="Text 59">
            <a:extLst xmlns:a="http://schemas.openxmlformats.org/drawingml/2006/main">
              <a:ext uri="{FF2B5EF4-FFF2-40B4-BE49-F238E27FC236}">
                <a16:creationId xmlns:a16="http://schemas.microsoft.com/office/drawing/2014/main" id="{770125D4-B108-437D-812F-317460BA89B4}"/>
              </a:ext>
            </a:extLst>
          </p:cNvPr>
          <p:cNvSpPr>
            <a:spLocks xmlns:a="http://schemas.openxmlformats.org/drawingml/2006/main" noGrp="1"/>
          </p:cNvSpPr>
          <p:nvPr/>
        </p:nvSpPr>
        <p:spPr>
          <a:xfrm xmlns:a="http://schemas.openxmlformats.org/drawingml/2006/main">
            <a:off x="428853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62" name="Text 60">
            <a:extLst xmlns:a="http://schemas.openxmlformats.org/drawingml/2006/main">
              <a:ext uri="{FF2B5EF4-FFF2-40B4-BE49-F238E27FC236}">
                <a16:creationId xmlns:a16="http://schemas.microsoft.com/office/drawing/2014/main" id="{026186E8-2951-4E01-B25A-4487429D3BFA}"/>
              </a:ext>
            </a:extLst>
          </p:cNvPr>
          <p:cNvSpPr>
            <a:spLocks xmlns:a="http://schemas.openxmlformats.org/drawingml/2006/main" noGrp="1"/>
          </p:cNvSpPr>
          <p:nvPr/>
        </p:nvSpPr>
        <p:spPr>
          <a:xfrm xmlns:a="http://schemas.openxmlformats.org/drawingml/2006/main">
            <a:off x="431596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7.0%</a:t>
            </a:r>
          </a:p>
        </p:txBody>
      </p:sp>
      <p:sp>
        <p:nvSpPr>
          <p:cNvPr id="63" name="Shape 61">
            <a:extLst xmlns:a="http://schemas.openxmlformats.org/drawingml/2006/main">
              <a:ext uri="{FF2B5EF4-FFF2-40B4-BE49-F238E27FC236}">
                <a16:creationId xmlns:a16="http://schemas.microsoft.com/office/drawing/2014/main" id="{8816860E-4694-4A64-8AAC-D50BB9447F5E}"/>
              </a:ext>
            </a:extLst>
          </p:cNvPr>
          <p:cNvSpPr>
            <a:spLocks xmlns:a="http://schemas.openxmlformats.org/drawingml/2006/main" noGrp="1"/>
          </p:cNvSpPr>
          <p:nvPr/>
        </p:nvSpPr>
        <p:spPr>
          <a:xfrm xmlns:a="http://schemas.openxmlformats.org/drawingml/2006/main">
            <a:off x="5367528"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4" name="Text 62">
            <a:extLst xmlns:a="http://schemas.openxmlformats.org/drawingml/2006/main">
              <a:ext uri="{FF2B5EF4-FFF2-40B4-BE49-F238E27FC236}">
                <a16:creationId xmlns:a16="http://schemas.microsoft.com/office/drawing/2014/main" id="{E6464BB4-71B4-42DD-A959-DB445647A286}"/>
              </a:ext>
            </a:extLst>
          </p:cNvPr>
          <p:cNvSpPr>
            <a:spLocks xmlns:a="http://schemas.openxmlformats.org/drawingml/2006/main" noGrp="1"/>
          </p:cNvSpPr>
          <p:nvPr/>
        </p:nvSpPr>
        <p:spPr>
          <a:xfrm xmlns:a="http://schemas.openxmlformats.org/drawingml/2006/main">
            <a:off x="538581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65" name="Text 63">
            <a:extLst xmlns:a="http://schemas.openxmlformats.org/drawingml/2006/main">
              <a:ext uri="{FF2B5EF4-FFF2-40B4-BE49-F238E27FC236}">
                <a16:creationId xmlns:a16="http://schemas.microsoft.com/office/drawing/2014/main" id="{3A5A746E-DC4F-47C1-B80B-96C100FCDEF3}"/>
              </a:ext>
            </a:extLst>
          </p:cNvPr>
          <p:cNvSpPr>
            <a:spLocks xmlns:a="http://schemas.openxmlformats.org/drawingml/2006/main" noGrp="1"/>
          </p:cNvSpPr>
          <p:nvPr/>
        </p:nvSpPr>
        <p:spPr>
          <a:xfrm xmlns:a="http://schemas.openxmlformats.org/drawingml/2006/main">
            <a:off x="541324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13.0%</a:t>
            </a:r>
          </a:p>
        </p:txBody>
      </p:sp>
      <p:sp>
        <p:nvSpPr>
          <p:cNvPr id="66" name="Shape 64">
            <a:extLst xmlns:a="http://schemas.openxmlformats.org/drawingml/2006/main">
              <a:ext uri="{FF2B5EF4-FFF2-40B4-BE49-F238E27FC236}">
                <a16:creationId xmlns:a16="http://schemas.microsoft.com/office/drawing/2014/main" id="{0CA679BB-BF22-4F42-A8EA-F2D7C20E8A0F}"/>
              </a:ext>
            </a:extLst>
          </p:cNvPr>
          <p:cNvSpPr>
            <a:spLocks xmlns:a="http://schemas.openxmlformats.org/drawingml/2006/main" noGrp="1"/>
          </p:cNvSpPr>
          <p:nvPr/>
        </p:nvSpPr>
        <p:spPr>
          <a:xfrm xmlns:a="http://schemas.openxmlformats.org/drawingml/2006/main">
            <a:off x="6464808"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7" name="Text 65">
            <a:extLst xmlns:a="http://schemas.openxmlformats.org/drawingml/2006/main">
              <a:ext uri="{FF2B5EF4-FFF2-40B4-BE49-F238E27FC236}">
                <a16:creationId xmlns:a16="http://schemas.microsoft.com/office/drawing/2014/main" id="{57D4CD42-5FB8-4EE1-807E-54B31D4FC330}"/>
              </a:ext>
            </a:extLst>
          </p:cNvPr>
          <p:cNvSpPr>
            <a:spLocks xmlns:a="http://schemas.openxmlformats.org/drawingml/2006/main" noGrp="1"/>
          </p:cNvSpPr>
          <p:nvPr/>
        </p:nvSpPr>
        <p:spPr>
          <a:xfrm xmlns:a="http://schemas.openxmlformats.org/drawingml/2006/main">
            <a:off x="6483096"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68" name="Text 66">
            <a:extLst xmlns:a="http://schemas.openxmlformats.org/drawingml/2006/main">
              <a:ext uri="{FF2B5EF4-FFF2-40B4-BE49-F238E27FC236}">
                <a16:creationId xmlns:a16="http://schemas.microsoft.com/office/drawing/2014/main" id="{0551414F-7723-41EF-87EC-1E9C632B1042}"/>
              </a:ext>
            </a:extLst>
          </p:cNvPr>
          <p:cNvSpPr>
            <a:spLocks xmlns:a="http://schemas.openxmlformats.org/drawingml/2006/main" noGrp="1"/>
          </p:cNvSpPr>
          <p:nvPr/>
        </p:nvSpPr>
        <p:spPr>
          <a:xfrm xmlns:a="http://schemas.openxmlformats.org/drawingml/2006/main">
            <a:off x="6510528"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4.0</a:t>
            </a:r>
          </a:p>
        </p:txBody>
      </p:sp>
      <p:sp>
        <p:nvSpPr>
          <p:cNvPr id="69" name="Shape 67">
            <a:extLst xmlns:a="http://schemas.openxmlformats.org/drawingml/2006/main">
              <a:ext uri="{FF2B5EF4-FFF2-40B4-BE49-F238E27FC236}">
                <a16:creationId xmlns:a16="http://schemas.microsoft.com/office/drawing/2014/main" id="{6CD6A837-4168-4598-BA21-799E20EEE33C}"/>
              </a:ext>
            </a:extLst>
          </p:cNvPr>
          <p:cNvSpPr>
            <a:spLocks xmlns:a="http://schemas.openxmlformats.org/drawingml/2006/main" noGrp="1"/>
          </p:cNvSpPr>
          <p:nvPr/>
        </p:nvSpPr>
        <p:spPr>
          <a:xfrm xmlns:a="http://schemas.openxmlformats.org/drawingml/2006/main">
            <a:off x="7946136" y="1188720"/>
            <a:ext cx="3749040" cy="5212080"/>
          </a:xfrm>
          <a:prstGeom xmlns:a="http://schemas.openxmlformats.org/drawingml/2006/main" prst="rect">
            <a:avLst/>
          </a:prstGeom>
          <a:solidFill xmlns:a="http://schemas.openxmlformats.org/drawingml/2006/main">
            <a:srgbClr val="FFFFFF"/>
          </a:solidFill>
          <a:ln xmlns:a="http://schemas.openxmlformats.org/drawingml/2006/main" w="6350">
            <a:solidFill>
              <a:srgbClr val="E8E2D8"/>
            </a:solidFill>
            <a:prstDash val="solid"/>
          </a:ln>
          <a:effectLst xmlns:a="http://schemas.openxmlformats.org/drawingml/2006/main">
            <a:outerShdw blurRad="101600" dist="254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p:txBody>
      </p:sp>
      <p:sp>
        <p:nvSpPr>
          <p:cNvPr id="70" name="Shape 68">
            <a:extLst xmlns:a="http://schemas.openxmlformats.org/drawingml/2006/main">
              <a:ext uri="{FF2B5EF4-FFF2-40B4-BE49-F238E27FC236}">
                <a16:creationId xmlns:a16="http://schemas.microsoft.com/office/drawing/2014/main" id="{40DA7865-55BE-4D64-A3D3-1367E79E84B3}"/>
              </a:ext>
            </a:extLst>
          </p:cNvPr>
          <p:cNvSpPr>
            <a:spLocks xmlns:a="http://schemas.openxmlformats.org/drawingml/2006/main" noGrp="1"/>
          </p:cNvSpPr>
          <p:nvPr/>
        </p:nvSpPr>
        <p:spPr>
          <a:xfrm xmlns:a="http://schemas.openxmlformats.org/drawingml/2006/main">
            <a:off x="7946136" y="1188720"/>
            <a:ext cx="3749040" cy="109728"/>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71" name="Shape 69">
            <a:extLst xmlns:a="http://schemas.openxmlformats.org/drawingml/2006/main">
              <a:ext uri="{FF2B5EF4-FFF2-40B4-BE49-F238E27FC236}">
                <a16:creationId xmlns:a16="http://schemas.microsoft.com/office/drawing/2014/main" id="{2D8AE7E7-B12F-4AD2-846F-D2E48C7C21A6}"/>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ellipse">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72" name="Text 70">
            <a:extLst xmlns:a="http://schemas.openxmlformats.org/drawingml/2006/main">
              <a:ext uri="{FF2B5EF4-FFF2-40B4-BE49-F238E27FC236}">
                <a16:creationId xmlns:a16="http://schemas.microsoft.com/office/drawing/2014/main" id="{88ED9BBD-C644-426E-98EE-3B98C8E1822D}"/>
              </a:ext>
            </a:extLst>
          </p:cNvPr>
          <p:cNvSpPr>
            <a:spLocks xmlns:a="http://schemas.openxmlformats.org/drawingml/2006/main" noGrp="1"/>
          </p:cNvSpPr>
          <p:nvPr/>
        </p:nvSpPr>
        <p:spPr>
          <a:xfrm xmlns:a="http://schemas.openxmlformats.org/drawingml/2006/main">
            <a:off x="8174736" y="1444752"/>
            <a:ext cx="74980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Georgia"/>
                <a:ea typeface="Georgia"/>
                <a:cs typeface="Georgia"/>
              </a:rPr>
              <a:t>AC</a:t>
            </a:r>
          </a:p>
        </p:txBody>
      </p:sp>
      <p:sp>
        <p:nvSpPr>
          <p:cNvPr id="73" name="Text 71">
            <a:extLst xmlns:a="http://schemas.openxmlformats.org/drawingml/2006/main">
              <a:ext uri="{FF2B5EF4-FFF2-40B4-BE49-F238E27FC236}">
                <a16:creationId xmlns:a16="http://schemas.microsoft.com/office/drawing/2014/main" id="{5B777AD6-5482-4778-B887-17B38D776CD6}"/>
              </a:ext>
            </a:extLst>
          </p:cNvPr>
          <p:cNvSpPr>
            <a:spLocks xmlns:a="http://schemas.openxmlformats.org/drawingml/2006/main" noGrp="1"/>
          </p:cNvSpPr>
          <p:nvPr/>
        </p:nvSpPr>
        <p:spPr>
          <a:xfrm xmlns:a="http://schemas.openxmlformats.org/drawingml/2006/main">
            <a:off x="10232136" y="1353312"/>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AAAAAA"/>
                </a:solidFill>
                <a:latin typeface="Calibri"/>
                <a:ea typeface="Calibri"/>
                <a:cs typeface="Calibri"/>
              </a:rPr>
              <a:t>CASE #18</a:t>
            </a:r>
          </a:p>
        </p:txBody>
      </p:sp>
      <p:sp>
        <p:nvSpPr>
          <p:cNvPr id="74" name="Text 72">
            <a:extLst xmlns:a="http://schemas.openxmlformats.org/drawingml/2006/main">
              <a:ext uri="{FF2B5EF4-FFF2-40B4-BE49-F238E27FC236}">
                <a16:creationId xmlns:a16="http://schemas.microsoft.com/office/drawing/2014/main" id="{1917A345-642D-4D1A-A66E-E7EB80FAA0EF}"/>
              </a:ext>
            </a:extLst>
          </p:cNvPr>
          <p:cNvSpPr>
            <a:spLocks xmlns:a="http://schemas.openxmlformats.org/drawingml/2006/main" noGrp="1"/>
          </p:cNvSpPr>
          <p:nvPr/>
        </p:nvSpPr>
        <p:spPr>
          <a:xfrm xmlns:a="http://schemas.openxmlformats.org/drawingml/2006/main">
            <a:off x="9025128" y="144475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1A1410"/>
                </a:solidFill>
                <a:latin typeface="Georgia"/>
                <a:ea typeface="Georgia"/>
                <a:cs typeface="Georgia"/>
              </a:rPr>
              <a:t>Adrian Cole</a:t>
            </a:r>
          </a:p>
        </p:txBody>
      </p:sp>
      <p:sp>
        <p:nvSpPr>
          <p:cNvPr id="75" name="Text 73">
            <a:extLst xmlns:a="http://schemas.openxmlformats.org/drawingml/2006/main">
              <a:ext uri="{FF2B5EF4-FFF2-40B4-BE49-F238E27FC236}">
                <a16:creationId xmlns:a16="http://schemas.microsoft.com/office/drawing/2014/main" id="{0AF284E5-D67D-4271-806F-CC9D6D899E28}"/>
              </a:ext>
            </a:extLst>
          </p:cNvPr>
          <p:cNvSpPr>
            <a:spLocks xmlns:a="http://schemas.openxmlformats.org/drawingml/2006/main" noGrp="1"/>
          </p:cNvSpPr>
          <p:nvPr/>
        </p:nvSpPr>
        <p:spPr>
          <a:xfrm xmlns:a="http://schemas.openxmlformats.org/drawingml/2006/main">
            <a:off x="9025128" y="1847088"/>
            <a:ext cx="2560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00">
                <a:solidFill>
                  <a:srgbClr val="888888"/>
                </a:solidFill>
                <a:latin typeface="Calibri"/>
                <a:ea typeface="Calibri"/>
                <a:cs typeface="Calibri"/>
              </a:rPr>
              <a:t>Age 35  ·  Airline Pilot</a:t>
            </a:r>
          </a:p>
        </p:txBody>
      </p:sp>
      <p:sp>
        <p:nvSpPr>
          <p:cNvPr id="76" name="Shape 74">
            <a:extLst xmlns:a="http://schemas.openxmlformats.org/drawingml/2006/main">
              <a:ext uri="{FF2B5EF4-FFF2-40B4-BE49-F238E27FC236}">
                <a16:creationId xmlns:a16="http://schemas.microsoft.com/office/drawing/2014/main" id="{2ECBE23C-12D1-40DF-9811-DA847BF80318}"/>
              </a:ext>
            </a:extLst>
          </p:cNvPr>
          <p:cNvSpPr>
            <a:spLocks xmlns:a="http://schemas.openxmlformats.org/drawingml/2006/main" noGrp="1"/>
          </p:cNvSpPr>
          <p:nvPr/>
        </p:nvSpPr>
        <p:spPr>
          <a:xfrm xmlns:a="http://schemas.openxmlformats.org/drawingml/2006/main">
            <a:off x="8174736" y="2322576"/>
            <a:ext cx="1325880" cy="237744"/>
          </a:xfrm>
          <a:prstGeom xmlns:a="http://schemas.openxmlformats.org/drawingml/2006/main" prst="rect">
            <a:avLst/>
          </a:prstGeom>
          <a:solidFill xmlns:a="http://schemas.openxmlformats.org/drawingml/2006/main">
            <a:srgbClr val="E8F5EE"/>
          </a:solidFill>
          <a:ln xmlns:a="http://schemas.openxmlformats.org/drawingml/2006/main" w="12700">
            <a:solidFill>
              <a:srgbClr val="E8F5EE"/>
            </a:solidFill>
            <a:prstDash val="solid"/>
          </a:ln>
        </p:spPr>
        <p:txBody>
          <a:bodyPr xmlns:a="http://schemas.openxmlformats.org/drawingml/2006/main"/>
          <a:lstStyle xmlns:a="http://schemas.openxmlformats.org/drawingml/2006/main"/>
          <a:p xmlns:a="http://schemas.openxmlformats.org/drawingml/2006/main"/>
        </p:txBody>
      </p:sp>
      <p:sp>
        <p:nvSpPr>
          <p:cNvPr id="77" name="Shape 75">
            <a:extLst xmlns:a="http://schemas.openxmlformats.org/drawingml/2006/main">
              <a:ext uri="{FF2B5EF4-FFF2-40B4-BE49-F238E27FC236}">
                <a16:creationId xmlns:a16="http://schemas.microsoft.com/office/drawing/2014/main" id="{EE28ECEB-F56E-463D-B381-677AC1FEB57D}"/>
              </a:ext>
            </a:extLst>
          </p:cNvPr>
          <p:cNvSpPr>
            <a:spLocks xmlns:a="http://schemas.openxmlformats.org/drawingml/2006/main" noGrp="1"/>
          </p:cNvSpPr>
          <p:nvPr/>
        </p:nvSpPr>
        <p:spPr>
          <a:xfrm xmlns:a="http://schemas.openxmlformats.org/drawingml/2006/main">
            <a:off x="8238744" y="2382012"/>
            <a:ext cx="91440" cy="91440"/>
          </a:xfrm>
          <a:prstGeom xmlns:a="http://schemas.openxmlformats.org/drawingml/2006/main" prst="ellipse">
            <a:avLst/>
          </a:prstGeom>
          <a:solidFill xmlns:a="http://schemas.openxmlformats.org/drawingml/2006/main">
            <a:srgbClr val="2D8A5E"/>
          </a:solidFill>
          <a:ln xmlns:a="http://schemas.openxmlformats.org/drawingml/2006/main" w="12700">
            <a:solidFill>
              <a:srgbClr val="2D8A5E"/>
            </a:solidFill>
            <a:prstDash val="solid"/>
          </a:ln>
        </p:spPr>
        <p:txBody>
          <a:bodyPr xmlns:a="http://schemas.openxmlformats.org/drawingml/2006/main"/>
          <a:lstStyle xmlns:a="http://schemas.openxmlformats.org/drawingml/2006/main"/>
          <a:p xmlns:a="http://schemas.openxmlformats.org/drawingml/2006/main"/>
        </p:txBody>
      </p:sp>
      <p:sp>
        <p:nvSpPr>
          <p:cNvPr id="78" name="Text 76">
            <a:extLst xmlns:a="http://schemas.openxmlformats.org/drawingml/2006/main">
              <a:ext uri="{FF2B5EF4-FFF2-40B4-BE49-F238E27FC236}">
                <a16:creationId xmlns:a16="http://schemas.microsoft.com/office/drawing/2014/main" id="{8759DA92-30D6-4C7C-BB62-D760AD33B431}"/>
              </a:ext>
            </a:extLst>
          </p:cNvPr>
          <p:cNvSpPr>
            <a:spLocks xmlns:a="http://schemas.openxmlformats.org/drawingml/2006/main" noGrp="1"/>
          </p:cNvSpPr>
          <p:nvPr/>
        </p:nvSpPr>
        <p:spPr>
          <a:xfrm xmlns:a="http://schemas.openxmlformats.org/drawingml/2006/main">
            <a:off x="8366760" y="2322576"/>
            <a:ext cx="1133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00" b="1">
                <a:solidFill>
                  <a:srgbClr val="2D8A5E"/>
                </a:solidFill>
                <a:latin typeface="Calibri"/>
                <a:ea typeface="Calibri"/>
                <a:cs typeface="Calibri"/>
              </a:rPr>
              <a:t>RISK SEEKING</a:t>
            </a:r>
          </a:p>
        </p:txBody>
      </p:sp>
      <p:sp>
        <p:nvSpPr>
          <p:cNvPr id="79" name="Shape 77">
            <a:extLst xmlns:a="http://schemas.openxmlformats.org/drawingml/2006/main">
              <a:ext uri="{FF2B5EF4-FFF2-40B4-BE49-F238E27FC236}">
                <a16:creationId xmlns:a16="http://schemas.microsoft.com/office/drawing/2014/main" id="{B93A88A8-FA2F-4135-84FE-070BE7CC9471}"/>
              </a:ext>
            </a:extLst>
          </p:cNvPr>
          <p:cNvSpPr>
            <a:spLocks xmlns:a="http://schemas.openxmlformats.org/drawingml/2006/main" noGrp="1"/>
          </p:cNvSpPr>
          <p:nvPr/>
        </p:nvSpPr>
        <p:spPr>
          <a:xfrm xmlns:a="http://schemas.openxmlformats.org/drawingml/2006/main">
            <a:off x="8174736" y="2724912"/>
            <a:ext cx="3291840" cy="0"/>
          </a:xfrm>
          <a:prstGeom xmlns:a="http://schemas.openxmlformats.org/drawingml/2006/main" prst="line">
            <a:avLst/>
          </a:prstGeom>
          <a:noFill xmlns:a="http://schemas.openxmlformats.org/drawingml/2006/main"/>
          <a:ln xmlns:a="http://schemas.openxmlformats.org/drawingml/2006/main" w="6350">
            <a:solidFill>
              <a:srgbClr val="E0D8CC"/>
            </a:solidFill>
            <a:prstDash val="solid"/>
          </a:ln>
        </p:spPr>
        <p:txBody>
          <a:bodyPr xmlns:a="http://schemas.openxmlformats.org/drawingml/2006/main"/>
          <a:lstStyle xmlns:a="http://schemas.openxmlformats.org/drawingml/2006/main"/>
          <a:p xmlns:a="http://schemas.openxmlformats.org/drawingml/2006/main"/>
        </p:txBody>
      </p:sp>
      <p:sp>
        <p:nvSpPr>
          <p:cNvPr id="80" name="Text 78">
            <a:extLst xmlns:a="http://schemas.openxmlformats.org/drawingml/2006/main">
              <a:ext uri="{FF2B5EF4-FFF2-40B4-BE49-F238E27FC236}">
                <a16:creationId xmlns:a16="http://schemas.microsoft.com/office/drawing/2014/main" id="{97C4A658-F687-499C-A506-F5FA8DAE4750}"/>
              </a:ext>
            </a:extLst>
          </p:cNvPr>
          <p:cNvSpPr>
            <a:spLocks xmlns:a="http://schemas.openxmlformats.org/drawingml/2006/main" noGrp="1"/>
          </p:cNvSpPr>
          <p:nvPr/>
        </p:nvSpPr>
        <p:spPr>
          <a:xfrm xmlns:a="http://schemas.openxmlformats.org/drawingml/2006/main">
            <a:off x="817473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ANNUAL INCOME</a:t>
            </a:r>
          </a:p>
        </p:txBody>
      </p:sp>
      <p:sp>
        <p:nvSpPr>
          <p:cNvPr id="81" name="Text 79">
            <a:extLst xmlns:a="http://schemas.openxmlformats.org/drawingml/2006/main">
              <a:ext uri="{FF2B5EF4-FFF2-40B4-BE49-F238E27FC236}">
                <a16:creationId xmlns:a16="http://schemas.microsoft.com/office/drawing/2014/main" id="{9F05672F-7C80-474D-801E-7753E80C387D}"/>
              </a:ext>
            </a:extLst>
          </p:cNvPr>
          <p:cNvSpPr>
            <a:spLocks xmlns:a="http://schemas.openxmlformats.org/drawingml/2006/main" noGrp="1"/>
          </p:cNvSpPr>
          <p:nvPr/>
        </p:nvSpPr>
        <p:spPr>
          <a:xfrm xmlns:a="http://schemas.openxmlformats.org/drawingml/2006/main">
            <a:off x="817473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$180,000</a:t>
            </a:r>
          </a:p>
        </p:txBody>
      </p:sp>
      <p:sp>
        <p:nvSpPr>
          <p:cNvPr id="82" name="Text 80">
            <a:extLst xmlns:a="http://schemas.openxmlformats.org/drawingml/2006/main">
              <a:ext uri="{FF2B5EF4-FFF2-40B4-BE49-F238E27FC236}">
                <a16:creationId xmlns:a16="http://schemas.microsoft.com/office/drawing/2014/main" id="{3F14F857-DCA7-43F8-A2F8-897354BB9FC0}"/>
              </a:ext>
            </a:extLst>
          </p:cNvPr>
          <p:cNvSpPr>
            <a:spLocks xmlns:a="http://schemas.openxmlformats.org/drawingml/2006/main" noGrp="1"/>
          </p:cNvSpPr>
          <p:nvPr/>
        </p:nvSpPr>
        <p:spPr>
          <a:xfrm xmlns:a="http://schemas.openxmlformats.org/drawingml/2006/main">
            <a:off x="9912096" y="2816352"/>
            <a:ext cx="1645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NET WORTH</a:t>
            </a:r>
          </a:p>
        </p:txBody>
      </p:sp>
      <p:sp>
        <p:nvSpPr>
          <p:cNvPr id="83" name="Text 81">
            <a:extLst xmlns:a="http://schemas.openxmlformats.org/drawingml/2006/main">
              <a:ext uri="{FF2B5EF4-FFF2-40B4-BE49-F238E27FC236}">
                <a16:creationId xmlns:a16="http://schemas.microsoft.com/office/drawing/2014/main" id="{3DDEFBCB-D953-4D24-9949-3F6FAB941274}"/>
              </a:ext>
            </a:extLst>
          </p:cNvPr>
          <p:cNvSpPr>
            <a:spLocks xmlns:a="http://schemas.openxmlformats.org/drawingml/2006/main" noGrp="1"/>
          </p:cNvSpPr>
          <p:nvPr/>
        </p:nvSpPr>
        <p:spPr>
          <a:xfrm xmlns:a="http://schemas.openxmlformats.org/drawingml/2006/main">
            <a:off x="9912096" y="2999232"/>
            <a:ext cx="1645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b="1">
                <a:solidFill>
                  <a:srgbClr val="1A1410"/>
                </a:solidFill>
                <a:latin typeface="Georgia"/>
                <a:ea typeface="Georgia"/>
                <a:cs typeface="Georgia"/>
              </a:rPr>
              <a:t>$650,000</a:t>
            </a:r>
          </a:p>
        </p:txBody>
      </p:sp>
      <p:sp>
        <p:nvSpPr>
          <p:cNvPr id="84" name="Shape 82">
            <a:extLst xmlns:a="http://schemas.openxmlformats.org/drawingml/2006/main">
              <a:ext uri="{FF2B5EF4-FFF2-40B4-BE49-F238E27FC236}">
                <a16:creationId xmlns:a16="http://schemas.microsoft.com/office/drawing/2014/main" id="{FD4045EA-30ED-457A-9984-F3D77FB7F3B3}"/>
              </a:ext>
            </a:extLst>
          </p:cNvPr>
          <p:cNvSpPr>
            <a:spLocks xmlns:a="http://schemas.openxmlformats.org/drawingml/2006/main" noGrp="1"/>
          </p:cNvSpPr>
          <p:nvPr/>
        </p:nvSpPr>
        <p:spPr>
          <a:xfrm xmlns:a="http://schemas.openxmlformats.org/drawingml/2006/main">
            <a:off x="8174736" y="3456432"/>
            <a:ext cx="3291840" cy="804672"/>
          </a:xfrm>
          <a:prstGeom xmlns:a="http://schemas.openxmlformats.org/drawingml/2006/main" prst="rect">
            <a:avLst/>
          </a:prstGeom>
          <a:solidFill xmlns:a="http://schemas.openxmlformats.org/drawingml/2006/main">
            <a:srgbClr val="F0D0D0"/>
          </a:solidFill>
          <a:ln xmlns:a="http://schemas.openxmlformats.org/drawingml/2006/main" w="12700">
            <a:solidFill>
              <a:srgbClr val="F0D0D0"/>
            </a:solidFill>
            <a:prstDash val="solid"/>
          </a:ln>
        </p:spPr>
        <p:txBody>
          <a:bodyPr xmlns:a="http://schemas.openxmlformats.org/drawingml/2006/main"/>
          <a:lstStyle xmlns:a="http://schemas.openxmlformats.org/drawingml/2006/main"/>
          <a:p xmlns:a="http://schemas.openxmlformats.org/drawingml/2006/main"/>
        </p:txBody>
      </p:sp>
      <p:sp>
        <p:nvSpPr>
          <p:cNvPr id="85" name="Shape 83">
            <a:extLst xmlns:a="http://schemas.openxmlformats.org/drawingml/2006/main">
              <a:ext uri="{FF2B5EF4-FFF2-40B4-BE49-F238E27FC236}">
                <a16:creationId xmlns:a16="http://schemas.microsoft.com/office/drawing/2014/main" id="{8125C087-E929-4722-A75F-6D1A94C32FBC}"/>
              </a:ext>
            </a:extLst>
          </p:cNvPr>
          <p:cNvSpPr>
            <a:spLocks xmlns:a="http://schemas.openxmlformats.org/drawingml/2006/main" noGrp="1"/>
          </p:cNvSpPr>
          <p:nvPr/>
        </p:nvSpPr>
        <p:spPr>
          <a:xfrm xmlns:a="http://schemas.openxmlformats.org/drawingml/2006/main">
            <a:off x="8174736" y="3456432"/>
            <a:ext cx="54864" cy="804672"/>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86" name="Text 84">
            <a:extLst xmlns:a="http://schemas.openxmlformats.org/drawingml/2006/main">
              <a:ext uri="{FF2B5EF4-FFF2-40B4-BE49-F238E27FC236}">
                <a16:creationId xmlns:a16="http://schemas.microsoft.com/office/drawing/2014/main" id="{37653717-4120-406E-8096-F3DCEE8015C5}"/>
              </a:ext>
            </a:extLst>
          </p:cNvPr>
          <p:cNvSpPr>
            <a:spLocks xmlns:a="http://schemas.openxmlformats.org/drawingml/2006/main" noGrp="1"/>
          </p:cNvSpPr>
          <p:nvPr/>
        </p:nvSpPr>
        <p:spPr>
          <a:xfrm xmlns:a="http://schemas.openxmlformats.org/drawingml/2006/main">
            <a:off x="8293608" y="3493008"/>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8B1A1A"/>
                </a:solidFill>
                <a:latin typeface="Calibri"/>
                <a:ea typeface="Calibri"/>
                <a:cs typeface="Calibri"/>
              </a:rPr>
              <a:t>PRIMARY GOAL</a:t>
            </a:r>
          </a:p>
        </p:txBody>
      </p:sp>
      <p:sp>
        <p:nvSpPr>
          <p:cNvPr id="87" name="Text 85">
            <a:extLst xmlns:a="http://schemas.openxmlformats.org/drawingml/2006/main">
              <a:ext uri="{FF2B5EF4-FFF2-40B4-BE49-F238E27FC236}">
                <a16:creationId xmlns:a16="http://schemas.microsoft.com/office/drawing/2014/main" id="{7E6C7934-70DF-4FB8-86E5-34D7B0438507}"/>
              </a:ext>
            </a:extLst>
          </p:cNvPr>
          <p:cNvSpPr>
            <a:spLocks xmlns:a="http://schemas.openxmlformats.org/drawingml/2006/main" noGrp="1"/>
          </p:cNvSpPr>
          <p:nvPr/>
        </p:nvSpPr>
        <p:spPr>
          <a:xfrm xmlns:a="http://schemas.openxmlformats.org/drawingml/2006/main">
            <a:off x="8293608" y="3657600"/>
            <a:ext cx="3291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50" i="1">
                <a:solidFill>
                  <a:srgbClr val="1A1410"/>
                </a:solidFill>
                <a:latin typeface="Georgia"/>
                <a:ea typeface="Georgia"/>
                <a:cs typeface="Georgia"/>
              </a:rPr>
              <a:t>Long-term Financial Independence</a:t>
            </a:r>
          </a:p>
        </p:txBody>
      </p:sp>
      <p:sp>
        <p:nvSpPr>
          <p:cNvPr id="88" name="Shape 86">
            <a:extLst xmlns:a="http://schemas.openxmlformats.org/drawingml/2006/main">
              <a:ext uri="{FF2B5EF4-FFF2-40B4-BE49-F238E27FC236}">
                <a16:creationId xmlns:a16="http://schemas.microsoft.com/office/drawing/2014/main" id="{EC4FFFEC-C0F0-40D0-B79C-534DB5A20146}"/>
              </a:ext>
            </a:extLst>
          </p:cNvPr>
          <p:cNvSpPr>
            <a:spLocks xmlns:a="http://schemas.openxmlformats.org/drawingml/2006/main" noGrp="1"/>
          </p:cNvSpPr>
          <p:nvPr/>
        </p:nvSpPr>
        <p:spPr>
          <a:xfrm xmlns:a="http://schemas.openxmlformats.org/drawingml/2006/main">
            <a:off x="8174736" y="4407408"/>
            <a:ext cx="3291840" cy="658368"/>
          </a:xfrm>
          <a:prstGeom xmlns:a="http://schemas.openxmlformats.org/drawingml/2006/main" prst="rect">
            <a:avLst/>
          </a:prstGeom>
          <a:solidFill xmlns:a="http://schemas.openxmlformats.org/drawingml/2006/main">
            <a:srgbClr val="F8F5F0"/>
          </a:solidFill>
          <a:ln xmlns:a="http://schemas.openxmlformats.org/drawingml/2006/main" w="6350">
            <a:solidFill>
              <a:srgbClr val="D8D0C4"/>
            </a:solidFill>
            <a:prstDash val="dash"/>
          </a:ln>
        </p:spPr>
        <p:txBody>
          <a:bodyPr xmlns:a="http://schemas.openxmlformats.org/drawingml/2006/main"/>
          <a:lstStyle xmlns:a="http://schemas.openxmlformats.org/drawingml/2006/main"/>
          <a:p xmlns:a="http://schemas.openxmlformats.org/drawingml/2006/main"/>
        </p:txBody>
      </p:sp>
      <p:sp>
        <p:nvSpPr>
          <p:cNvPr id="89" name="Text 87">
            <a:extLst xmlns:a="http://schemas.openxmlformats.org/drawingml/2006/main">
              <a:ext uri="{FF2B5EF4-FFF2-40B4-BE49-F238E27FC236}">
                <a16:creationId xmlns:a16="http://schemas.microsoft.com/office/drawing/2014/main" id="{3997D47A-7FAF-462D-9634-C64E5E6D5EB7}"/>
              </a:ext>
            </a:extLst>
          </p:cNvPr>
          <p:cNvSpPr>
            <a:spLocks xmlns:a="http://schemas.openxmlformats.org/drawingml/2006/main" noGrp="1"/>
          </p:cNvSpPr>
          <p:nvPr/>
        </p:nvSpPr>
        <p:spPr>
          <a:xfrm xmlns:a="http://schemas.openxmlformats.org/drawingml/2006/main">
            <a:off x="8293608" y="4443984"/>
            <a:ext cx="3291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a:solidFill>
                  <a:srgbClr val="AAAAAA"/>
                </a:solidFill>
                <a:latin typeface="Calibri"/>
                <a:ea typeface="Calibri"/>
                <a:cs typeface="Calibri"/>
              </a:rPr>
              <a:t>KEY CONSTRAINTS</a:t>
            </a:r>
          </a:p>
        </p:txBody>
      </p:sp>
      <p:sp>
        <p:nvSpPr>
          <p:cNvPr id="90" name="Text 88">
            <a:extLst xmlns:a="http://schemas.openxmlformats.org/drawingml/2006/main">
              <a:ext uri="{FF2B5EF4-FFF2-40B4-BE49-F238E27FC236}">
                <a16:creationId xmlns:a16="http://schemas.microsoft.com/office/drawing/2014/main" id="{FF7180ED-8731-40B7-AFDE-B777852E5978}"/>
              </a:ext>
            </a:extLst>
          </p:cNvPr>
          <p:cNvSpPr>
            <a:spLocks xmlns:a="http://schemas.openxmlformats.org/drawingml/2006/main" noGrp="1"/>
          </p:cNvSpPr>
          <p:nvPr/>
        </p:nvSpPr>
        <p:spPr>
          <a:xfrm xmlns:a="http://schemas.openxmlformats.org/drawingml/2006/main">
            <a:off x="8293608" y="4608576"/>
            <a:ext cx="3291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a:solidFill>
                  <a:srgbClr val="555555"/>
                </a:solidFill>
                <a:latin typeface="Calibri"/>
                <a:ea typeface="Calibri"/>
                <a:cs typeface="Calibri"/>
              </a:rPr>
              <a:t>25-yr horizon; cash reserve outside portfolio</a:t>
            </a:r>
          </a:p>
        </p:txBody>
      </p:sp>
      <p:sp>
        <p:nvSpPr>
          <p:cNvPr id="91" name="Shape 89">
            <a:extLst xmlns:a="http://schemas.openxmlformats.org/drawingml/2006/main">
              <a:ext uri="{FF2B5EF4-FFF2-40B4-BE49-F238E27FC236}">
                <a16:creationId xmlns:a16="http://schemas.microsoft.com/office/drawing/2014/main" id="{882750A5-95B9-4AAD-8112-EF01064DAB9E}"/>
              </a:ext>
            </a:extLst>
          </p:cNvPr>
          <p:cNvSpPr>
            <a:spLocks xmlns:a="http://schemas.openxmlformats.org/drawingml/2006/main" noGrp="1"/>
          </p:cNvSpPr>
          <p:nvPr/>
        </p:nvSpPr>
        <p:spPr>
          <a:xfrm xmlns:a="http://schemas.openxmlformats.org/drawingml/2006/main">
            <a:off x="8174736" y="5230368"/>
            <a:ext cx="1097280" cy="877824"/>
          </a:xfrm>
          <a:prstGeom xmlns:a="http://schemas.openxmlformats.org/drawingml/2006/main" prst="rect">
            <a:avLst/>
          </a:prstGeom>
          <a:solidFill xmlns:a="http://schemas.openxmlformats.org/drawingml/2006/main">
            <a:srgbClr val="8B1A1A"/>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2" name="Text 90">
            <a:extLst xmlns:a="http://schemas.openxmlformats.org/drawingml/2006/main">
              <a:ext uri="{FF2B5EF4-FFF2-40B4-BE49-F238E27FC236}">
                <a16:creationId xmlns:a16="http://schemas.microsoft.com/office/drawing/2014/main" id="{D42A368D-E429-401E-B7AB-516F4BB6676A}"/>
              </a:ext>
            </a:extLst>
          </p:cNvPr>
          <p:cNvSpPr>
            <a:spLocks xmlns:a="http://schemas.openxmlformats.org/drawingml/2006/main" noGrp="1"/>
          </p:cNvSpPr>
          <p:nvPr/>
        </p:nvSpPr>
        <p:spPr>
          <a:xfrm xmlns:a="http://schemas.openxmlformats.org/drawingml/2006/main">
            <a:off x="819302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E(R)</a:t>
            </a:r>
          </a:p>
        </p:txBody>
      </p:sp>
      <p:sp>
        <p:nvSpPr>
          <p:cNvPr id="93" name="Text 91">
            <a:extLst xmlns:a="http://schemas.openxmlformats.org/drawingml/2006/main">
              <a:ext uri="{FF2B5EF4-FFF2-40B4-BE49-F238E27FC236}">
                <a16:creationId xmlns:a16="http://schemas.microsoft.com/office/drawing/2014/main" id="{5DAD0904-92A6-4EF1-A229-A19C79BCD91D}"/>
              </a:ext>
            </a:extLst>
          </p:cNvPr>
          <p:cNvSpPr>
            <a:spLocks xmlns:a="http://schemas.openxmlformats.org/drawingml/2006/main" noGrp="1"/>
          </p:cNvSpPr>
          <p:nvPr/>
        </p:nvSpPr>
        <p:spPr>
          <a:xfrm xmlns:a="http://schemas.openxmlformats.org/drawingml/2006/main">
            <a:off x="822045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9.5%</a:t>
            </a:r>
          </a:p>
        </p:txBody>
      </p:sp>
      <p:sp>
        <p:nvSpPr>
          <p:cNvPr id="94" name="Shape 92">
            <a:extLst xmlns:a="http://schemas.openxmlformats.org/drawingml/2006/main">
              <a:ext uri="{FF2B5EF4-FFF2-40B4-BE49-F238E27FC236}">
                <a16:creationId xmlns:a16="http://schemas.microsoft.com/office/drawing/2014/main" id="{7DF5E700-3FD8-4D4C-8338-33D85C70DC1E}"/>
              </a:ext>
            </a:extLst>
          </p:cNvPr>
          <p:cNvSpPr>
            <a:spLocks xmlns:a="http://schemas.openxmlformats.org/drawingml/2006/main" noGrp="1"/>
          </p:cNvSpPr>
          <p:nvPr/>
        </p:nvSpPr>
        <p:spPr>
          <a:xfrm xmlns:a="http://schemas.openxmlformats.org/drawingml/2006/main">
            <a:off x="9272016" y="5230368"/>
            <a:ext cx="1097280" cy="877824"/>
          </a:xfrm>
          <a:prstGeom xmlns:a="http://schemas.openxmlformats.org/drawingml/2006/main" prst="rect">
            <a:avLst/>
          </a:prstGeom>
          <a:solidFill xmlns:a="http://schemas.openxmlformats.org/drawingml/2006/main">
            <a:srgbClr val="263545"/>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5" name="Text 93">
            <a:extLst xmlns:a="http://schemas.openxmlformats.org/drawingml/2006/main">
              <a:ext uri="{FF2B5EF4-FFF2-40B4-BE49-F238E27FC236}">
                <a16:creationId xmlns:a16="http://schemas.microsoft.com/office/drawing/2014/main" id="{4F67E60D-01C3-438E-BEC1-11BE5625F55B}"/>
              </a:ext>
            </a:extLst>
          </p:cNvPr>
          <p:cNvSpPr>
            <a:spLocks xmlns:a="http://schemas.openxmlformats.org/drawingml/2006/main" noGrp="1"/>
          </p:cNvSpPr>
          <p:nvPr/>
        </p:nvSpPr>
        <p:spPr>
          <a:xfrm xmlns:a="http://schemas.openxmlformats.org/drawingml/2006/main">
            <a:off x="929030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STD DEV</a:t>
            </a:r>
          </a:p>
        </p:txBody>
      </p:sp>
      <p:sp>
        <p:nvSpPr>
          <p:cNvPr id="96" name="Text 94">
            <a:extLst xmlns:a="http://schemas.openxmlformats.org/drawingml/2006/main">
              <a:ext uri="{FF2B5EF4-FFF2-40B4-BE49-F238E27FC236}">
                <a16:creationId xmlns:a16="http://schemas.microsoft.com/office/drawing/2014/main" id="{6F860F8C-C517-4A8F-B8B3-73ECE8F97FD0}"/>
              </a:ext>
            </a:extLst>
          </p:cNvPr>
          <p:cNvSpPr>
            <a:spLocks xmlns:a="http://schemas.openxmlformats.org/drawingml/2006/main" noGrp="1"/>
          </p:cNvSpPr>
          <p:nvPr/>
        </p:nvSpPr>
        <p:spPr>
          <a:xfrm xmlns:a="http://schemas.openxmlformats.org/drawingml/2006/main">
            <a:off x="931773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20.0%</a:t>
            </a:r>
          </a:p>
        </p:txBody>
      </p:sp>
      <p:sp>
        <p:nvSpPr>
          <p:cNvPr id="97" name="Shape 95">
            <a:extLst xmlns:a="http://schemas.openxmlformats.org/drawingml/2006/main">
              <a:ext uri="{FF2B5EF4-FFF2-40B4-BE49-F238E27FC236}">
                <a16:creationId xmlns:a16="http://schemas.microsoft.com/office/drawing/2014/main" id="{9E426DF4-0202-495D-911F-7D1ADD675B3B}"/>
              </a:ext>
            </a:extLst>
          </p:cNvPr>
          <p:cNvSpPr>
            <a:spLocks xmlns:a="http://schemas.openxmlformats.org/drawingml/2006/main" noGrp="1"/>
          </p:cNvSpPr>
          <p:nvPr/>
        </p:nvSpPr>
        <p:spPr>
          <a:xfrm xmlns:a="http://schemas.openxmlformats.org/drawingml/2006/main">
            <a:off x="10369296" y="5230368"/>
            <a:ext cx="1097280" cy="877824"/>
          </a:xfrm>
          <a:prstGeom xmlns:a="http://schemas.openxmlformats.org/drawingml/2006/main" prst="rect">
            <a:avLst/>
          </a:prstGeom>
          <a:solidFill xmlns:a="http://schemas.openxmlformats.org/drawingml/2006/main">
            <a:srgbClr val="1A1410"/>
          </a:solidFill>
          <a:ln xmlns:a="http://schemas.openxmlformats.org/drawingml/2006/main" w="6350">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8" name="Text 96">
            <a:extLst xmlns:a="http://schemas.openxmlformats.org/drawingml/2006/main">
              <a:ext uri="{FF2B5EF4-FFF2-40B4-BE49-F238E27FC236}">
                <a16:creationId xmlns:a16="http://schemas.microsoft.com/office/drawing/2014/main" id="{3A381DCE-B1A1-4608-AD2E-432392801770}"/>
              </a:ext>
            </a:extLst>
          </p:cNvPr>
          <p:cNvSpPr>
            <a:spLocks xmlns:a="http://schemas.openxmlformats.org/drawingml/2006/main" noGrp="1"/>
          </p:cNvSpPr>
          <p:nvPr/>
        </p:nvSpPr>
        <p:spPr>
          <a:xfrm xmlns:a="http://schemas.openxmlformats.org/drawingml/2006/main">
            <a:off x="10387584" y="5285232"/>
            <a:ext cx="1060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50">
                <a:solidFill>
                  <a:srgbClr val="FFFFFF">
                    <a:alpha val="65000"/>
                  </a:srgbClr>
                </a:solidFill>
                <a:latin typeface="Calibri"/>
                <a:ea typeface="Calibri"/>
                <a:cs typeface="Calibri"/>
              </a:rPr>
              <a:t>RISK A</a:t>
            </a:r>
          </a:p>
        </p:txBody>
      </p:sp>
      <p:sp>
        <p:nvSpPr>
          <p:cNvPr id="99" name="Text 97">
            <a:extLst xmlns:a="http://schemas.openxmlformats.org/drawingml/2006/main">
              <a:ext uri="{FF2B5EF4-FFF2-40B4-BE49-F238E27FC236}">
                <a16:creationId xmlns:a16="http://schemas.microsoft.com/office/drawing/2014/main" id="{DD146FEC-EEC1-44C9-86B9-87455A656921}"/>
              </a:ext>
            </a:extLst>
          </p:cNvPr>
          <p:cNvSpPr>
            <a:spLocks xmlns:a="http://schemas.openxmlformats.org/drawingml/2006/main" noGrp="1"/>
          </p:cNvSpPr>
          <p:nvPr/>
        </p:nvSpPr>
        <p:spPr>
          <a:xfrm xmlns:a="http://schemas.openxmlformats.org/drawingml/2006/main">
            <a:off x="10415016" y="5486400"/>
            <a:ext cx="1005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Georgia"/>
                <a:ea typeface="Georgia"/>
                <a:cs typeface="Georgia"/>
              </a:rPr>
              <a:t>2.0</a:t>
            </a:r>
          </a:p>
        </p:txBody>
      </p:sp>
      <p:sp>
        <p:nvSpPr>
          <p:cNvPr id="100" name="Shape 98">
            <a:extLst xmlns:a="http://schemas.openxmlformats.org/drawingml/2006/main">
              <a:ext uri="{FF2B5EF4-FFF2-40B4-BE49-F238E27FC236}">
                <a16:creationId xmlns:a16="http://schemas.microsoft.com/office/drawing/2014/main" id="{60C78A13-A47D-420A-9172-DE7E9D96542A}"/>
              </a:ext>
            </a:extLst>
          </p:cNvPr>
          <p:cNvSpPr>
            <a:spLocks xmlns:a="http://schemas.openxmlformats.org/drawingml/2006/main" noGrp="1"/>
          </p:cNvSpPr>
          <p:nvPr/>
        </p:nvSpPr>
        <p:spPr>
          <a:xfrm xmlns:a="http://schemas.openxmlformats.org/drawingml/2006/main">
            <a:off x="0" y="6565392"/>
            <a:ext cx="12161520" cy="292608"/>
          </a:xfrm>
          <a:prstGeom xmlns:a="http://schemas.openxmlformats.org/drawingml/2006/main" prst="rect">
            <a:avLst/>
          </a:prstGeom>
          <a:solidFill xmlns:a="http://schemas.openxmlformats.org/drawingml/2006/main">
            <a:srgbClr val="8B1A1A"/>
          </a:solidFill>
          <a:ln xmlns:a="http://schemas.openxmlformats.org/drawingml/2006/main" w="12700">
            <a:solidFill>
              <a:srgbClr val="8B1A1A"/>
            </a:solidFill>
            <a:prstDash val="solid"/>
          </a:ln>
        </p:spPr>
        <p:txBody>
          <a:bodyPr xmlns:a="http://schemas.openxmlformats.org/drawingml/2006/main"/>
          <a:lstStyle xmlns:a="http://schemas.openxmlformats.org/drawingml/2006/main"/>
          <a:p xmlns:a="http://schemas.openxmlformats.org/drawingml/2006/main"/>
        </p:txBody>
      </p:sp>
      <p:sp>
        <p:nvSpPr>
          <p:cNvPr id="101" name="Text 99">
            <a:extLst xmlns:a="http://schemas.openxmlformats.org/drawingml/2006/main">
              <a:ext uri="{FF2B5EF4-FFF2-40B4-BE49-F238E27FC236}">
                <a16:creationId xmlns:a16="http://schemas.microsoft.com/office/drawing/2014/main" id="{1673FAF9-5D76-44B5-865C-4E28436E03D0}"/>
              </a:ext>
            </a:extLst>
          </p:cNvPr>
          <p:cNvSpPr>
            <a:spLocks xmlns:a="http://schemas.openxmlformats.org/drawingml/2006/main" noGrp="1"/>
          </p:cNvSpPr>
          <p:nvPr/>
        </p:nvSpPr>
        <p:spPr>
          <a:xfrm xmlns:a="http://schemas.openxmlformats.org/drawingml/2006/main">
            <a:off x="274320" y="6565392"/>
            <a:ext cx="11612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FFFFFF">
                    <a:alpha val="65000"/>
                  </a:srgbClr>
                </a:solidFill>
                <a:latin typeface="Calibri"/>
                <a:ea typeface="Calibri"/>
                <a:cs typeface="Calibri"/>
              </a:rPr>
              <a:t>BUS331 Investments  ·  Endicott College  ·  Team Six</a:t>
            </a:r>
          </a:p>
        </p:txBody>
      </p:sp>
    </p:spTree>
    <p:extLst>
      <p:ext uri="{BB962C8B-B14F-4D97-AF65-F5344CB8AC3E}">
        <p14:creationId xmlns:p14="http://schemas.microsoft.com/office/powerpoint/2010/main" val="168397018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2026-10-05T23:16:19.0650000Z</dcterms:created>
  <dcterms:modified xsi:type="dcterms:W3CDTF">2026-10-05T23:16:19.0650000Z</dcterms:modified>
</coreProperties>
</file>