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cf4a93ac7374b87" /><Relationship Type="http://schemas.openxmlformats.org/officeDocument/2006/relationships/extended-properties" Target="/docProps/app.xml" Id="Re84b839532ce4f95" /><Relationship Type="http://schemas.openxmlformats.org/officeDocument/2006/relationships/officeDocument" Target="/ppt/presentation.xml" Id="R8b10209fd1e34d54" /></Relationships>
</file>

<file path=ppt/presentation.xml><?xml version="1.0" encoding="utf-8"?>
<p:presentation xmlns:p="http://schemas.openxmlformats.org/presentationml/2006/main">
  <p:sldMasterIdLst>
    <p:sldMasterId xmlns:r="http://schemas.openxmlformats.org/officeDocument/2006/relationships" id="2147483648" r:id="R3ce5d0192c7d47a0"/>
  </p:sldMasterIdLst>
  <p:notesMasterIdLst>
    <p:notesMasterId xmlns:r="http://schemas.openxmlformats.org/officeDocument/2006/relationships" r:id="R1d00c023e06d4705"/>
  </p:notesMasterIdLst>
  <p:sldIdLst>
    <p:sldId xmlns:r="http://schemas.openxmlformats.org/officeDocument/2006/relationships" id="256" r:id="Rcd8ea88bd0a244a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90a68da28aa4f28" /><Relationship Type="http://schemas.openxmlformats.org/officeDocument/2006/relationships/slideMaster" Target="/ppt/slideMasters/slideMaster1.xml" Id="R3ce5d0192c7d47a0" /><Relationship Type="http://schemas.openxmlformats.org/officeDocument/2006/relationships/notesMaster" Target="/ppt/notesMasters/notesMaster1.xml" Id="R1d00c023e06d4705" /><Relationship Type="http://schemas.openxmlformats.org/officeDocument/2006/relationships/presProps" Target="/ppt/presProps.xml" Id="R873062f0ef404c24" /><Relationship Type="http://schemas.openxmlformats.org/officeDocument/2006/relationships/viewProps" Target="/ppt/viewProps.xml" Id="R4ed1510139cd4b22" /><Relationship Type="http://schemas.openxmlformats.org/officeDocument/2006/relationships/tableStyles" Target="/ppt/tableStyles.xml" Id="R61117fd1a2f34940" /><Relationship Type="http://schemas.openxmlformats.org/officeDocument/2006/relationships/slide" Target="/ppt/slides/slide1.xml" Id="Rcd8ea88bd0a244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bfb9c75b80489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0113f4f09b44479" /><Relationship Type="http://schemas.openxmlformats.org/officeDocument/2006/relationships/notesMaster" Target="/ppt/notesMasters/notesMaster1.xml" Id="Ra2ce3ade4a52403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classroom cases. Annual target returns and standard deviations are supplied scenario inputs, not forecasts or guarantees. Risk classification follows the supplied workbook thresholds: A &gt; 4.5 Risk Averse; A &lt;= 2.5 Risk Seeking; otherwise Risk Neutral.</a:t>
            </a:r>
          </a:p>
          <a:p xmlns:a="http://schemas.openxmlformats.org/drawingml/2006/main">
            <a:r>
              <a:t/>
            </a:r>
          </a:p>
          <a:p xmlns:a="http://schemas.openxmlformats.org/drawingml/2006/main">
            <a:r>
              <a:t>Nora Ellis: Nora supports an adult sibling with a mobility disability. She expects $90,000 of home accessibility improvements in two years and needs a separate reserve for ongoing family care. Her investment priority is dependable access to capital, with limited willingness to accept losses. The amount and timing of future care costs are not provided.</a:t>
            </a:r>
          </a:p>
          <a:p xmlns:a="http://schemas.openxmlformats.org/drawingml/2006/main">
            <a:r>
              <a:t/>
            </a:r>
          </a:p>
          <a:p xmlns:a="http://schemas.openxmlformats.org/drawingml/2006/main">
            <a:r>
              <a:t>Priya &amp; Owen Brooks: Priya and Owen plan a one-year career break beginning in four years, with a $100,000 spending budget. They also want to keep building retirement wealth over a 20-year horizon. They accept moderate investment fluctuations, but the career-break money must be available when needed. Replacement income during the break and account tax treatment are not provided.</a:t>
            </a:r>
          </a:p>
          <a:p xmlns:a="http://schemas.openxmlformats.org/drawingml/2006/main">
            <a:r>
              <a:t/>
            </a:r>
          </a:p>
          <a:p xmlns:a="http://schemas.openxmlformats.org/drawingml/2006/main">
            <a:r>
              <a:t>Adrian Cole: Adrian earns a stable salary and invests toward financial independence over 25 years. He maintains an emergency cash reserve outside the investment portfolio and expects no planned withdrawals from the portfolio during the next ten years. He is willing to accept substantial fluctuations for growth. The reserve amount, future contribution rate, and maximum acceptable drawdown are not provided.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210a22afcb4646"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fb966e993e4987" /><Relationship Type="http://schemas.openxmlformats.org/officeDocument/2006/relationships/slideLayout" Target="/ppt/slideLayouts/slideLayout1.xml" Id="R42b48ee3f2e143b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b48ee3f2e143b3"/>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e41508ab9864c92" /><Relationship Type="http://schemas.openxmlformats.org/officeDocument/2006/relationships/notesSlide" Target="/ppt/notesSlides/notesSlide1.xml" Id="R0f1cc7659bb54ba1" /></Relationships>
</file>

<file path=ppt/slides/slide1.xml><?xml version="1.0" encoding="utf-8"?>
<p:sld xmlns:p="http://schemas.openxmlformats.org/presentationml/2006/main">
  <p:cSld>
    <p:bg>
      <p:bgPr>
        <a:solidFill xmlns:a="http://schemas.openxmlformats.org/drawingml/2006/main">
          <a:srgbClr val="F5F0E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69F0251-E423-4FBA-846B-159646F29927}"/>
              </a:ext>
            </a:extLst>
          </p:cNvPr>
          <p:cNvSpPr>
            <a:spLocks xmlns:a="http://schemas.openxmlformats.org/drawingml/2006/main" noGrp="1"/>
          </p:cNvSpPr>
          <p:nvPr/>
        </p:nvSpPr>
        <p:spPr>
          <a:xfrm xmlns:a="http://schemas.openxmlformats.org/drawingml/2006/main">
            <a:off x="0" y="0"/>
            <a:ext cx="12161520" cy="1005840"/>
          </a:xfrm>
          <a:prstGeom xmlns:a="http://schemas.openxmlformats.org/drawingml/2006/main" prst="rect">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A7BA8A7E-4B4A-4ED2-A7CF-4629172E65C8}"/>
              </a:ext>
            </a:extLst>
          </p:cNvPr>
          <p:cNvSpPr>
            <a:spLocks xmlns:a="http://schemas.openxmlformats.org/drawingml/2006/main" noGrp="1"/>
          </p:cNvSpPr>
          <p:nvPr/>
        </p:nvSpPr>
        <p:spPr>
          <a:xfrm xmlns:a="http://schemas.openxmlformats.org/drawingml/2006/main">
            <a:off x="91440" y="-45720"/>
            <a:ext cx="14630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200" b="1">
                <a:solidFill>
                  <a:srgbClr val="FFFFFF">
                    <a:alpha val="25000"/>
                  </a:srgbClr>
                </a:solidFill>
                <a:latin typeface="Georgia"/>
                <a:ea typeface="Georgia"/>
                <a:cs typeface="Georgia"/>
              </a:rPr>
              <a:t>06</a:t>
            </a:r>
          </a:p>
        </p:txBody>
      </p:sp>
      <p:sp>
        <p:nvSpPr>
          <p:cNvPr id="4" name="Text 2">
            <a:extLst xmlns:a="http://schemas.openxmlformats.org/drawingml/2006/main">
              <a:ext uri="{FF2B5EF4-FFF2-40B4-BE49-F238E27FC236}">
                <a16:creationId xmlns:a16="http://schemas.microsoft.com/office/drawing/2014/main" id="{74EDD47B-550C-4110-96D0-587922BCA7ED}"/>
              </a:ext>
            </a:extLst>
          </p:cNvPr>
          <p:cNvSpPr>
            <a:spLocks xmlns:a="http://schemas.openxmlformats.org/drawingml/2006/main" noGrp="1"/>
          </p:cNvSpPr>
          <p:nvPr/>
        </p:nvSpPr>
        <p:spPr>
          <a:xfrm xmlns:a="http://schemas.openxmlformats.org/drawingml/2006/main">
            <a:off x="1371600" y="73152"/>
            <a:ext cx="4572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FFFFFF">
                    <a:alpha val="60000"/>
                  </a:srgbClr>
                </a:solidFill>
                <a:latin typeface="Calibri"/>
                <a:ea typeface="Calibri"/>
                <a:cs typeface="Calibri"/>
              </a:rPr>
              <a:t>TEAM SIX</a:t>
            </a:r>
          </a:p>
        </p:txBody>
      </p:sp>
      <p:sp>
        <p:nvSpPr>
          <p:cNvPr id="5" name="Text 3">
            <a:extLst xmlns:a="http://schemas.openxmlformats.org/drawingml/2006/main">
              <a:ext uri="{FF2B5EF4-FFF2-40B4-BE49-F238E27FC236}">
                <a16:creationId xmlns:a16="http://schemas.microsoft.com/office/drawing/2014/main" id="{69F23FA8-2481-4A74-BD79-3B7E4F5063D4}"/>
              </a:ext>
            </a:extLst>
          </p:cNvPr>
          <p:cNvSpPr>
            <a:spLocks xmlns:a="http://schemas.openxmlformats.org/drawingml/2006/main" noGrp="1"/>
          </p:cNvSpPr>
          <p:nvPr/>
        </p:nvSpPr>
        <p:spPr>
          <a:xfrm xmlns:a="http://schemas.openxmlformats.org/drawingml/2006/main">
            <a:off x="1371600" y="457200"/>
            <a:ext cx="7315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600" b="1">
                <a:solidFill>
                  <a:srgbClr val="FFFFFF"/>
                </a:solidFill>
                <a:latin typeface="Georgia"/>
                <a:ea typeface="Georgia"/>
                <a:cs typeface="Georgia"/>
              </a:rPr>
              <a:t>Team Six · Client Profiles</a:t>
            </a:r>
          </a:p>
        </p:txBody>
      </p:sp>
      <p:sp>
        <p:nvSpPr>
          <p:cNvPr id="6" name="Text 4">
            <a:extLst xmlns:a="http://schemas.openxmlformats.org/drawingml/2006/main">
              <a:ext uri="{FF2B5EF4-FFF2-40B4-BE49-F238E27FC236}">
                <a16:creationId xmlns:a16="http://schemas.microsoft.com/office/drawing/2014/main" id="{AD7EB897-2A80-4802-87B4-5F7DEEF2E963}"/>
              </a:ext>
            </a:extLst>
          </p:cNvPr>
          <p:cNvSpPr>
            <a:spLocks xmlns:a="http://schemas.openxmlformats.org/drawingml/2006/main" noGrp="1"/>
          </p:cNvSpPr>
          <p:nvPr/>
        </p:nvSpPr>
        <p:spPr>
          <a:xfrm xmlns:a="http://schemas.openxmlformats.org/drawingml/2006/main">
            <a:off x="10789920" y="274320"/>
            <a:ext cx="11887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FFFFFF">
                    <a:alpha val="50000"/>
                  </a:srgbClr>
                </a:solidFill>
                <a:latin typeface="Calibri"/>
                <a:ea typeface="Calibri"/>
                <a:cs typeface="Calibri"/>
              </a:rPr>
              <a:t>6 / 6</a:t>
            </a:r>
          </a:p>
        </p:txBody>
      </p:sp>
      <p:sp>
        <p:nvSpPr>
          <p:cNvPr id="7" name="Shape 5">
            <a:extLst xmlns:a="http://schemas.openxmlformats.org/drawingml/2006/main">
              <a:ext uri="{FF2B5EF4-FFF2-40B4-BE49-F238E27FC236}">
                <a16:creationId xmlns:a16="http://schemas.microsoft.com/office/drawing/2014/main" id="{055BA55B-02D6-4C16-BAFF-E20C17244C81}"/>
              </a:ext>
            </a:extLst>
          </p:cNvPr>
          <p:cNvSpPr>
            <a:spLocks xmlns:a="http://schemas.openxmlformats.org/drawingml/2006/main" noGrp="1"/>
          </p:cNvSpPr>
          <p:nvPr/>
        </p:nvSpPr>
        <p:spPr>
          <a:xfrm xmlns:a="http://schemas.openxmlformats.org/drawingml/2006/main">
            <a:off x="137160" y="1188720"/>
            <a:ext cx="3749040" cy="5212080"/>
          </a:xfrm>
          <a:prstGeom xmlns:a="http://schemas.openxmlformats.org/drawingml/2006/main" prst="rect">
            <a:avLst/>
          </a:prstGeom>
          <a:solidFill xmlns:a="http://schemas.openxmlformats.org/drawingml/2006/main">
            <a:srgbClr val="FFFFFF"/>
          </a:solidFill>
          <a:ln xmlns:a="http://schemas.openxmlformats.org/drawingml/2006/main" w="6350">
            <a:solidFill>
              <a:srgbClr val="E8E2D8"/>
            </a:solidFill>
            <a:prstDash val="solid"/>
          </a:ln>
          <a:effectLst xmlns:a="http://schemas.openxmlformats.org/drawingml/2006/main">
            <a:outerShdw blurRad="101600" dist="254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8" name="Shape 6">
            <a:extLst xmlns:a="http://schemas.openxmlformats.org/drawingml/2006/main">
              <a:ext uri="{FF2B5EF4-FFF2-40B4-BE49-F238E27FC236}">
                <a16:creationId xmlns:a16="http://schemas.microsoft.com/office/drawing/2014/main" id="{3C4E0D51-4BA3-439D-A2B1-FBCB205B4298}"/>
              </a:ext>
            </a:extLst>
          </p:cNvPr>
          <p:cNvSpPr>
            <a:spLocks xmlns:a="http://schemas.openxmlformats.org/drawingml/2006/main" noGrp="1"/>
          </p:cNvSpPr>
          <p:nvPr/>
        </p:nvSpPr>
        <p:spPr>
          <a:xfrm xmlns:a="http://schemas.openxmlformats.org/drawingml/2006/main">
            <a:off x="137160" y="1188720"/>
            <a:ext cx="3749040" cy="109728"/>
          </a:xfrm>
          <a:prstGeom xmlns:a="http://schemas.openxmlformats.org/drawingml/2006/main" prst="rect">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9" name="Shape 7">
            <a:extLst xmlns:a="http://schemas.openxmlformats.org/drawingml/2006/main">
              <a:ext uri="{FF2B5EF4-FFF2-40B4-BE49-F238E27FC236}">
                <a16:creationId xmlns:a16="http://schemas.microsoft.com/office/drawing/2014/main" id="{124B962F-0D93-4BFD-8B31-78B203AAAD74}"/>
              </a:ext>
            </a:extLst>
          </p:cNvPr>
          <p:cNvSpPr>
            <a:spLocks xmlns:a="http://schemas.openxmlformats.org/drawingml/2006/main" noGrp="1"/>
          </p:cNvSpPr>
          <p:nvPr/>
        </p:nvSpPr>
        <p:spPr>
          <a:xfrm xmlns:a="http://schemas.openxmlformats.org/drawingml/2006/main">
            <a:off x="365760" y="1444752"/>
            <a:ext cx="749808" cy="749808"/>
          </a:xfrm>
          <a:prstGeom xmlns:a="http://schemas.openxmlformats.org/drawingml/2006/main" prst="ellipse">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6C287DE5-B7E0-4721-A6ED-D0FA1417F201}"/>
              </a:ext>
            </a:extLst>
          </p:cNvPr>
          <p:cNvSpPr>
            <a:spLocks xmlns:a="http://schemas.openxmlformats.org/drawingml/2006/main" noGrp="1"/>
          </p:cNvSpPr>
          <p:nvPr/>
        </p:nvSpPr>
        <p:spPr>
          <a:xfrm xmlns:a="http://schemas.openxmlformats.org/drawingml/2006/main">
            <a:off x="365760" y="1444752"/>
            <a:ext cx="74980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Georgia"/>
                <a:ea typeface="Georgia"/>
                <a:cs typeface="Georgia"/>
              </a:rPr>
              <a:t>NE</a:t>
            </a:r>
          </a:p>
        </p:txBody>
      </p:sp>
      <p:sp>
        <p:nvSpPr>
          <p:cNvPr id="11" name="Text 9">
            <a:extLst xmlns:a="http://schemas.openxmlformats.org/drawingml/2006/main">
              <a:ext uri="{FF2B5EF4-FFF2-40B4-BE49-F238E27FC236}">
                <a16:creationId xmlns:a16="http://schemas.microsoft.com/office/drawing/2014/main" id="{6DB779E5-F47F-4CA0-90BE-B4CE1986292D}"/>
              </a:ext>
            </a:extLst>
          </p:cNvPr>
          <p:cNvSpPr>
            <a:spLocks xmlns:a="http://schemas.openxmlformats.org/drawingml/2006/main" noGrp="1"/>
          </p:cNvSpPr>
          <p:nvPr/>
        </p:nvSpPr>
        <p:spPr>
          <a:xfrm xmlns:a="http://schemas.openxmlformats.org/drawingml/2006/main">
            <a:off x="2423160" y="1353312"/>
            <a:ext cx="1325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AAAAAA"/>
                </a:solidFill>
                <a:latin typeface="Calibri"/>
                <a:ea typeface="Calibri"/>
                <a:cs typeface="Calibri"/>
              </a:rPr>
              <a:t>CASE #16</a:t>
            </a:r>
          </a:p>
        </p:txBody>
      </p:sp>
      <p:sp>
        <p:nvSpPr>
          <p:cNvPr id="12" name="Text 10">
            <a:extLst xmlns:a="http://schemas.openxmlformats.org/drawingml/2006/main">
              <a:ext uri="{FF2B5EF4-FFF2-40B4-BE49-F238E27FC236}">
                <a16:creationId xmlns:a16="http://schemas.microsoft.com/office/drawing/2014/main" id="{9A05FFAC-E2DC-4AB4-BC43-A651101FB090}"/>
              </a:ext>
            </a:extLst>
          </p:cNvPr>
          <p:cNvSpPr>
            <a:spLocks xmlns:a="http://schemas.openxmlformats.org/drawingml/2006/main" noGrp="1"/>
          </p:cNvSpPr>
          <p:nvPr/>
        </p:nvSpPr>
        <p:spPr>
          <a:xfrm xmlns:a="http://schemas.openxmlformats.org/drawingml/2006/main">
            <a:off x="1216152" y="1444752"/>
            <a:ext cx="2560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00" b="1">
                <a:solidFill>
                  <a:srgbClr val="1A1410"/>
                </a:solidFill>
                <a:latin typeface="Georgia"/>
                <a:ea typeface="Georgia"/>
                <a:cs typeface="Georgia"/>
              </a:rPr>
              <a:t>Nora Ellis</a:t>
            </a:r>
          </a:p>
        </p:txBody>
      </p:sp>
      <p:sp>
        <p:nvSpPr>
          <p:cNvPr id="13" name="Text 11">
            <a:extLst xmlns:a="http://schemas.openxmlformats.org/drawingml/2006/main">
              <a:ext uri="{FF2B5EF4-FFF2-40B4-BE49-F238E27FC236}">
                <a16:creationId xmlns:a16="http://schemas.microsoft.com/office/drawing/2014/main" id="{748D1ADC-56AE-4F89-889E-2DD829392120}"/>
              </a:ext>
            </a:extLst>
          </p:cNvPr>
          <p:cNvSpPr>
            <a:spLocks xmlns:a="http://schemas.openxmlformats.org/drawingml/2006/main" noGrp="1"/>
          </p:cNvSpPr>
          <p:nvPr/>
        </p:nvSpPr>
        <p:spPr>
          <a:xfrm xmlns:a="http://schemas.openxmlformats.org/drawingml/2006/main">
            <a:off x="1216152" y="1847088"/>
            <a:ext cx="25603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00">
                <a:solidFill>
                  <a:srgbClr val="888888"/>
                </a:solidFill>
                <a:latin typeface="Calibri"/>
                <a:ea typeface="Calibri"/>
                <a:cs typeface="Calibri"/>
              </a:rPr>
              <a:t>Age 61  ·  Occupational Therapist</a:t>
            </a:r>
          </a:p>
        </p:txBody>
      </p:sp>
      <p:sp>
        <p:nvSpPr>
          <p:cNvPr id="14" name="Shape 12">
            <a:extLst xmlns:a="http://schemas.openxmlformats.org/drawingml/2006/main">
              <a:ext uri="{FF2B5EF4-FFF2-40B4-BE49-F238E27FC236}">
                <a16:creationId xmlns:a16="http://schemas.microsoft.com/office/drawing/2014/main" id="{E089D0D5-96CD-4CA4-B99E-39606963402B}"/>
              </a:ext>
            </a:extLst>
          </p:cNvPr>
          <p:cNvSpPr>
            <a:spLocks xmlns:a="http://schemas.openxmlformats.org/drawingml/2006/main" noGrp="1"/>
          </p:cNvSpPr>
          <p:nvPr/>
        </p:nvSpPr>
        <p:spPr>
          <a:xfrm xmlns:a="http://schemas.openxmlformats.org/drawingml/2006/main">
            <a:off x="365760" y="2322576"/>
            <a:ext cx="1325880" cy="237744"/>
          </a:xfrm>
          <a:prstGeom xmlns:a="http://schemas.openxmlformats.org/drawingml/2006/main" prst="rect">
            <a:avLst/>
          </a:prstGeom>
          <a:solidFill xmlns:a="http://schemas.openxmlformats.org/drawingml/2006/main">
            <a:srgbClr val="E8F0FF"/>
          </a:solidFill>
          <a:ln xmlns:a="http://schemas.openxmlformats.org/drawingml/2006/main" w="12700">
            <a:solidFill>
              <a:srgbClr val="E8F0FF"/>
            </a:solidFill>
            <a:prstDash val="solid"/>
          </a:ln>
        </p:spPr>
        <p:txBody>
          <a:bodyPr xmlns:a="http://schemas.openxmlformats.org/drawingml/2006/main"/>
          <a:lstStyle xmlns:a="http://schemas.openxmlformats.org/drawingml/2006/main"/>
          <a:p xmlns:a="http://schemas.openxmlformats.org/drawingml/2006/main"/>
        </p:txBody>
      </p:sp>
      <p:sp>
        <p:nvSpPr>
          <p:cNvPr id="15" name="Shape 13">
            <a:extLst xmlns:a="http://schemas.openxmlformats.org/drawingml/2006/main">
              <a:ext uri="{FF2B5EF4-FFF2-40B4-BE49-F238E27FC236}">
                <a16:creationId xmlns:a16="http://schemas.microsoft.com/office/drawing/2014/main" id="{0A5FE6B7-BEAB-45D0-BC14-728505897F9A}"/>
              </a:ext>
            </a:extLst>
          </p:cNvPr>
          <p:cNvSpPr>
            <a:spLocks xmlns:a="http://schemas.openxmlformats.org/drawingml/2006/main" noGrp="1"/>
          </p:cNvSpPr>
          <p:nvPr/>
        </p:nvSpPr>
        <p:spPr>
          <a:xfrm xmlns:a="http://schemas.openxmlformats.org/drawingml/2006/main">
            <a:off x="429768" y="2382012"/>
            <a:ext cx="91440" cy="91440"/>
          </a:xfrm>
          <a:prstGeom xmlns:a="http://schemas.openxmlformats.org/drawingml/2006/main" prst="ellipse">
            <a:avLst/>
          </a:prstGeom>
          <a:solidFill xmlns:a="http://schemas.openxmlformats.org/drawingml/2006/main">
            <a:srgbClr val="3A6EA5"/>
          </a:solidFill>
          <a:ln xmlns:a="http://schemas.openxmlformats.org/drawingml/2006/main" w="12700">
            <a:solidFill>
              <a:srgbClr val="3A6EA5"/>
            </a:solidFill>
            <a:prstDash val="solid"/>
          </a:ln>
        </p:spPr>
        <p:txBody>
          <a:bodyPr xmlns:a="http://schemas.openxmlformats.org/drawingml/2006/main"/>
          <a:lstStyle xmlns:a="http://schemas.openxmlformats.org/drawingml/2006/main"/>
          <a:p xmlns:a="http://schemas.openxmlformats.org/drawingml/2006/main"/>
        </p:txBody>
      </p:sp>
      <p:sp>
        <p:nvSpPr>
          <p:cNvPr id="16" name="Text 14">
            <a:extLst xmlns:a="http://schemas.openxmlformats.org/drawingml/2006/main">
              <a:ext uri="{FF2B5EF4-FFF2-40B4-BE49-F238E27FC236}">
                <a16:creationId xmlns:a16="http://schemas.microsoft.com/office/drawing/2014/main" id="{7E8454E9-4248-490B-AF56-F4FDEF58C0D8}"/>
              </a:ext>
            </a:extLst>
          </p:cNvPr>
          <p:cNvSpPr>
            <a:spLocks xmlns:a="http://schemas.openxmlformats.org/drawingml/2006/main" noGrp="1"/>
          </p:cNvSpPr>
          <p:nvPr/>
        </p:nvSpPr>
        <p:spPr>
          <a:xfrm xmlns:a="http://schemas.openxmlformats.org/drawingml/2006/main">
            <a:off x="557784" y="2322576"/>
            <a:ext cx="113385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00" b="1">
                <a:solidFill>
                  <a:srgbClr val="3A6EA5"/>
                </a:solidFill>
                <a:latin typeface="Calibri"/>
                <a:ea typeface="Calibri"/>
                <a:cs typeface="Calibri"/>
              </a:rPr>
              <a:t>RISK AVERSE</a:t>
            </a:r>
          </a:p>
        </p:txBody>
      </p:sp>
      <p:sp>
        <p:nvSpPr>
          <p:cNvPr id="17" name="Shape 15">
            <a:extLst xmlns:a="http://schemas.openxmlformats.org/drawingml/2006/main">
              <a:ext uri="{FF2B5EF4-FFF2-40B4-BE49-F238E27FC236}">
                <a16:creationId xmlns:a16="http://schemas.microsoft.com/office/drawing/2014/main" id="{6FE551EA-9AEB-4FF7-9CAF-62D100E153E5}"/>
              </a:ext>
            </a:extLst>
          </p:cNvPr>
          <p:cNvSpPr>
            <a:spLocks xmlns:a="http://schemas.openxmlformats.org/drawingml/2006/main" noGrp="1"/>
          </p:cNvSpPr>
          <p:nvPr/>
        </p:nvSpPr>
        <p:spPr>
          <a:xfrm xmlns:a="http://schemas.openxmlformats.org/drawingml/2006/main">
            <a:off x="365760" y="2724912"/>
            <a:ext cx="3291840" cy="0"/>
          </a:xfrm>
          <a:prstGeom xmlns:a="http://schemas.openxmlformats.org/drawingml/2006/main" prst="line">
            <a:avLst/>
          </a:prstGeom>
          <a:noFill xmlns:a="http://schemas.openxmlformats.org/drawingml/2006/main"/>
          <a:ln xmlns:a="http://schemas.openxmlformats.org/drawingml/2006/main" w="6350">
            <a:solidFill>
              <a:srgbClr val="E0D8CC"/>
            </a:solidFill>
            <a:prstDash val="solid"/>
          </a:ln>
        </p:spPr>
        <p:txBody>
          <a:bodyPr xmlns:a="http://schemas.openxmlformats.org/drawingml/2006/main"/>
          <a:lstStyle xmlns:a="http://schemas.openxmlformats.org/drawingml/2006/main"/>
          <a:p xmlns:a="http://schemas.openxmlformats.org/drawingml/2006/main"/>
        </p:txBody>
      </p:sp>
      <p:sp>
        <p:nvSpPr>
          <p:cNvPr id="18" name="Text 16">
            <a:extLst xmlns:a="http://schemas.openxmlformats.org/drawingml/2006/main">
              <a:ext uri="{FF2B5EF4-FFF2-40B4-BE49-F238E27FC236}">
                <a16:creationId xmlns:a16="http://schemas.microsoft.com/office/drawing/2014/main" id="{E74EAB25-80AF-48E8-8271-114AB57DD9A7}"/>
              </a:ext>
            </a:extLst>
          </p:cNvPr>
          <p:cNvSpPr>
            <a:spLocks xmlns:a="http://schemas.openxmlformats.org/drawingml/2006/main" noGrp="1"/>
          </p:cNvSpPr>
          <p:nvPr/>
        </p:nvSpPr>
        <p:spPr>
          <a:xfrm xmlns:a="http://schemas.openxmlformats.org/drawingml/2006/main">
            <a:off x="365760"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ANNUAL INCOME</a:t>
            </a:r>
          </a:p>
        </p:txBody>
      </p:sp>
      <p:sp>
        <p:nvSpPr>
          <p:cNvPr id="19" name="Text 17">
            <a:extLst xmlns:a="http://schemas.openxmlformats.org/drawingml/2006/main">
              <a:ext uri="{FF2B5EF4-FFF2-40B4-BE49-F238E27FC236}">
                <a16:creationId xmlns:a16="http://schemas.microsoft.com/office/drawing/2014/main" id="{5853EE01-DBA3-4752-AEB6-E7B349C61B41}"/>
              </a:ext>
            </a:extLst>
          </p:cNvPr>
          <p:cNvSpPr>
            <a:spLocks xmlns:a="http://schemas.openxmlformats.org/drawingml/2006/main" noGrp="1"/>
          </p:cNvSpPr>
          <p:nvPr/>
        </p:nvSpPr>
        <p:spPr>
          <a:xfrm xmlns:a="http://schemas.openxmlformats.org/drawingml/2006/main">
            <a:off x="365760"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$95,000</a:t>
            </a:r>
          </a:p>
        </p:txBody>
      </p:sp>
      <p:sp>
        <p:nvSpPr>
          <p:cNvPr id="20" name="Text 18">
            <a:extLst xmlns:a="http://schemas.openxmlformats.org/drawingml/2006/main">
              <a:ext uri="{FF2B5EF4-FFF2-40B4-BE49-F238E27FC236}">
                <a16:creationId xmlns:a16="http://schemas.microsoft.com/office/drawing/2014/main" id="{0F1D5C0B-9FDD-4D88-93C1-695F85609901}"/>
              </a:ext>
            </a:extLst>
          </p:cNvPr>
          <p:cNvSpPr>
            <a:spLocks xmlns:a="http://schemas.openxmlformats.org/drawingml/2006/main" noGrp="1"/>
          </p:cNvSpPr>
          <p:nvPr/>
        </p:nvSpPr>
        <p:spPr>
          <a:xfrm xmlns:a="http://schemas.openxmlformats.org/drawingml/2006/main">
            <a:off x="2103120"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NET WORTH</a:t>
            </a:r>
          </a:p>
        </p:txBody>
      </p:sp>
      <p:sp>
        <p:nvSpPr>
          <p:cNvPr id="21" name="Text 19">
            <a:extLst xmlns:a="http://schemas.openxmlformats.org/drawingml/2006/main">
              <a:ext uri="{FF2B5EF4-FFF2-40B4-BE49-F238E27FC236}">
                <a16:creationId xmlns:a16="http://schemas.microsoft.com/office/drawing/2014/main" id="{64409596-77E4-4AD5-844D-388A134CFDF0}"/>
              </a:ext>
            </a:extLst>
          </p:cNvPr>
          <p:cNvSpPr>
            <a:spLocks xmlns:a="http://schemas.openxmlformats.org/drawingml/2006/main" noGrp="1"/>
          </p:cNvSpPr>
          <p:nvPr/>
        </p:nvSpPr>
        <p:spPr>
          <a:xfrm xmlns:a="http://schemas.openxmlformats.org/drawingml/2006/main">
            <a:off x="2103120"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$900,000</a:t>
            </a:r>
          </a:p>
        </p:txBody>
      </p:sp>
      <p:sp>
        <p:nvSpPr>
          <p:cNvPr id="22" name="Shape 20">
            <a:extLst xmlns:a="http://schemas.openxmlformats.org/drawingml/2006/main">
              <a:ext uri="{FF2B5EF4-FFF2-40B4-BE49-F238E27FC236}">
                <a16:creationId xmlns:a16="http://schemas.microsoft.com/office/drawing/2014/main" id="{6FC3F87C-449E-4C4F-A139-CE77C004994E}"/>
              </a:ext>
            </a:extLst>
          </p:cNvPr>
          <p:cNvSpPr>
            <a:spLocks xmlns:a="http://schemas.openxmlformats.org/drawingml/2006/main" noGrp="1"/>
          </p:cNvSpPr>
          <p:nvPr/>
        </p:nvSpPr>
        <p:spPr>
          <a:xfrm xmlns:a="http://schemas.openxmlformats.org/drawingml/2006/main">
            <a:off x="365760" y="3456432"/>
            <a:ext cx="3291840" cy="804672"/>
          </a:xfrm>
          <a:prstGeom xmlns:a="http://schemas.openxmlformats.org/drawingml/2006/main" prst="rect">
            <a:avLst/>
          </a:prstGeom>
          <a:solidFill xmlns:a="http://schemas.openxmlformats.org/drawingml/2006/main">
            <a:srgbClr val="F0D0D0"/>
          </a:solidFill>
          <a:ln xmlns:a="http://schemas.openxmlformats.org/drawingml/2006/main" w="12700">
            <a:solidFill>
              <a:srgbClr val="F0D0D0"/>
            </a:solidFill>
            <a:prstDash val="solid"/>
          </a:ln>
        </p:spPr>
        <p:txBody>
          <a:bodyPr xmlns:a="http://schemas.openxmlformats.org/drawingml/2006/main"/>
          <a:lstStyle xmlns:a="http://schemas.openxmlformats.org/drawingml/2006/main"/>
          <a:p xmlns:a="http://schemas.openxmlformats.org/drawingml/2006/main"/>
        </p:txBody>
      </p:sp>
      <p:sp>
        <p:nvSpPr>
          <p:cNvPr id="23" name="Shape 21">
            <a:extLst xmlns:a="http://schemas.openxmlformats.org/drawingml/2006/main">
              <a:ext uri="{FF2B5EF4-FFF2-40B4-BE49-F238E27FC236}">
                <a16:creationId xmlns:a16="http://schemas.microsoft.com/office/drawing/2014/main" id="{A08354B6-7267-4843-9F08-F78D24CE791F}"/>
              </a:ext>
            </a:extLst>
          </p:cNvPr>
          <p:cNvSpPr>
            <a:spLocks xmlns:a="http://schemas.openxmlformats.org/drawingml/2006/main" noGrp="1"/>
          </p:cNvSpPr>
          <p:nvPr/>
        </p:nvSpPr>
        <p:spPr>
          <a:xfrm xmlns:a="http://schemas.openxmlformats.org/drawingml/2006/main">
            <a:off x="365760" y="3456432"/>
            <a:ext cx="54864" cy="804672"/>
          </a:xfrm>
          <a:prstGeom xmlns:a="http://schemas.openxmlformats.org/drawingml/2006/main" prst="rect">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24" name="Text 22">
            <a:extLst xmlns:a="http://schemas.openxmlformats.org/drawingml/2006/main">
              <a:ext uri="{FF2B5EF4-FFF2-40B4-BE49-F238E27FC236}">
                <a16:creationId xmlns:a16="http://schemas.microsoft.com/office/drawing/2014/main" id="{524FDCE6-D364-4EE4-9DA0-D7F0E681A0C8}"/>
              </a:ext>
            </a:extLst>
          </p:cNvPr>
          <p:cNvSpPr>
            <a:spLocks xmlns:a="http://schemas.openxmlformats.org/drawingml/2006/main" noGrp="1"/>
          </p:cNvSpPr>
          <p:nvPr/>
        </p:nvSpPr>
        <p:spPr>
          <a:xfrm xmlns:a="http://schemas.openxmlformats.org/drawingml/2006/main">
            <a:off x="484632" y="3493008"/>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8B1A1A"/>
                </a:solidFill>
                <a:latin typeface="Calibri"/>
                <a:ea typeface="Calibri"/>
                <a:cs typeface="Calibri"/>
              </a:rPr>
              <a:t>PRIMARY GOAL</a:t>
            </a:r>
          </a:p>
        </p:txBody>
      </p:sp>
      <p:sp>
        <p:nvSpPr>
          <p:cNvPr id="25" name="Text 23">
            <a:extLst xmlns:a="http://schemas.openxmlformats.org/drawingml/2006/main">
              <a:ext uri="{FF2B5EF4-FFF2-40B4-BE49-F238E27FC236}">
                <a16:creationId xmlns:a16="http://schemas.microsoft.com/office/drawing/2014/main" id="{F1BAAB0C-C00D-46A1-AE04-2CB11785D849}"/>
              </a:ext>
            </a:extLst>
          </p:cNvPr>
          <p:cNvSpPr>
            <a:spLocks xmlns:a="http://schemas.openxmlformats.org/drawingml/2006/main" noGrp="1"/>
          </p:cNvSpPr>
          <p:nvPr/>
        </p:nvSpPr>
        <p:spPr>
          <a:xfrm xmlns:a="http://schemas.openxmlformats.org/drawingml/2006/main">
            <a:off x="484632" y="3657600"/>
            <a:ext cx="329184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150" i="1">
                <a:solidFill>
                  <a:srgbClr val="1A1410"/>
                </a:solidFill>
                <a:latin typeface="Georgia"/>
                <a:ea typeface="Georgia"/>
                <a:cs typeface="Georgia"/>
              </a:rPr>
              <a:t>Family Care / Capital Preservation</a:t>
            </a:r>
          </a:p>
        </p:txBody>
      </p:sp>
      <p:sp>
        <p:nvSpPr>
          <p:cNvPr id="26" name="Shape 24">
            <a:extLst xmlns:a="http://schemas.openxmlformats.org/drawingml/2006/main">
              <a:ext uri="{FF2B5EF4-FFF2-40B4-BE49-F238E27FC236}">
                <a16:creationId xmlns:a16="http://schemas.microsoft.com/office/drawing/2014/main" id="{99011B93-E38F-4E85-9547-F3AB3E5113CF}"/>
              </a:ext>
            </a:extLst>
          </p:cNvPr>
          <p:cNvSpPr>
            <a:spLocks xmlns:a="http://schemas.openxmlformats.org/drawingml/2006/main" noGrp="1"/>
          </p:cNvSpPr>
          <p:nvPr/>
        </p:nvSpPr>
        <p:spPr>
          <a:xfrm xmlns:a="http://schemas.openxmlformats.org/drawingml/2006/main">
            <a:off x="365760" y="4407408"/>
            <a:ext cx="3291840" cy="658368"/>
          </a:xfrm>
          <a:prstGeom xmlns:a="http://schemas.openxmlformats.org/drawingml/2006/main" prst="rect">
            <a:avLst/>
          </a:prstGeom>
          <a:solidFill xmlns:a="http://schemas.openxmlformats.org/drawingml/2006/main">
            <a:srgbClr val="F8F5F0"/>
          </a:solidFill>
          <a:ln xmlns:a="http://schemas.openxmlformats.org/drawingml/2006/main" w="6350">
            <a:solidFill>
              <a:srgbClr val="D8D0C4"/>
            </a:solidFill>
            <a:prstDash val="dash"/>
          </a:ln>
        </p:spPr>
        <p:txBody>
          <a:bodyPr xmlns:a="http://schemas.openxmlformats.org/drawingml/2006/main"/>
          <a:lstStyle xmlns:a="http://schemas.openxmlformats.org/drawingml/2006/main"/>
          <a:p xmlns:a="http://schemas.openxmlformats.org/drawingml/2006/main"/>
        </p:txBody>
      </p:sp>
      <p:sp>
        <p:nvSpPr>
          <p:cNvPr id="27" name="Text 25">
            <a:extLst xmlns:a="http://schemas.openxmlformats.org/drawingml/2006/main">
              <a:ext uri="{FF2B5EF4-FFF2-40B4-BE49-F238E27FC236}">
                <a16:creationId xmlns:a16="http://schemas.microsoft.com/office/drawing/2014/main" id="{164E1F1B-B1ED-42DF-BF6C-F7238B102508}"/>
              </a:ext>
            </a:extLst>
          </p:cNvPr>
          <p:cNvSpPr>
            <a:spLocks xmlns:a="http://schemas.openxmlformats.org/drawingml/2006/main" noGrp="1"/>
          </p:cNvSpPr>
          <p:nvPr/>
        </p:nvSpPr>
        <p:spPr>
          <a:xfrm xmlns:a="http://schemas.openxmlformats.org/drawingml/2006/main">
            <a:off x="484632" y="4443984"/>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KEY CONSTRAINTS</a:t>
            </a:r>
          </a:p>
        </p:txBody>
      </p:sp>
      <p:sp>
        <p:nvSpPr>
          <p:cNvPr id="28" name="Text 26">
            <a:extLst xmlns:a="http://schemas.openxmlformats.org/drawingml/2006/main">
              <a:ext uri="{FF2B5EF4-FFF2-40B4-BE49-F238E27FC236}">
                <a16:creationId xmlns:a16="http://schemas.microsoft.com/office/drawing/2014/main" id="{F4E430AF-A917-43CB-A221-9AA1C7C14095}"/>
              </a:ext>
            </a:extLst>
          </p:cNvPr>
          <p:cNvSpPr>
            <a:spLocks xmlns:a="http://schemas.openxmlformats.org/drawingml/2006/main" noGrp="1"/>
          </p:cNvSpPr>
          <p:nvPr/>
        </p:nvSpPr>
        <p:spPr>
          <a:xfrm xmlns:a="http://schemas.openxmlformats.org/drawingml/2006/main">
            <a:off x="484632" y="4608576"/>
            <a:ext cx="3291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50">
                <a:solidFill>
                  <a:srgbClr val="555555"/>
                </a:solidFill>
                <a:latin typeface="Calibri"/>
                <a:ea typeface="Calibri"/>
                <a:cs typeface="Calibri"/>
              </a:rPr>
              <a:t>$90k access work in 2 yrs; care reserve</a:t>
            </a:r>
          </a:p>
        </p:txBody>
      </p:sp>
      <p:sp>
        <p:nvSpPr>
          <p:cNvPr id="29" name="Shape 27">
            <a:extLst xmlns:a="http://schemas.openxmlformats.org/drawingml/2006/main">
              <a:ext uri="{FF2B5EF4-FFF2-40B4-BE49-F238E27FC236}">
                <a16:creationId xmlns:a16="http://schemas.microsoft.com/office/drawing/2014/main" id="{D1683DFA-6A43-4759-858E-5C0B85E7C48A}"/>
              </a:ext>
            </a:extLst>
          </p:cNvPr>
          <p:cNvSpPr>
            <a:spLocks xmlns:a="http://schemas.openxmlformats.org/drawingml/2006/main" noGrp="1"/>
          </p:cNvSpPr>
          <p:nvPr/>
        </p:nvSpPr>
        <p:spPr>
          <a:xfrm xmlns:a="http://schemas.openxmlformats.org/drawingml/2006/main">
            <a:off x="365760" y="5230368"/>
            <a:ext cx="1097280" cy="877824"/>
          </a:xfrm>
          <a:prstGeom xmlns:a="http://schemas.openxmlformats.org/drawingml/2006/main" prst="rect">
            <a:avLst/>
          </a:prstGeom>
          <a:solidFill xmlns:a="http://schemas.openxmlformats.org/drawingml/2006/main">
            <a:srgbClr val="8B1A1A"/>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30" name="Text 28">
            <a:extLst xmlns:a="http://schemas.openxmlformats.org/drawingml/2006/main">
              <a:ext uri="{FF2B5EF4-FFF2-40B4-BE49-F238E27FC236}">
                <a16:creationId xmlns:a16="http://schemas.microsoft.com/office/drawing/2014/main" id="{FA66E15C-9B3E-4225-8FF6-45DD1F868660}"/>
              </a:ext>
            </a:extLst>
          </p:cNvPr>
          <p:cNvSpPr>
            <a:spLocks xmlns:a="http://schemas.openxmlformats.org/drawingml/2006/main" noGrp="1"/>
          </p:cNvSpPr>
          <p:nvPr/>
        </p:nvSpPr>
        <p:spPr>
          <a:xfrm xmlns:a="http://schemas.openxmlformats.org/drawingml/2006/main">
            <a:off x="384048"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E(R)</a:t>
            </a:r>
          </a:p>
        </p:txBody>
      </p:sp>
      <p:sp>
        <p:nvSpPr>
          <p:cNvPr id="31" name="Text 29">
            <a:extLst xmlns:a="http://schemas.openxmlformats.org/drawingml/2006/main">
              <a:ext uri="{FF2B5EF4-FFF2-40B4-BE49-F238E27FC236}">
                <a16:creationId xmlns:a16="http://schemas.microsoft.com/office/drawing/2014/main" id="{128758FB-A320-4D2C-AC4A-60AF1BDC017C}"/>
              </a:ext>
            </a:extLst>
          </p:cNvPr>
          <p:cNvSpPr>
            <a:spLocks xmlns:a="http://schemas.openxmlformats.org/drawingml/2006/main" noGrp="1"/>
          </p:cNvSpPr>
          <p:nvPr/>
        </p:nvSpPr>
        <p:spPr>
          <a:xfrm xmlns:a="http://schemas.openxmlformats.org/drawingml/2006/main">
            <a:off x="411480"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4.5%</a:t>
            </a:r>
          </a:p>
        </p:txBody>
      </p:sp>
      <p:sp>
        <p:nvSpPr>
          <p:cNvPr id="32" name="Shape 30">
            <a:extLst xmlns:a="http://schemas.openxmlformats.org/drawingml/2006/main">
              <a:ext uri="{FF2B5EF4-FFF2-40B4-BE49-F238E27FC236}">
                <a16:creationId xmlns:a16="http://schemas.microsoft.com/office/drawing/2014/main" id="{FAEBE818-06C3-4710-9CEA-DA5163A87CEC}"/>
              </a:ext>
            </a:extLst>
          </p:cNvPr>
          <p:cNvSpPr>
            <a:spLocks xmlns:a="http://schemas.openxmlformats.org/drawingml/2006/main" noGrp="1"/>
          </p:cNvSpPr>
          <p:nvPr/>
        </p:nvSpPr>
        <p:spPr>
          <a:xfrm xmlns:a="http://schemas.openxmlformats.org/drawingml/2006/main">
            <a:off x="1463040" y="5230368"/>
            <a:ext cx="1097280" cy="877824"/>
          </a:xfrm>
          <a:prstGeom xmlns:a="http://schemas.openxmlformats.org/drawingml/2006/main" prst="rect">
            <a:avLst/>
          </a:prstGeom>
          <a:solidFill xmlns:a="http://schemas.openxmlformats.org/drawingml/2006/main">
            <a:srgbClr val="263545"/>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33" name="Text 31">
            <a:extLst xmlns:a="http://schemas.openxmlformats.org/drawingml/2006/main">
              <a:ext uri="{FF2B5EF4-FFF2-40B4-BE49-F238E27FC236}">
                <a16:creationId xmlns:a16="http://schemas.microsoft.com/office/drawing/2014/main" id="{4C8B5894-CE5F-4B2B-B8FC-260FD9F797EA}"/>
              </a:ext>
            </a:extLst>
          </p:cNvPr>
          <p:cNvSpPr>
            <a:spLocks xmlns:a="http://schemas.openxmlformats.org/drawingml/2006/main" noGrp="1"/>
          </p:cNvSpPr>
          <p:nvPr/>
        </p:nvSpPr>
        <p:spPr>
          <a:xfrm xmlns:a="http://schemas.openxmlformats.org/drawingml/2006/main">
            <a:off x="1481328"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STD DEV</a:t>
            </a:r>
          </a:p>
        </p:txBody>
      </p:sp>
      <p:sp>
        <p:nvSpPr>
          <p:cNvPr id="34" name="Text 32">
            <a:extLst xmlns:a="http://schemas.openxmlformats.org/drawingml/2006/main">
              <a:ext uri="{FF2B5EF4-FFF2-40B4-BE49-F238E27FC236}">
                <a16:creationId xmlns:a16="http://schemas.microsoft.com/office/drawing/2014/main" id="{C3DDB97F-3159-4BC5-B4B7-44FF3C860B76}"/>
              </a:ext>
            </a:extLst>
          </p:cNvPr>
          <p:cNvSpPr>
            <a:spLocks xmlns:a="http://schemas.openxmlformats.org/drawingml/2006/main" noGrp="1"/>
          </p:cNvSpPr>
          <p:nvPr/>
        </p:nvSpPr>
        <p:spPr>
          <a:xfrm xmlns:a="http://schemas.openxmlformats.org/drawingml/2006/main">
            <a:off x="1508760"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7.0%</a:t>
            </a:r>
          </a:p>
        </p:txBody>
      </p:sp>
      <p:sp>
        <p:nvSpPr>
          <p:cNvPr id="35" name="Shape 33">
            <a:extLst xmlns:a="http://schemas.openxmlformats.org/drawingml/2006/main">
              <a:ext uri="{FF2B5EF4-FFF2-40B4-BE49-F238E27FC236}">
                <a16:creationId xmlns:a16="http://schemas.microsoft.com/office/drawing/2014/main" id="{5C22C8B6-E4A9-4EA9-8345-A017D159DF06}"/>
              </a:ext>
            </a:extLst>
          </p:cNvPr>
          <p:cNvSpPr>
            <a:spLocks xmlns:a="http://schemas.openxmlformats.org/drawingml/2006/main" noGrp="1"/>
          </p:cNvSpPr>
          <p:nvPr/>
        </p:nvSpPr>
        <p:spPr>
          <a:xfrm xmlns:a="http://schemas.openxmlformats.org/drawingml/2006/main">
            <a:off x="2560320" y="5230368"/>
            <a:ext cx="1097280" cy="877824"/>
          </a:xfrm>
          <a:prstGeom xmlns:a="http://schemas.openxmlformats.org/drawingml/2006/main" prst="rect">
            <a:avLst/>
          </a:prstGeom>
          <a:solidFill xmlns:a="http://schemas.openxmlformats.org/drawingml/2006/main">
            <a:srgbClr val="1A1410"/>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36" name="Text 34">
            <a:extLst xmlns:a="http://schemas.openxmlformats.org/drawingml/2006/main">
              <a:ext uri="{FF2B5EF4-FFF2-40B4-BE49-F238E27FC236}">
                <a16:creationId xmlns:a16="http://schemas.microsoft.com/office/drawing/2014/main" id="{D767649D-81E7-4ED9-8B06-AE035F21C6A4}"/>
              </a:ext>
            </a:extLst>
          </p:cNvPr>
          <p:cNvSpPr>
            <a:spLocks xmlns:a="http://schemas.openxmlformats.org/drawingml/2006/main" noGrp="1"/>
          </p:cNvSpPr>
          <p:nvPr/>
        </p:nvSpPr>
        <p:spPr>
          <a:xfrm xmlns:a="http://schemas.openxmlformats.org/drawingml/2006/main">
            <a:off x="2578608"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RISK A</a:t>
            </a:r>
          </a:p>
        </p:txBody>
      </p:sp>
      <p:sp>
        <p:nvSpPr>
          <p:cNvPr id="37" name="Text 35">
            <a:extLst xmlns:a="http://schemas.openxmlformats.org/drawingml/2006/main">
              <a:ext uri="{FF2B5EF4-FFF2-40B4-BE49-F238E27FC236}">
                <a16:creationId xmlns:a16="http://schemas.microsoft.com/office/drawing/2014/main" id="{6C9ACBE4-D3A6-4CC5-AA59-B5DF88ED85CE}"/>
              </a:ext>
            </a:extLst>
          </p:cNvPr>
          <p:cNvSpPr>
            <a:spLocks xmlns:a="http://schemas.openxmlformats.org/drawingml/2006/main" noGrp="1"/>
          </p:cNvSpPr>
          <p:nvPr/>
        </p:nvSpPr>
        <p:spPr>
          <a:xfrm xmlns:a="http://schemas.openxmlformats.org/drawingml/2006/main">
            <a:off x="2606040"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8.0</a:t>
            </a:r>
          </a:p>
        </p:txBody>
      </p:sp>
      <p:sp>
        <p:nvSpPr>
          <p:cNvPr id="38" name="Shape 36">
            <a:extLst xmlns:a="http://schemas.openxmlformats.org/drawingml/2006/main">
              <a:ext uri="{FF2B5EF4-FFF2-40B4-BE49-F238E27FC236}">
                <a16:creationId xmlns:a16="http://schemas.microsoft.com/office/drawing/2014/main" id="{E0A94625-6523-46A8-8EF3-50BDF1622133}"/>
              </a:ext>
            </a:extLst>
          </p:cNvPr>
          <p:cNvSpPr>
            <a:spLocks xmlns:a="http://schemas.openxmlformats.org/drawingml/2006/main" noGrp="1"/>
          </p:cNvSpPr>
          <p:nvPr/>
        </p:nvSpPr>
        <p:spPr>
          <a:xfrm xmlns:a="http://schemas.openxmlformats.org/drawingml/2006/main">
            <a:off x="4041648" y="1188720"/>
            <a:ext cx="3749040" cy="5212080"/>
          </a:xfrm>
          <a:prstGeom xmlns:a="http://schemas.openxmlformats.org/drawingml/2006/main" prst="rect">
            <a:avLst/>
          </a:prstGeom>
          <a:solidFill xmlns:a="http://schemas.openxmlformats.org/drawingml/2006/main">
            <a:srgbClr val="FFFFFF"/>
          </a:solidFill>
          <a:ln xmlns:a="http://schemas.openxmlformats.org/drawingml/2006/main" w="6350">
            <a:solidFill>
              <a:srgbClr val="E8E2D8"/>
            </a:solidFill>
            <a:prstDash val="solid"/>
          </a:ln>
          <a:effectLst xmlns:a="http://schemas.openxmlformats.org/drawingml/2006/main">
            <a:outerShdw blurRad="101600" dist="254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39" name="Shape 37">
            <a:extLst xmlns:a="http://schemas.openxmlformats.org/drawingml/2006/main">
              <a:ext uri="{FF2B5EF4-FFF2-40B4-BE49-F238E27FC236}">
                <a16:creationId xmlns:a16="http://schemas.microsoft.com/office/drawing/2014/main" id="{137CCB44-DC5C-482E-AB46-0947E9CEA3D8}"/>
              </a:ext>
            </a:extLst>
          </p:cNvPr>
          <p:cNvSpPr>
            <a:spLocks xmlns:a="http://schemas.openxmlformats.org/drawingml/2006/main" noGrp="1"/>
          </p:cNvSpPr>
          <p:nvPr/>
        </p:nvSpPr>
        <p:spPr>
          <a:xfrm xmlns:a="http://schemas.openxmlformats.org/drawingml/2006/main">
            <a:off x="4041648" y="1188720"/>
            <a:ext cx="3749040" cy="109728"/>
          </a:xfrm>
          <a:prstGeom xmlns:a="http://schemas.openxmlformats.org/drawingml/2006/main" prst="rect">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40" name="Shape 38">
            <a:extLst xmlns:a="http://schemas.openxmlformats.org/drawingml/2006/main">
              <a:ext uri="{FF2B5EF4-FFF2-40B4-BE49-F238E27FC236}">
                <a16:creationId xmlns:a16="http://schemas.microsoft.com/office/drawing/2014/main" id="{94DA2C87-32FE-4DC9-B1B7-1EDE88BAA4CA}"/>
              </a:ext>
            </a:extLst>
          </p:cNvPr>
          <p:cNvSpPr>
            <a:spLocks xmlns:a="http://schemas.openxmlformats.org/drawingml/2006/main" noGrp="1"/>
          </p:cNvSpPr>
          <p:nvPr/>
        </p:nvSpPr>
        <p:spPr>
          <a:xfrm xmlns:a="http://schemas.openxmlformats.org/drawingml/2006/main">
            <a:off x="4270248" y="1444752"/>
            <a:ext cx="749808" cy="749808"/>
          </a:xfrm>
          <a:prstGeom xmlns:a="http://schemas.openxmlformats.org/drawingml/2006/main" prst="ellipse">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41" name="Text 39">
            <a:extLst xmlns:a="http://schemas.openxmlformats.org/drawingml/2006/main">
              <a:ext uri="{FF2B5EF4-FFF2-40B4-BE49-F238E27FC236}">
                <a16:creationId xmlns:a16="http://schemas.microsoft.com/office/drawing/2014/main" id="{EA5D8677-CFDE-4285-980A-8F69530BA015}"/>
              </a:ext>
            </a:extLst>
          </p:cNvPr>
          <p:cNvSpPr>
            <a:spLocks xmlns:a="http://schemas.openxmlformats.org/drawingml/2006/main" noGrp="1"/>
          </p:cNvSpPr>
          <p:nvPr/>
        </p:nvSpPr>
        <p:spPr>
          <a:xfrm xmlns:a="http://schemas.openxmlformats.org/drawingml/2006/main">
            <a:off x="4270248" y="1444752"/>
            <a:ext cx="74980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Georgia"/>
                <a:ea typeface="Georgia"/>
                <a:cs typeface="Georgia"/>
              </a:rPr>
              <a:t>PB</a:t>
            </a:r>
          </a:p>
        </p:txBody>
      </p:sp>
      <p:sp>
        <p:nvSpPr>
          <p:cNvPr id="42" name="Text 40">
            <a:extLst xmlns:a="http://schemas.openxmlformats.org/drawingml/2006/main">
              <a:ext uri="{FF2B5EF4-FFF2-40B4-BE49-F238E27FC236}">
                <a16:creationId xmlns:a16="http://schemas.microsoft.com/office/drawing/2014/main" id="{72E61CCE-C21A-4A24-8201-9E42A79DF6F1}"/>
              </a:ext>
            </a:extLst>
          </p:cNvPr>
          <p:cNvSpPr>
            <a:spLocks xmlns:a="http://schemas.openxmlformats.org/drawingml/2006/main" noGrp="1"/>
          </p:cNvSpPr>
          <p:nvPr/>
        </p:nvSpPr>
        <p:spPr>
          <a:xfrm xmlns:a="http://schemas.openxmlformats.org/drawingml/2006/main">
            <a:off x="6327648" y="1353312"/>
            <a:ext cx="1325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AAAAAA"/>
                </a:solidFill>
                <a:latin typeface="Calibri"/>
                <a:ea typeface="Calibri"/>
                <a:cs typeface="Calibri"/>
              </a:rPr>
              <a:t>CASE #17</a:t>
            </a:r>
          </a:p>
        </p:txBody>
      </p:sp>
      <p:sp>
        <p:nvSpPr>
          <p:cNvPr id="43" name="Text 41">
            <a:extLst xmlns:a="http://schemas.openxmlformats.org/drawingml/2006/main">
              <a:ext uri="{FF2B5EF4-FFF2-40B4-BE49-F238E27FC236}">
                <a16:creationId xmlns:a16="http://schemas.microsoft.com/office/drawing/2014/main" id="{7710EEB8-4A5C-4B35-9912-C3E341A601F3}"/>
              </a:ext>
            </a:extLst>
          </p:cNvPr>
          <p:cNvSpPr>
            <a:spLocks xmlns:a="http://schemas.openxmlformats.org/drawingml/2006/main" noGrp="1"/>
          </p:cNvSpPr>
          <p:nvPr/>
        </p:nvSpPr>
        <p:spPr>
          <a:xfrm xmlns:a="http://schemas.openxmlformats.org/drawingml/2006/main">
            <a:off x="5120640" y="1444752"/>
            <a:ext cx="2560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00" b="1">
                <a:solidFill>
                  <a:srgbClr val="1A1410"/>
                </a:solidFill>
                <a:latin typeface="Georgia"/>
                <a:ea typeface="Georgia"/>
                <a:cs typeface="Georgia"/>
              </a:rPr>
              <a:t>Priya &amp; Owen Brooks</a:t>
            </a:r>
          </a:p>
        </p:txBody>
      </p:sp>
      <p:sp>
        <p:nvSpPr>
          <p:cNvPr id="44" name="Text 42">
            <a:extLst xmlns:a="http://schemas.openxmlformats.org/drawingml/2006/main">
              <a:ext uri="{FF2B5EF4-FFF2-40B4-BE49-F238E27FC236}">
                <a16:creationId xmlns:a16="http://schemas.microsoft.com/office/drawing/2014/main" id="{59A01D38-966F-4C74-9C74-2A8ED491313D}"/>
              </a:ext>
            </a:extLst>
          </p:cNvPr>
          <p:cNvSpPr>
            <a:spLocks xmlns:a="http://schemas.openxmlformats.org/drawingml/2006/main" noGrp="1"/>
          </p:cNvSpPr>
          <p:nvPr/>
        </p:nvSpPr>
        <p:spPr>
          <a:xfrm xmlns:a="http://schemas.openxmlformats.org/drawingml/2006/main">
            <a:off x="5120640" y="1847088"/>
            <a:ext cx="25603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00">
                <a:solidFill>
                  <a:srgbClr val="888888"/>
                </a:solidFill>
                <a:latin typeface="Calibri"/>
                <a:ea typeface="Calibri"/>
                <a:cs typeface="Calibri"/>
              </a:rPr>
              <a:t>Age 40/42  ·  Engineer / School Administrator</a:t>
            </a:r>
          </a:p>
        </p:txBody>
      </p:sp>
      <p:sp>
        <p:nvSpPr>
          <p:cNvPr id="45" name="Shape 43">
            <a:extLst xmlns:a="http://schemas.openxmlformats.org/drawingml/2006/main">
              <a:ext uri="{FF2B5EF4-FFF2-40B4-BE49-F238E27FC236}">
                <a16:creationId xmlns:a16="http://schemas.microsoft.com/office/drawing/2014/main" id="{2DF12CF7-07A0-42C8-85EB-FFBE4B7CB1AF}"/>
              </a:ext>
            </a:extLst>
          </p:cNvPr>
          <p:cNvSpPr>
            <a:spLocks xmlns:a="http://schemas.openxmlformats.org/drawingml/2006/main" noGrp="1"/>
          </p:cNvSpPr>
          <p:nvPr/>
        </p:nvSpPr>
        <p:spPr>
          <a:xfrm xmlns:a="http://schemas.openxmlformats.org/drawingml/2006/main">
            <a:off x="4270248" y="2322576"/>
            <a:ext cx="1325880" cy="237744"/>
          </a:xfrm>
          <a:prstGeom xmlns:a="http://schemas.openxmlformats.org/drawingml/2006/main" prst="rect">
            <a:avLst/>
          </a:prstGeom>
          <a:solidFill xmlns:a="http://schemas.openxmlformats.org/drawingml/2006/main">
            <a:srgbClr val="FFF0E8"/>
          </a:solidFill>
          <a:ln xmlns:a="http://schemas.openxmlformats.org/drawingml/2006/main" w="12700">
            <a:solidFill>
              <a:srgbClr val="FFF0E8"/>
            </a:solidFill>
            <a:prstDash val="solid"/>
          </a:ln>
        </p:spPr>
        <p:txBody>
          <a:bodyPr xmlns:a="http://schemas.openxmlformats.org/drawingml/2006/main"/>
          <a:lstStyle xmlns:a="http://schemas.openxmlformats.org/drawingml/2006/main"/>
          <a:p xmlns:a="http://schemas.openxmlformats.org/drawingml/2006/main"/>
        </p:txBody>
      </p:sp>
      <p:sp>
        <p:nvSpPr>
          <p:cNvPr id="46" name="Shape 44">
            <a:extLst xmlns:a="http://schemas.openxmlformats.org/drawingml/2006/main">
              <a:ext uri="{FF2B5EF4-FFF2-40B4-BE49-F238E27FC236}">
                <a16:creationId xmlns:a16="http://schemas.microsoft.com/office/drawing/2014/main" id="{F1973E76-5D9D-4ECD-B98B-138EE8F6FC87}"/>
              </a:ext>
            </a:extLst>
          </p:cNvPr>
          <p:cNvSpPr>
            <a:spLocks xmlns:a="http://schemas.openxmlformats.org/drawingml/2006/main" noGrp="1"/>
          </p:cNvSpPr>
          <p:nvPr/>
        </p:nvSpPr>
        <p:spPr>
          <a:xfrm xmlns:a="http://schemas.openxmlformats.org/drawingml/2006/main">
            <a:off x="4334256" y="2382012"/>
            <a:ext cx="91440" cy="91440"/>
          </a:xfrm>
          <a:prstGeom xmlns:a="http://schemas.openxmlformats.org/drawingml/2006/main" prst="ellipse">
            <a:avLst/>
          </a:prstGeom>
          <a:solidFill xmlns:a="http://schemas.openxmlformats.org/drawingml/2006/main">
            <a:srgbClr val="C05B30"/>
          </a:solidFill>
          <a:ln xmlns:a="http://schemas.openxmlformats.org/drawingml/2006/main" w="12700">
            <a:solidFill>
              <a:srgbClr val="C05B30"/>
            </a:solidFill>
            <a:prstDash val="solid"/>
          </a:ln>
        </p:spPr>
        <p:txBody>
          <a:bodyPr xmlns:a="http://schemas.openxmlformats.org/drawingml/2006/main"/>
          <a:lstStyle xmlns:a="http://schemas.openxmlformats.org/drawingml/2006/main"/>
          <a:p xmlns:a="http://schemas.openxmlformats.org/drawingml/2006/main"/>
        </p:txBody>
      </p:sp>
      <p:sp>
        <p:nvSpPr>
          <p:cNvPr id="47" name="Text 45">
            <a:extLst xmlns:a="http://schemas.openxmlformats.org/drawingml/2006/main">
              <a:ext uri="{FF2B5EF4-FFF2-40B4-BE49-F238E27FC236}">
                <a16:creationId xmlns:a16="http://schemas.microsoft.com/office/drawing/2014/main" id="{0AC9066D-3CB7-45F6-ACE6-22B7E9EECD26}"/>
              </a:ext>
            </a:extLst>
          </p:cNvPr>
          <p:cNvSpPr>
            <a:spLocks xmlns:a="http://schemas.openxmlformats.org/drawingml/2006/main" noGrp="1"/>
          </p:cNvSpPr>
          <p:nvPr/>
        </p:nvSpPr>
        <p:spPr>
          <a:xfrm xmlns:a="http://schemas.openxmlformats.org/drawingml/2006/main">
            <a:off x="4462272" y="2322576"/>
            <a:ext cx="113385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00" b="1">
                <a:solidFill>
                  <a:srgbClr val="C05B30"/>
                </a:solidFill>
                <a:latin typeface="Calibri"/>
                <a:ea typeface="Calibri"/>
                <a:cs typeface="Calibri"/>
              </a:rPr>
              <a:t>RISK NEUTRAL</a:t>
            </a:r>
          </a:p>
        </p:txBody>
      </p:sp>
      <p:sp>
        <p:nvSpPr>
          <p:cNvPr id="48" name="Shape 46">
            <a:extLst xmlns:a="http://schemas.openxmlformats.org/drawingml/2006/main">
              <a:ext uri="{FF2B5EF4-FFF2-40B4-BE49-F238E27FC236}">
                <a16:creationId xmlns:a16="http://schemas.microsoft.com/office/drawing/2014/main" id="{EDF19E9D-A756-458E-90DE-F11F245292C8}"/>
              </a:ext>
            </a:extLst>
          </p:cNvPr>
          <p:cNvSpPr>
            <a:spLocks xmlns:a="http://schemas.openxmlformats.org/drawingml/2006/main" noGrp="1"/>
          </p:cNvSpPr>
          <p:nvPr/>
        </p:nvSpPr>
        <p:spPr>
          <a:xfrm xmlns:a="http://schemas.openxmlformats.org/drawingml/2006/main">
            <a:off x="4270248" y="2724912"/>
            <a:ext cx="3291840" cy="0"/>
          </a:xfrm>
          <a:prstGeom xmlns:a="http://schemas.openxmlformats.org/drawingml/2006/main" prst="line">
            <a:avLst/>
          </a:prstGeom>
          <a:noFill xmlns:a="http://schemas.openxmlformats.org/drawingml/2006/main"/>
          <a:ln xmlns:a="http://schemas.openxmlformats.org/drawingml/2006/main" w="6350">
            <a:solidFill>
              <a:srgbClr val="E0D8CC"/>
            </a:solidFill>
            <a:prstDash val="solid"/>
          </a:ln>
        </p:spPr>
        <p:txBody>
          <a:bodyPr xmlns:a="http://schemas.openxmlformats.org/drawingml/2006/main"/>
          <a:lstStyle xmlns:a="http://schemas.openxmlformats.org/drawingml/2006/main"/>
          <a:p xmlns:a="http://schemas.openxmlformats.org/drawingml/2006/main"/>
        </p:txBody>
      </p:sp>
      <p:sp>
        <p:nvSpPr>
          <p:cNvPr id="49" name="Text 47">
            <a:extLst xmlns:a="http://schemas.openxmlformats.org/drawingml/2006/main">
              <a:ext uri="{FF2B5EF4-FFF2-40B4-BE49-F238E27FC236}">
                <a16:creationId xmlns:a16="http://schemas.microsoft.com/office/drawing/2014/main" id="{FCCAA529-93BE-45D9-AA74-BB71309AC7BF}"/>
              </a:ext>
            </a:extLst>
          </p:cNvPr>
          <p:cNvSpPr>
            <a:spLocks xmlns:a="http://schemas.openxmlformats.org/drawingml/2006/main" noGrp="1"/>
          </p:cNvSpPr>
          <p:nvPr/>
        </p:nvSpPr>
        <p:spPr>
          <a:xfrm xmlns:a="http://schemas.openxmlformats.org/drawingml/2006/main">
            <a:off x="4270248"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ANNUAL INCOME</a:t>
            </a:r>
          </a:p>
        </p:txBody>
      </p:sp>
      <p:sp>
        <p:nvSpPr>
          <p:cNvPr id="50" name="Text 48">
            <a:extLst xmlns:a="http://schemas.openxmlformats.org/drawingml/2006/main">
              <a:ext uri="{FF2B5EF4-FFF2-40B4-BE49-F238E27FC236}">
                <a16:creationId xmlns:a16="http://schemas.microsoft.com/office/drawing/2014/main" id="{17D373B4-DD8C-4190-8ED6-5920C3B57C0F}"/>
              </a:ext>
            </a:extLst>
          </p:cNvPr>
          <p:cNvSpPr>
            <a:spLocks xmlns:a="http://schemas.openxmlformats.org/drawingml/2006/main" noGrp="1"/>
          </p:cNvSpPr>
          <p:nvPr/>
        </p:nvSpPr>
        <p:spPr>
          <a:xfrm xmlns:a="http://schemas.openxmlformats.org/drawingml/2006/main">
            <a:off x="4270248"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$205,000</a:t>
            </a:r>
          </a:p>
        </p:txBody>
      </p:sp>
      <p:sp>
        <p:nvSpPr>
          <p:cNvPr id="51" name="Text 49">
            <a:extLst xmlns:a="http://schemas.openxmlformats.org/drawingml/2006/main">
              <a:ext uri="{FF2B5EF4-FFF2-40B4-BE49-F238E27FC236}">
                <a16:creationId xmlns:a16="http://schemas.microsoft.com/office/drawing/2014/main" id="{5693FA75-71F4-4D81-AA63-F490501897D4}"/>
              </a:ext>
            </a:extLst>
          </p:cNvPr>
          <p:cNvSpPr>
            <a:spLocks xmlns:a="http://schemas.openxmlformats.org/drawingml/2006/main" noGrp="1"/>
          </p:cNvSpPr>
          <p:nvPr/>
        </p:nvSpPr>
        <p:spPr>
          <a:xfrm xmlns:a="http://schemas.openxmlformats.org/drawingml/2006/main">
            <a:off x="6007608"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NET WORTH</a:t>
            </a:r>
          </a:p>
        </p:txBody>
      </p:sp>
      <p:sp>
        <p:nvSpPr>
          <p:cNvPr id="52" name="Text 50">
            <a:extLst xmlns:a="http://schemas.openxmlformats.org/drawingml/2006/main">
              <a:ext uri="{FF2B5EF4-FFF2-40B4-BE49-F238E27FC236}">
                <a16:creationId xmlns:a16="http://schemas.microsoft.com/office/drawing/2014/main" id="{2C1C928C-F885-4F3F-98B5-ADE1A8BB644D}"/>
              </a:ext>
            </a:extLst>
          </p:cNvPr>
          <p:cNvSpPr>
            <a:spLocks xmlns:a="http://schemas.openxmlformats.org/drawingml/2006/main" noGrp="1"/>
          </p:cNvSpPr>
          <p:nvPr/>
        </p:nvSpPr>
        <p:spPr>
          <a:xfrm xmlns:a="http://schemas.openxmlformats.org/drawingml/2006/main">
            <a:off x="6007608"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$780,000</a:t>
            </a:r>
          </a:p>
        </p:txBody>
      </p:sp>
      <p:sp>
        <p:nvSpPr>
          <p:cNvPr id="53" name="Shape 51">
            <a:extLst xmlns:a="http://schemas.openxmlformats.org/drawingml/2006/main">
              <a:ext uri="{FF2B5EF4-FFF2-40B4-BE49-F238E27FC236}">
                <a16:creationId xmlns:a16="http://schemas.microsoft.com/office/drawing/2014/main" id="{1AA92162-502D-45EE-893B-529666E54E1A}"/>
              </a:ext>
            </a:extLst>
          </p:cNvPr>
          <p:cNvSpPr>
            <a:spLocks xmlns:a="http://schemas.openxmlformats.org/drawingml/2006/main" noGrp="1"/>
          </p:cNvSpPr>
          <p:nvPr/>
        </p:nvSpPr>
        <p:spPr>
          <a:xfrm xmlns:a="http://schemas.openxmlformats.org/drawingml/2006/main">
            <a:off x="4270248" y="3456432"/>
            <a:ext cx="3291840" cy="804672"/>
          </a:xfrm>
          <a:prstGeom xmlns:a="http://schemas.openxmlformats.org/drawingml/2006/main" prst="rect">
            <a:avLst/>
          </a:prstGeom>
          <a:solidFill xmlns:a="http://schemas.openxmlformats.org/drawingml/2006/main">
            <a:srgbClr val="F0D0D0"/>
          </a:solidFill>
          <a:ln xmlns:a="http://schemas.openxmlformats.org/drawingml/2006/main" w="12700">
            <a:solidFill>
              <a:srgbClr val="F0D0D0"/>
            </a:solidFill>
            <a:prstDash val="solid"/>
          </a:ln>
        </p:spPr>
        <p:txBody>
          <a:bodyPr xmlns:a="http://schemas.openxmlformats.org/drawingml/2006/main"/>
          <a:lstStyle xmlns:a="http://schemas.openxmlformats.org/drawingml/2006/main"/>
          <a:p xmlns:a="http://schemas.openxmlformats.org/drawingml/2006/main"/>
        </p:txBody>
      </p:sp>
      <p:sp>
        <p:nvSpPr>
          <p:cNvPr id="54" name="Shape 52">
            <a:extLst xmlns:a="http://schemas.openxmlformats.org/drawingml/2006/main">
              <a:ext uri="{FF2B5EF4-FFF2-40B4-BE49-F238E27FC236}">
                <a16:creationId xmlns:a16="http://schemas.microsoft.com/office/drawing/2014/main" id="{C99F5B5A-54BA-4541-9FD0-164E48EA50CE}"/>
              </a:ext>
            </a:extLst>
          </p:cNvPr>
          <p:cNvSpPr>
            <a:spLocks xmlns:a="http://schemas.openxmlformats.org/drawingml/2006/main" noGrp="1"/>
          </p:cNvSpPr>
          <p:nvPr/>
        </p:nvSpPr>
        <p:spPr>
          <a:xfrm xmlns:a="http://schemas.openxmlformats.org/drawingml/2006/main">
            <a:off x="4270248" y="3456432"/>
            <a:ext cx="54864" cy="804672"/>
          </a:xfrm>
          <a:prstGeom xmlns:a="http://schemas.openxmlformats.org/drawingml/2006/main" prst="rect">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55" name="Text 53">
            <a:extLst xmlns:a="http://schemas.openxmlformats.org/drawingml/2006/main">
              <a:ext uri="{FF2B5EF4-FFF2-40B4-BE49-F238E27FC236}">
                <a16:creationId xmlns:a16="http://schemas.microsoft.com/office/drawing/2014/main" id="{F57DF732-3458-4606-9F50-850C618ED661}"/>
              </a:ext>
            </a:extLst>
          </p:cNvPr>
          <p:cNvSpPr>
            <a:spLocks xmlns:a="http://schemas.openxmlformats.org/drawingml/2006/main" noGrp="1"/>
          </p:cNvSpPr>
          <p:nvPr/>
        </p:nvSpPr>
        <p:spPr>
          <a:xfrm xmlns:a="http://schemas.openxmlformats.org/drawingml/2006/main">
            <a:off x="4389120" y="3493008"/>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8B1A1A"/>
                </a:solidFill>
                <a:latin typeface="Calibri"/>
                <a:ea typeface="Calibri"/>
                <a:cs typeface="Calibri"/>
              </a:rPr>
              <a:t>PRIMARY GOAL</a:t>
            </a:r>
          </a:p>
        </p:txBody>
      </p:sp>
      <p:sp>
        <p:nvSpPr>
          <p:cNvPr id="56" name="Text 54">
            <a:extLst xmlns:a="http://schemas.openxmlformats.org/drawingml/2006/main">
              <a:ext uri="{FF2B5EF4-FFF2-40B4-BE49-F238E27FC236}">
                <a16:creationId xmlns:a16="http://schemas.microsoft.com/office/drawing/2014/main" id="{83BE17F5-1223-4256-B402-30CE26D6F2C9}"/>
              </a:ext>
            </a:extLst>
          </p:cNvPr>
          <p:cNvSpPr>
            <a:spLocks xmlns:a="http://schemas.openxmlformats.org/drawingml/2006/main" noGrp="1"/>
          </p:cNvSpPr>
          <p:nvPr/>
        </p:nvSpPr>
        <p:spPr>
          <a:xfrm xmlns:a="http://schemas.openxmlformats.org/drawingml/2006/main">
            <a:off x="4389120" y="3657600"/>
            <a:ext cx="329184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150" i="1">
                <a:solidFill>
                  <a:srgbClr val="1A1410"/>
                </a:solidFill>
                <a:latin typeface="Georgia"/>
                <a:ea typeface="Georgia"/>
                <a:cs typeface="Georgia"/>
              </a:rPr>
              <a:t>Career Break / Retirement</a:t>
            </a:r>
          </a:p>
        </p:txBody>
      </p:sp>
      <p:sp>
        <p:nvSpPr>
          <p:cNvPr id="57" name="Shape 55">
            <a:extLst xmlns:a="http://schemas.openxmlformats.org/drawingml/2006/main">
              <a:ext uri="{FF2B5EF4-FFF2-40B4-BE49-F238E27FC236}">
                <a16:creationId xmlns:a16="http://schemas.microsoft.com/office/drawing/2014/main" id="{12B75C82-30E9-4297-8AD6-BC8BDAE86296}"/>
              </a:ext>
            </a:extLst>
          </p:cNvPr>
          <p:cNvSpPr>
            <a:spLocks xmlns:a="http://schemas.openxmlformats.org/drawingml/2006/main" noGrp="1"/>
          </p:cNvSpPr>
          <p:nvPr/>
        </p:nvSpPr>
        <p:spPr>
          <a:xfrm xmlns:a="http://schemas.openxmlformats.org/drawingml/2006/main">
            <a:off x="4270248" y="4407408"/>
            <a:ext cx="3291840" cy="658368"/>
          </a:xfrm>
          <a:prstGeom xmlns:a="http://schemas.openxmlformats.org/drawingml/2006/main" prst="rect">
            <a:avLst/>
          </a:prstGeom>
          <a:solidFill xmlns:a="http://schemas.openxmlformats.org/drawingml/2006/main">
            <a:srgbClr val="F8F5F0"/>
          </a:solidFill>
          <a:ln xmlns:a="http://schemas.openxmlformats.org/drawingml/2006/main" w="6350">
            <a:solidFill>
              <a:srgbClr val="D8D0C4"/>
            </a:solidFill>
            <a:prstDash val="dash"/>
          </a:ln>
        </p:spPr>
        <p:txBody>
          <a:bodyPr xmlns:a="http://schemas.openxmlformats.org/drawingml/2006/main"/>
          <a:lstStyle xmlns:a="http://schemas.openxmlformats.org/drawingml/2006/main"/>
          <a:p xmlns:a="http://schemas.openxmlformats.org/drawingml/2006/main"/>
        </p:txBody>
      </p:sp>
      <p:sp>
        <p:nvSpPr>
          <p:cNvPr id="58" name="Text 56">
            <a:extLst xmlns:a="http://schemas.openxmlformats.org/drawingml/2006/main">
              <a:ext uri="{FF2B5EF4-FFF2-40B4-BE49-F238E27FC236}">
                <a16:creationId xmlns:a16="http://schemas.microsoft.com/office/drawing/2014/main" id="{789A0CCC-D585-4E92-8894-FAC99FE7E7E4}"/>
              </a:ext>
            </a:extLst>
          </p:cNvPr>
          <p:cNvSpPr>
            <a:spLocks xmlns:a="http://schemas.openxmlformats.org/drawingml/2006/main" noGrp="1"/>
          </p:cNvSpPr>
          <p:nvPr/>
        </p:nvSpPr>
        <p:spPr>
          <a:xfrm xmlns:a="http://schemas.openxmlformats.org/drawingml/2006/main">
            <a:off x="4389120" y="4443984"/>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KEY CONSTRAINTS</a:t>
            </a:r>
          </a:p>
        </p:txBody>
      </p:sp>
      <p:sp>
        <p:nvSpPr>
          <p:cNvPr id="59" name="Text 57">
            <a:extLst xmlns:a="http://schemas.openxmlformats.org/drawingml/2006/main">
              <a:ext uri="{FF2B5EF4-FFF2-40B4-BE49-F238E27FC236}">
                <a16:creationId xmlns:a16="http://schemas.microsoft.com/office/drawing/2014/main" id="{0F030B8E-5B89-44D1-AF0C-895890926FE7}"/>
              </a:ext>
            </a:extLst>
          </p:cNvPr>
          <p:cNvSpPr>
            <a:spLocks xmlns:a="http://schemas.openxmlformats.org/drawingml/2006/main" noGrp="1"/>
          </p:cNvSpPr>
          <p:nvPr/>
        </p:nvSpPr>
        <p:spPr>
          <a:xfrm xmlns:a="http://schemas.openxmlformats.org/drawingml/2006/main">
            <a:off x="4389120" y="4608576"/>
            <a:ext cx="3291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50">
                <a:solidFill>
                  <a:srgbClr val="555555"/>
                </a:solidFill>
                <a:latin typeface="Calibri"/>
                <a:ea typeface="Calibri"/>
                <a:cs typeface="Calibri"/>
              </a:rPr>
              <a:t>$100k career break in 4 yrs; 20-yr retirement</a:t>
            </a:r>
          </a:p>
        </p:txBody>
      </p:sp>
      <p:sp>
        <p:nvSpPr>
          <p:cNvPr id="60" name="Shape 58">
            <a:extLst xmlns:a="http://schemas.openxmlformats.org/drawingml/2006/main">
              <a:ext uri="{FF2B5EF4-FFF2-40B4-BE49-F238E27FC236}">
                <a16:creationId xmlns:a16="http://schemas.microsoft.com/office/drawing/2014/main" id="{C8F3E105-FB37-4CFA-A6EC-59FEF146586D}"/>
              </a:ext>
            </a:extLst>
          </p:cNvPr>
          <p:cNvSpPr>
            <a:spLocks xmlns:a="http://schemas.openxmlformats.org/drawingml/2006/main" noGrp="1"/>
          </p:cNvSpPr>
          <p:nvPr/>
        </p:nvSpPr>
        <p:spPr>
          <a:xfrm xmlns:a="http://schemas.openxmlformats.org/drawingml/2006/main">
            <a:off x="4270248" y="5230368"/>
            <a:ext cx="1097280" cy="877824"/>
          </a:xfrm>
          <a:prstGeom xmlns:a="http://schemas.openxmlformats.org/drawingml/2006/main" prst="rect">
            <a:avLst/>
          </a:prstGeom>
          <a:solidFill xmlns:a="http://schemas.openxmlformats.org/drawingml/2006/main">
            <a:srgbClr val="8B1A1A"/>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1" name="Text 59">
            <a:extLst xmlns:a="http://schemas.openxmlformats.org/drawingml/2006/main">
              <a:ext uri="{FF2B5EF4-FFF2-40B4-BE49-F238E27FC236}">
                <a16:creationId xmlns:a16="http://schemas.microsoft.com/office/drawing/2014/main" id="{770125D4-B108-437D-812F-317460BA89B4}"/>
              </a:ext>
            </a:extLst>
          </p:cNvPr>
          <p:cNvSpPr>
            <a:spLocks xmlns:a="http://schemas.openxmlformats.org/drawingml/2006/main" noGrp="1"/>
          </p:cNvSpPr>
          <p:nvPr/>
        </p:nvSpPr>
        <p:spPr>
          <a:xfrm xmlns:a="http://schemas.openxmlformats.org/drawingml/2006/main">
            <a:off x="4288536"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E(R)</a:t>
            </a:r>
          </a:p>
        </p:txBody>
      </p:sp>
      <p:sp>
        <p:nvSpPr>
          <p:cNvPr id="62" name="Text 60">
            <a:extLst xmlns:a="http://schemas.openxmlformats.org/drawingml/2006/main">
              <a:ext uri="{FF2B5EF4-FFF2-40B4-BE49-F238E27FC236}">
                <a16:creationId xmlns:a16="http://schemas.microsoft.com/office/drawing/2014/main" id="{026186E8-2951-4E01-B25A-4487429D3BFA}"/>
              </a:ext>
            </a:extLst>
          </p:cNvPr>
          <p:cNvSpPr>
            <a:spLocks xmlns:a="http://schemas.openxmlformats.org/drawingml/2006/main" noGrp="1"/>
          </p:cNvSpPr>
          <p:nvPr/>
        </p:nvSpPr>
        <p:spPr>
          <a:xfrm xmlns:a="http://schemas.openxmlformats.org/drawingml/2006/main">
            <a:off x="4315968"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7.0%</a:t>
            </a:r>
          </a:p>
        </p:txBody>
      </p:sp>
      <p:sp>
        <p:nvSpPr>
          <p:cNvPr id="63" name="Shape 61">
            <a:extLst xmlns:a="http://schemas.openxmlformats.org/drawingml/2006/main">
              <a:ext uri="{FF2B5EF4-FFF2-40B4-BE49-F238E27FC236}">
                <a16:creationId xmlns:a16="http://schemas.microsoft.com/office/drawing/2014/main" id="{8816860E-4694-4A64-8AAC-D50BB9447F5E}"/>
              </a:ext>
            </a:extLst>
          </p:cNvPr>
          <p:cNvSpPr>
            <a:spLocks xmlns:a="http://schemas.openxmlformats.org/drawingml/2006/main" noGrp="1"/>
          </p:cNvSpPr>
          <p:nvPr/>
        </p:nvSpPr>
        <p:spPr>
          <a:xfrm xmlns:a="http://schemas.openxmlformats.org/drawingml/2006/main">
            <a:off x="5367528" y="5230368"/>
            <a:ext cx="1097280" cy="877824"/>
          </a:xfrm>
          <a:prstGeom xmlns:a="http://schemas.openxmlformats.org/drawingml/2006/main" prst="rect">
            <a:avLst/>
          </a:prstGeom>
          <a:solidFill xmlns:a="http://schemas.openxmlformats.org/drawingml/2006/main">
            <a:srgbClr val="263545"/>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4" name="Text 62">
            <a:extLst xmlns:a="http://schemas.openxmlformats.org/drawingml/2006/main">
              <a:ext uri="{FF2B5EF4-FFF2-40B4-BE49-F238E27FC236}">
                <a16:creationId xmlns:a16="http://schemas.microsoft.com/office/drawing/2014/main" id="{E6464BB4-71B4-42DD-A959-DB445647A286}"/>
              </a:ext>
            </a:extLst>
          </p:cNvPr>
          <p:cNvSpPr>
            <a:spLocks xmlns:a="http://schemas.openxmlformats.org/drawingml/2006/main" noGrp="1"/>
          </p:cNvSpPr>
          <p:nvPr/>
        </p:nvSpPr>
        <p:spPr>
          <a:xfrm xmlns:a="http://schemas.openxmlformats.org/drawingml/2006/main">
            <a:off x="5385816"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STD DEV</a:t>
            </a:r>
          </a:p>
        </p:txBody>
      </p:sp>
      <p:sp>
        <p:nvSpPr>
          <p:cNvPr id="65" name="Text 63">
            <a:extLst xmlns:a="http://schemas.openxmlformats.org/drawingml/2006/main">
              <a:ext uri="{FF2B5EF4-FFF2-40B4-BE49-F238E27FC236}">
                <a16:creationId xmlns:a16="http://schemas.microsoft.com/office/drawing/2014/main" id="{3A5A746E-DC4F-47C1-B80B-96C100FCDEF3}"/>
              </a:ext>
            </a:extLst>
          </p:cNvPr>
          <p:cNvSpPr>
            <a:spLocks xmlns:a="http://schemas.openxmlformats.org/drawingml/2006/main" noGrp="1"/>
          </p:cNvSpPr>
          <p:nvPr/>
        </p:nvSpPr>
        <p:spPr>
          <a:xfrm xmlns:a="http://schemas.openxmlformats.org/drawingml/2006/main">
            <a:off x="5413248"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13.0%</a:t>
            </a:r>
          </a:p>
        </p:txBody>
      </p:sp>
      <p:sp>
        <p:nvSpPr>
          <p:cNvPr id="66" name="Shape 64">
            <a:extLst xmlns:a="http://schemas.openxmlformats.org/drawingml/2006/main">
              <a:ext uri="{FF2B5EF4-FFF2-40B4-BE49-F238E27FC236}">
                <a16:creationId xmlns:a16="http://schemas.microsoft.com/office/drawing/2014/main" id="{0CA679BB-BF22-4F42-A8EA-F2D7C20E8A0F}"/>
              </a:ext>
            </a:extLst>
          </p:cNvPr>
          <p:cNvSpPr>
            <a:spLocks xmlns:a="http://schemas.openxmlformats.org/drawingml/2006/main" noGrp="1"/>
          </p:cNvSpPr>
          <p:nvPr/>
        </p:nvSpPr>
        <p:spPr>
          <a:xfrm xmlns:a="http://schemas.openxmlformats.org/drawingml/2006/main">
            <a:off x="6464808" y="5230368"/>
            <a:ext cx="1097280" cy="877824"/>
          </a:xfrm>
          <a:prstGeom xmlns:a="http://schemas.openxmlformats.org/drawingml/2006/main" prst="rect">
            <a:avLst/>
          </a:prstGeom>
          <a:solidFill xmlns:a="http://schemas.openxmlformats.org/drawingml/2006/main">
            <a:srgbClr val="1A1410"/>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7" name="Text 65">
            <a:extLst xmlns:a="http://schemas.openxmlformats.org/drawingml/2006/main">
              <a:ext uri="{FF2B5EF4-FFF2-40B4-BE49-F238E27FC236}">
                <a16:creationId xmlns:a16="http://schemas.microsoft.com/office/drawing/2014/main" id="{57D4CD42-5FB8-4EE1-807E-54B31D4FC330}"/>
              </a:ext>
            </a:extLst>
          </p:cNvPr>
          <p:cNvSpPr>
            <a:spLocks xmlns:a="http://schemas.openxmlformats.org/drawingml/2006/main" noGrp="1"/>
          </p:cNvSpPr>
          <p:nvPr/>
        </p:nvSpPr>
        <p:spPr>
          <a:xfrm xmlns:a="http://schemas.openxmlformats.org/drawingml/2006/main">
            <a:off x="6483096"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RISK A</a:t>
            </a:r>
          </a:p>
        </p:txBody>
      </p:sp>
      <p:sp>
        <p:nvSpPr>
          <p:cNvPr id="68" name="Text 66">
            <a:extLst xmlns:a="http://schemas.openxmlformats.org/drawingml/2006/main">
              <a:ext uri="{FF2B5EF4-FFF2-40B4-BE49-F238E27FC236}">
                <a16:creationId xmlns:a16="http://schemas.microsoft.com/office/drawing/2014/main" id="{0551414F-7723-41EF-87EC-1E9C632B1042}"/>
              </a:ext>
            </a:extLst>
          </p:cNvPr>
          <p:cNvSpPr>
            <a:spLocks xmlns:a="http://schemas.openxmlformats.org/drawingml/2006/main" noGrp="1"/>
          </p:cNvSpPr>
          <p:nvPr/>
        </p:nvSpPr>
        <p:spPr>
          <a:xfrm xmlns:a="http://schemas.openxmlformats.org/drawingml/2006/main">
            <a:off x="6510528"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4.0</a:t>
            </a:r>
          </a:p>
        </p:txBody>
      </p:sp>
      <p:sp>
        <p:nvSpPr>
          <p:cNvPr id="69" name="Shape 67">
            <a:extLst xmlns:a="http://schemas.openxmlformats.org/drawingml/2006/main">
              <a:ext uri="{FF2B5EF4-FFF2-40B4-BE49-F238E27FC236}">
                <a16:creationId xmlns:a16="http://schemas.microsoft.com/office/drawing/2014/main" id="{6CD6A837-4168-4598-BA21-799E20EEE33C}"/>
              </a:ext>
            </a:extLst>
          </p:cNvPr>
          <p:cNvSpPr>
            <a:spLocks xmlns:a="http://schemas.openxmlformats.org/drawingml/2006/main" noGrp="1"/>
          </p:cNvSpPr>
          <p:nvPr/>
        </p:nvSpPr>
        <p:spPr>
          <a:xfrm xmlns:a="http://schemas.openxmlformats.org/drawingml/2006/main">
            <a:off x="7946136" y="1188720"/>
            <a:ext cx="3749040" cy="5212080"/>
          </a:xfrm>
          <a:prstGeom xmlns:a="http://schemas.openxmlformats.org/drawingml/2006/main" prst="rect">
            <a:avLst/>
          </a:prstGeom>
          <a:solidFill xmlns:a="http://schemas.openxmlformats.org/drawingml/2006/main">
            <a:srgbClr val="FFFFFF"/>
          </a:solidFill>
          <a:ln xmlns:a="http://schemas.openxmlformats.org/drawingml/2006/main" w="6350">
            <a:solidFill>
              <a:srgbClr val="E8E2D8"/>
            </a:solidFill>
            <a:prstDash val="solid"/>
          </a:ln>
          <a:effectLst xmlns:a="http://schemas.openxmlformats.org/drawingml/2006/main">
            <a:outerShdw blurRad="101600" dist="254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70" name="Shape 68">
            <a:extLst xmlns:a="http://schemas.openxmlformats.org/drawingml/2006/main">
              <a:ext uri="{FF2B5EF4-FFF2-40B4-BE49-F238E27FC236}">
                <a16:creationId xmlns:a16="http://schemas.microsoft.com/office/drawing/2014/main" id="{40DA7865-55BE-4D64-A3D3-1367E79E84B3}"/>
              </a:ext>
            </a:extLst>
          </p:cNvPr>
          <p:cNvSpPr>
            <a:spLocks xmlns:a="http://schemas.openxmlformats.org/drawingml/2006/main" noGrp="1"/>
          </p:cNvSpPr>
          <p:nvPr/>
        </p:nvSpPr>
        <p:spPr>
          <a:xfrm xmlns:a="http://schemas.openxmlformats.org/drawingml/2006/main">
            <a:off x="7946136" y="1188720"/>
            <a:ext cx="3749040" cy="109728"/>
          </a:xfrm>
          <a:prstGeom xmlns:a="http://schemas.openxmlformats.org/drawingml/2006/main" prst="rect">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71" name="Shape 69">
            <a:extLst xmlns:a="http://schemas.openxmlformats.org/drawingml/2006/main">
              <a:ext uri="{FF2B5EF4-FFF2-40B4-BE49-F238E27FC236}">
                <a16:creationId xmlns:a16="http://schemas.microsoft.com/office/drawing/2014/main" id="{2D8AE7E7-B12F-4AD2-846F-D2E48C7C21A6}"/>
              </a:ext>
            </a:extLst>
          </p:cNvPr>
          <p:cNvSpPr>
            <a:spLocks xmlns:a="http://schemas.openxmlformats.org/drawingml/2006/main" noGrp="1"/>
          </p:cNvSpPr>
          <p:nvPr/>
        </p:nvSpPr>
        <p:spPr>
          <a:xfrm xmlns:a="http://schemas.openxmlformats.org/drawingml/2006/main">
            <a:off x="8174736" y="1444752"/>
            <a:ext cx="749808" cy="749808"/>
          </a:xfrm>
          <a:prstGeom xmlns:a="http://schemas.openxmlformats.org/drawingml/2006/main" prst="ellipse">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72" name="Text 70">
            <a:extLst xmlns:a="http://schemas.openxmlformats.org/drawingml/2006/main">
              <a:ext uri="{FF2B5EF4-FFF2-40B4-BE49-F238E27FC236}">
                <a16:creationId xmlns:a16="http://schemas.microsoft.com/office/drawing/2014/main" id="{88ED9BBD-C644-426E-98EE-3B98C8E1822D}"/>
              </a:ext>
            </a:extLst>
          </p:cNvPr>
          <p:cNvSpPr>
            <a:spLocks xmlns:a="http://schemas.openxmlformats.org/drawingml/2006/main" noGrp="1"/>
          </p:cNvSpPr>
          <p:nvPr/>
        </p:nvSpPr>
        <p:spPr>
          <a:xfrm xmlns:a="http://schemas.openxmlformats.org/drawingml/2006/main">
            <a:off x="8174736" y="1444752"/>
            <a:ext cx="74980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Georgia"/>
                <a:ea typeface="Georgia"/>
                <a:cs typeface="Georgia"/>
              </a:rPr>
              <a:t>AC</a:t>
            </a:r>
          </a:p>
        </p:txBody>
      </p:sp>
      <p:sp>
        <p:nvSpPr>
          <p:cNvPr id="73" name="Text 71">
            <a:extLst xmlns:a="http://schemas.openxmlformats.org/drawingml/2006/main">
              <a:ext uri="{FF2B5EF4-FFF2-40B4-BE49-F238E27FC236}">
                <a16:creationId xmlns:a16="http://schemas.microsoft.com/office/drawing/2014/main" id="{5B777AD6-5482-4778-B887-17B38D776CD6}"/>
              </a:ext>
            </a:extLst>
          </p:cNvPr>
          <p:cNvSpPr>
            <a:spLocks xmlns:a="http://schemas.openxmlformats.org/drawingml/2006/main" noGrp="1"/>
          </p:cNvSpPr>
          <p:nvPr/>
        </p:nvSpPr>
        <p:spPr>
          <a:xfrm xmlns:a="http://schemas.openxmlformats.org/drawingml/2006/main">
            <a:off x="10232136" y="1353312"/>
            <a:ext cx="1325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AAAAAA"/>
                </a:solidFill>
                <a:latin typeface="Calibri"/>
                <a:ea typeface="Calibri"/>
                <a:cs typeface="Calibri"/>
              </a:rPr>
              <a:t>CASE #18</a:t>
            </a:r>
          </a:p>
        </p:txBody>
      </p:sp>
      <p:sp>
        <p:nvSpPr>
          <p:cNvPr id="74" name="Text 72">
            <a:extLst xmlns:a="http://schemas.openxmlformats.org/drawingml/2006/main">
              <a:ext uri="{FF2B5EF4-FFF2-40B4-BE49-F238E27FC236}">
                <a16:creationId xmlns:a16="http://schemas.microsoft.com/office/drawing/2014/main" id="{1917A345-642D-4D1A-A66E-E7EB80FAA0EF}"/>
              </a:ext>
            </a:extLst>
          </p:cNvPr>
          <p:cNvSpPr>
            <a:spLocks xmlns:a="http://schemas.openxmlformats.org/drawingml/2006/main" noGrp="1"/>
          </p:cNvSpPr>
          <p:nvPr/>
        </p:nvSpPr>
        <p:spPr>
          <a:xfrm xmlns:a="http://schemas.openxmlformats.org/drawingml/2006/main">
            <a:off x="9025128" y="1444752"/>
            <a:ext cx="2560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00" b="1">
                <a:solidFill>
                  <a:srgbClr val="1A1410"/>
                </a:solidFill>
                <a:latin typeface="Georgia"/>
                <a:ea typeface="Georgia"/>
                <a:cs typeface="Georgia"/>
              </a:rPr>
              <a:t>Adrian Cole</a:t>
            </a:r>
          </a:p>
        </p:txBody>
      </p:sp>
      <p:sp>
        <p:nvSpPr>
          <p:cNvPr id="75" name="Text 73">
            <a:extLst xmlns:a="http://schemas.openxmlformats.org/drawingml/2006/main">
              <a:ext uri="{FF2B5EF4-FFF2-40B4-BE49-F238E27FC236}">
                <a16:creationId xmlns:a16="http://schemas.microsoft.com/office/drawing/2014/main" id="{0AF284E5-D67D-4271-806F-CC9D6D899E28}"/>
              </a:ext>
            </a:extLst>
          </p:cNvPr>
          <p:cNvSpPr>
            <a:spLocks xmlns:a="http://schemas.openxmlformats.org/drawingml/2006/main" noGrp="1"/>
          </p:cNvSpPr>
          <p:nvPr/>
        </p:nvSpPr>
        <p:spPr>
          <a:xfrm xmlns:a="http://schemas.openxmlformats.org/drawingml/2006/main">
            <a:off x="9025128" y="1847088"/>
            <a:ext cx="25603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00">
                <a:solidFill>
                  <a:srgbClr val="888888"/>
                </a:solidFill>
                <a:latin typeface="Calibri"/>
                <a:ea typeface="Calibri"/>
                <a:cs typeface="Calibri"/>
              </a:rPr>
              <a:t>Age 35  ·  Airline Pilot</a:t>
            </a:r>
          </a:p>
        </p:txBody>
      </p:sp>
      <p:sp>
        <p:nvSpPr>
          <p:cNvPr id="76" name="Shape 74">
            <a:extLst xmlns:a="http://schemas.openxmlformats.org/drawingml/2006/main">
              <a:ext uri="{FF2B5EF4-FFF2-40B4-BE49-F238E27FC236}">
                <a16:creationId xmlns:a16="http://schemas.microsoft.com/office/drawing/2014/main" id="{2ECBE23C-12D1-40DF-9811-DA847BF80318}"/>
              </a:ext>
            </a:extLst>
          </p:cNvPr>
          <p:cNvSpPr>
            <a:spLocks xmlns:a="http://schemas.openxmlformats.org/drawingml/2006/main" noGrp="1"/>
          </p:cNvSpPr>
          <p:nvPr/>
        </p:nvSpPr>
        <p:spPr>
          <a:xfrm xmlns:a="http://schemas.openxmlformats.org/drawingml/2006/main">
            <a:off x="8174736" y="2322576"/>
            <a:ext cx="1325880" cy="237744"/>
          </a:xfrm>
          <a:prstGeom xmlns:a="http://schemas.openxmlformats.org/drawingml/2006/main" prst="rect">
            <a:avLst/>
          </a:prstGeom>
          <a:solidFill xmlns:a="http://schemas.openxmlformats.org/drawingml/2006/main">
            <a:srgbClr val="E8F5EE"/>
          </a:solidFill>
          <a:ln xmlns:a="http://schemas.openxmlformats.org/drawingml/2006/main" w="12700">
            <a:solidFill>
              <a:srgbClr val="E8F5EE"/>
            </a:solidFill>
            <a:prstDash val="solid"/>
          </a:ln>
        </p:spPr>
        <p:txBody>
          <a:bodyPr xmlns:a="http://schemas.openxmlformats.org/drawingml/2006/main"/>
          <a:lstStyle xmlns:a="http://schemas.openxmlformats.org/drawingml/2006/main"/>
          <a:p xmlns:a="http://schemas.openxmlformats.org/drawingml/2006/main"/>
        </p:txBody>
      </p:sp>
      <p:sp>
        <p:nvSpPr>
          <p:cNvPr id="77" name="Shape 75">
            <a:extLst xmlns:a="http://schemas.openxmlformats.org/drawingml/2006/main">
              <a:ext uri="{FF2B5EF4-FFF2-40B4-BE49-F238E27FC236}">
                <a16:creationId xmlns:a16="http://schemas.microsoft.com/office/drawing/2014/main" id="{EE28ECEB-F56E-463D-B381-677AC1FEB57D}"/>
              </a:ext>
            </a:extLst>
          </p:cNvPr>
          <p:cNvSpPr>
            <a:spLocks xmlns:a="http://schemas.openxmlformats.org/drawingml/2006/main" noGrp="1"/>
          </p:cNvSpPr>
          <p:nvPr/>
        </p:nvSpPr>
        <p:spPr>
          <a:xfrm xmlns:a="http://schemas.openxmlformats.org/drawingml/2006/main">
            <a:off x="8238744" y="2382012"/>
            <a:ext cx="91440" cy="91440"/>
          </a:xfrm>
          <a:prstGeom xmlns:a="http://schemas.openxmlformats.org/drawingml/2006/main" prst="ellipse">
            <a:avLst/>
          </a:prstGeom>
          <a:solidFill xmlns:a="http://schemas.openxmlformats.org/drawingml/2006/main">
            <a:srgbClr val="2D8A5E"/>
          </a:solidFill>
          <a:ln xmlns:a="http://schemas.openxmlformats.org/drawingml/2006/main" w="12700">
            <a:solidFill>
              <a:srgbClr val="2D8A5E"/>
            </a:solidFill>
            <a:prstDash val="solid"/>
          </a:ln>
        </p:spPr>
        <p:txBody>
          <a:bodyPr xmlns:a="http://schemas.openxmlformats.org/drawingml/2006/main"/>
          <a:lstStyle xmlns:a="http://schemas.openxmlformats.org/drawingml/2006/main"/>
          <a:p xmlns:a="http://schemas.openxmlformats.org/drawingml/2006/main"/>
        </p:txBody>
      </p:sp>
      <p:sp>
        <p:nvSpPr>
          <p:cNvPr id="78" name="Text 76">
            <a:extLst xmlns:a="http://schemas.openxmlformats.org/drawingml/2006/main">
              <a:ext uri="{FF2B5EF4-FFF2-40B4-BE49-F238E27FC236}">
                <a16:creationId xmlns:a16="http://schemas.microsoft.com/office/drawing/2014/main" id="{8759DA92-30D6-4C7C-BB62-D760AD33B431}"/>
              </a:ext>
            </a:extLst>
          </p:cNvPr>
          <p:cNvSpPr>
            <a:spLocks xmlns:a="http://schemas.openxmlformats.org/drawingml/2006/main" noGrp="1"/>
          </p:cNvSpPr>
          <p:nvPr/>
        </p:nvSpPr>
        <p:spPr>
          <a:xfrm xmlns:a="http://schemas.openxmlformats.org/drawingml/2006/main">
            <a:off x="8366760" y="2322576"/>
            <a:ext cx="113385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00" b="1">
                <a:solidFill>
                  <a:srgbClr val="2D8A5E"/>
                </a:solidFill>
                <a:latin typeface="Calibri"/>
                <a:ea typeface="Calibri"/>
                <a:cs typeface="Calibri"/>
              </a:rPr>
              <a:t>RISK SEEKING</a:t>
            </a:r>
          </a:p>
        </p:txBody>
      </p:sp>
      <p:sp>
        <p:nvSpPr>
          <p:cNvPr id="79" name="Shape 77">
            <a:extLst xmlns:a="http://schemas.openxmlformats.org/drawingml/2006/main">
              <a:ext uri="{FF2B5EF4-FFF2-40B4-BE49-F238E27FC236}">
                <a16:creationId xmlns:a16="http://schemas.microsoft.com/office/drawing/2014/main" id="{B93A88A8-FA2F-4135-84FE-070BE7CC9471}"/>
              </a:ext>
            </a:extLst>
          </p:cNvPr>
          <p:cNvSpPr>
            <a:spLocks xmlns:a="http://schemas.openxmlformats.org/drawingml/2006/main" noGrp="1"/>
          </p:cNvSpPr>
          <p:nvPr/>
        </p:nvSpPr>
        <p:spPr>
          <a:xfrm xmlns:a="http://schemas.openxmlformats.org/drawingml/2006/main">
            <a:off x="8174736" y="2724912"/>
            <a:ext cx="3291840" cy="0"/>
          </a:xfrm>
          <a:prstGeom xmlns:a="http://schemas.openxmlformats.org/drawingml/2006/main" prst="line">
            <a:avLst/>
          </a:prstGeom>
          <a:noFill xmlns:a="http://schemas.openxmlformats.org/drawingml/2006/main"/>
          <a:ln xmlns:a="http://schemas.openxmlformats.org/drawingml/2006/main" w="6350">
            <a:solidFill>
              <a:srgbClr val="E0D8CC"/>
            </a:solidFill>
            <a:prstDash val="solid"/>
          </a:ln>
        </p:spPr>
        <p:txBody>
          <a:bodyPr xmlns:a="http://schemas.openxmlformats.org/drawingml/2006/main"/>
          <a:lstStyle xmlns:a="http://schemas.openxmlformats.org/drawingml/2006/main"/>
          <a:p xmlns:a="http://schemas.openxmlformats.org/drawingml/2006/main"/>
        </p:txBody>
      </p:sp>
      <p:sp>
        <p:nvSpPr>
          <p:cNvPr id="80" name="Text 78">
            <a:extLst xmlns:a="http://schemas.openxmlformats.org/drawingml/2006/main">
              <a:ext uri="{FF2B5EF4-FFF2-40B4-BE49-F238E27FC236}">
                <a16:creationId xmlns:a16="http://schemas.microsoft.com/office/drawing/2014/main" id="{97C4A658-F687-499C-A506-F5FA8DAE4750}"/>
              </a:ext>
            </a:extLst>
          </p:cNvPr>
          <p:cNvSpPr>
            <a:spLocks xmlns:a="http://schemas.openxmlformats.org/drawingml/2006/main" noGrp="1"/>
          </p:cNvSpPr>
          <p:nvPr/>
        </p:nvSpPr>
        <p:spPr>
          <a:xfrm xmlns:a="http://schemas.openxmlformats.org/drawingml/2006/main">
            <a:off x="8174736"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ANNUAL INCOME</a:t>
            </a:r>
          </a:p>
        </p:txBody>
      </p:sp>
      <p:sp>
        <p:nvSpPr>
          <p:cNvPr id="81" name="Text 79">
            <a:extLst xmlns:a="http://schemas.openxmlformats.org/drawingml/2006/main">
              <a:ext uri="{FF2B5EF4-FFF2-40B4-BE49-F238E27FC236}">
                <a16:creationId xmlns:a16="http://schemas.microsoft.com/office/drawing/2014/main" id="{9F05672F-7C80-474D-801E-7753E80C387D}"/>
              </a:ext>
            </a:extLst>
          </p:cNvPr>
          <p:cNvSpPr>
            <a:spLocks xmlns:a="http://schemas.openxmlformats.org/drawingml/2006/main" noGrp="1"/>
          </p:cNvSpPr>
          <p:nvPr/>
        </p:nvSpPr>
        <p:spPr>
          <a:xfrm xmlns:a="http://schemas.openxmlformats.org/drawingml/2006/main">
            <a:off x="8174736"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$180,000</a:t>
            </a:r>
          </a:p>
        </p:txBody>
      </p:sp>
      <p:sp>
        <p:nvSpPr>
          <p:cNvPr id="82" name="Text 80">
            <a:extLst xmlns:a="http://schemas.openxmlformats.org/drawingml/2006/main">
              <a:ext uri="{FF2B5EF4-FFF2-40B4-BE49-F238E27FC236}">
                <a16:creationId xmlns:a16="http://schemas.microsoft.com/office/drawing/2014/main" id="{3F14F857-DCA7-43F8-A2F8-897354BB9FC0}"/>
              </a:ext>
            </a:extLst>
          </p:cNvPr>
          <p:cNvSpPr>
            <a:spLocks xmlns:a="http://schemas.openxmlformats.org/drawingml/2006/main" noGrp="1"/>
          </p:cNvSpPr>
          <p:nvPr/>
        </p:nvSpPr>
        <p:spPr>
          <a:xfrm xmlns:a="http://schemas.openxmlformats.org/drawingml/2006/main">
            <a:off x="9912096"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NET WORTH</a:t>
            </a:r>
          </a:p>
        </p:txBody>
      </p:sp>
      <p:sp>
        <p:nvSpPr>
          <p:cNvPr id="83" name="Text 81">
            <a:extLst xmlns:a="http://schemas.openxmlformats.org/drawingml/2006/main">
              <a:ext uri="{FF2B5EF4-FFF2-40B4-BE49-F238E27FC236}">
                <a16:creationId xmlns:a16="http://schemas.microsoft.com/office/drawing/2014/main" id="{3DDEFBCB-D953-4D24-9949-3F6FAB941274}"/>
              </a:ext>
            </a:extLst>
          </p:cNvPr>
          <p:cNvSpPr>
            <a:spLocks xmlns:a="http://schemas.openxmlformats.org/drawingml/2006/main" noGrp="1"/>
          </p:cNvSpPr>
          <p:nvPr/>
        </p:nvSpPr>
        <p:spPr>
          <a:xfrm xmlns:a="http://schemas.openxmlformats.org/drawingml/2006/main">
            <a:off x="9912096"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$650,000</a:t>
            </a:r>
          </a:p>
        </p:txBody>
      </p:sp>
      <p:sp>
        <p:nvSpPr>
          <p:cNvPr id="84" name="Shape 82">
            <a:extLst xmlns:a="http://schemas.openxmlformats.org/drawingml/2006/main">
              <a:ext uri="{FF2B5EF4-FFF2-40B4-BE49-F238E27FC236}">
                <a16:creationId xmlns:a16="http://schemas.microsoft.com/office/drawing/2014/main" id="{FD4045EA-30ED-457A-9984-F3D77FB7F3B3}"/>
              </a:ext>
            </a:extLst>
          </p:cNvPr>
          <p:cNvSpPr>
            <a:spLocks xmlns:a="http://schemas.openxmlformats.org/drawingml/2006/main" noGrp="1"/>
          </p:cNvSpPr>
          <p:nvPr/>
        </p:nvSpPr>
        <p:spPr>
          <a:xfrm xmlns:a="http://schemas.openxmlformats.org/drawingml/2006/main">
            <a:off x="8174736" y="3456432"/>
            <a:ext cx="3291840" cy="804672"/>
          </a:xfrm>
          <a:prstGeom xmlns:a="http://schemas.openxmlformats.org/drawingml/2006/main" prst="rect">
            <a:avLst/>
          </a:prstGeom>
          <a:solidFill xmlns:a="http://schemas.openxmlformats.org/drawingml/2006/main">
            <a:srgbClr val="F0D0D0"/>
          </a:solidFill>
          <a:ln xmlns:a="http://schemas.openxmlformats.org/drawingml/2006/main" w="12700">
            <a:solidFill>
              <a:srgbClr val="F0D0D0"/>
            </a:solidFill>
            <a:prstDash val="solid"/>
          </a:ln>
        </p:spPr>
        <p:txBody>
          <a:bodyPr xmlns:a="http://schemas.openxmlformats.org/drawingml/2006/main"/>
          <a:lstStyle xmlns:a="http://schemas.openxmlformats.org/drawingml/2006/main"/>
          <a:p xmlns:a="http://schemas.openxmlformats.org/drawingml/2006/main"/>
        </p:txBody>
      </p:sp>
      <p:sp>
        <p:nvSpPr>
          <p:cNvPr id="85" name="Shape 83">
            <a:extLst xmlns:a="http://schemas.openxmlformats.org/drawingml/2006/main">
              <a:ext uri="{FF2B5EF4-FFF2-40B4-BE49-F238E27FC236}">
                <a16:creationId xmlns:a16="http://schemas.microsoft.com/office/drawing/2014/main" id="{8125C087-E929-4722-A75F-6D1A94C32FBC}"/>
              </a:ext>
            </a:extLst>
          </p:cNvPr>
          <p:cNvSpPr>
            <a:spLocks xmlns:a="http://schemas.openxmlformats.org/drawingml/2006/main" noGrp="1"/>
          </p:cNvSpPr>
          <p:nvPr/>
        </p:nvSpPr>
        <p:spPr>
          <a:xfrm xmlns:a="http://schemas.openxmlformats.org/drawingml/2006/main">
            <a:off x="8174736" y="3456432"/>
            <a:ext cx="54864" cy="804672"/>
          </a:xfrm>
          <a:prstGeom xmlns:a="http://schemas.openxmlformats.org/drawingml/2006/main" prst="rect">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86" name="Text 84">
            <a:extLst xmlns:a="http://schemas.openxmlformats.org/drawingml/2006/main">
              <a:ext uri="{FF2B5EF4-FFF2-40B4-BE49-F238E27FC236}">
                <a16:creationId xmlns:a16="http://schemas.microsoft.com/office/drawing/2014/main" id="{37653717-4120-406E-8096-F3DCEE8015C5}"/>
              </a:ext>
            </a:extLst>
          </p:cNvPr>
          <p:cNvSpPr>
            <a:spLocks xmlns:a="http://schemas.openxmlformats.org/drawingml/2006/main" noGrp="1"/>
          </p:cNvSpPr>
          <p:nvPr/>
        </p:nvSpPr>
        <p:spPr>
          <a:xfrm xmlns:a="http://schemas.openxmlformats.org/drawingml/2006/main">
            <a:off x="8293608" y="3493008"/>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8B1A1A"/>
                </a:solidFill>
                <a:latin typeface="Calibri"/>
                <a:ea typeface="Calibri"/>
                <a:cs typeface="Calibri"/>
              </a:rPr>
              <a:t>PRIMARY GOAL</a:t>
            </a:r>
          </a:p>
        </p:txBody>
      </p:sp>
      <p:sp>
        <p:nvSpPr>
          <p:cNvPr id="87" name="Text 85">
            <a:extLst xmlns:a="http://schemas.openxmlformats.org/drawingml/2006/main">
              <a:ext uri="{FF2B5EF4-FFF2-40B4-BE49-F238E27FC236}">
                <a16:creationId xmlns:a16="http://schemas.microsoft.com/office/drawing/2014/main" id="{7E6C7934-70DF-4FB8-86E5-34D7B0438507}"/>
              </a:ext>
            </a:extLst>
          </p:cNvPr>
          <p:cNvSpPr>
            <a:spLocks xmlns:a="http://schemas.openxmlformats.org/drawingml/2006/main" noGrp="1"/>
          </p:cNvSpPr>
          <p:nvPr/>
        </p:nvSpPr>
        <p:spPr>
          <a:xfrm xmlns:a="http://schemas.openxmlformats.org/drawingml/2006/main">
            <a:off x="8293608" y="3657600"/>
            <a:ext cx="329184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150" i="1">
                <a:solidFill>
                  <a:srgbClr val="1A1410"/>
                </a:solidFill>
                <a:latin typeface="Georgia"/>
                <a:ea typeface="Georgia"/>
                <a:cs typeface="Georgia"/>
              </a:rPr>
              <a:t>Long-term Financial Independence</a:t>
            </a:r>
          </a:p>
        </p:txBody>
      </p:sp>
      <p:sp>
        <p:nvSpPr>
          <p:cNvPr id="88" name="Shape 86">
            <a:extLst xmlns:a="http://schemas.openxmlformats.org/drawingml/2006/main">
              <a:ext uri="{FF2B5EF4-FFF2-40B4-BE49-F238E27FC236}">
                <a16:creationId xmlns:a16="http://schemas.microsoft.com/office/drawing/2014/main" id="{EC4FFFEC-C0F0-40D0-B79C-534DB5A20146}"/>
              </a:ext>
            </a:extLst>
          </p:cNvPr>
          <p:cNvSpPr>
            <a:spLocks xmlns:a="http://schemas.openxmlformats.org/drawingml/2006/main" noGrp="1"/>
          </p:cNvSpPr>
          <p:nvPr/>
        </p:nvSpPr>
        <p:spPr>
          <a:xfrm xmlns:a="http://schemas.openxmlformats.org/drawingml/2006/main">
            <a:off x="8174736" y="4407408"/>
            <a:ext cx="3291840" cy="658368"/>
          </a:xfrm>
          <a:prstGeom xmlns:a="http://schemas.openxmlformats.org/drawingml/2006/main" prst="rect">
            <a:avLst/>
          </a:prstGeom>
          <a:solidFill xmlns:a="http://schemas.openxmlformats.org/drawingml/2006/main">
            <a:srgbClr val="F8F5F0"/>
          </a:solidFill>
          <a:ln xmlns:a="http://schemas.openxmlformats.org/drawingml/2006/main" w="6350">
            <a:solidFill>
              <a:srgbClr val="D8D0C4"/>
            </a:solidFill>
            <a:prstDash val="dash"/>
          </a:ln>
        </p:spPr>
        <p:txBody>
          <a:bodyPr xmlns:a="http://schemas.openxmlformats.org/drawingml/2006/main"/>
          <a:lstStyle xmlns:a="http://schemas.openxmlformats.org/drawingml/2006/main"/>
          <a:p xmlns:a="http://schemas.openxmlformats.org/drawingml/2006/main"/>
        </p:txBody>
      </p:sp>
      <p:sp>
        <p:nvSpPr>
          <p:cNvPr id="89" name="Text 87">
            <a:extLst xmlns:a="http://schemas.openxmlformats.org/drawingml/2006/main">
              <a:ext uri="{FF2B5EF4-FFF2-40B4-BE49-F238E27FC236}">
                <a16:creationId xmlns:a16="http://schemas.microsoft.com/office/drawing/2014/main" id="{3997D47A-7FAF-462D-9634-C64E5E6D5EB7}"/>
              </a:ext>
            </a:extLst>
          </p:cNvPr>
          <p:cNvSpPr>
            <a:spLocks xmlns:a="http://schemas.openxmlformats.org/drawingml/2006/main" noGrp="1"/>
          </p:cNvSpPr>
          <p:nvPr/>
        </p:nvSpPr>
        <p:spPr>
          <a:xfrm xmlns:a="http://schemas.openxmlformats.org/drawingml/2006/main">
            <a:off x="8293608" y="4443984"/>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KEY CONSTRAINTS</a:t>
            </a:r>
          </a:p>
        </p:txBody>
      </p:sp>
      <p:sp>
        <p:nvSpPr>
          <p:cNvPr id="90" name="Text 88">
            <a:extLst xmlns:a="http://schemas.openxmlformats.org/drawingml/2006/main">
              <a:ext uri="{FF2B5EF4-FFF2-40B4-BE49-F238E27FC236}">
                <a16:creationId xmlns:a16="http://schemas.microsoft.com/office/drawing/2014/main" id="{FF7180ED-8731-40B7-AFDE-B777852E5978}"/>
              </a:ext>
            </a:extLst>
          </p:cNvPr>
          <p:cNvSpPr>
            <a:spLocks xmlns:a="http://schemas.openxmlformats.org/drawingml/2006/main" noGrp="1"/>
          </p:cNvSpPr>
          <p:nvPr/>
        </p:nvSpPr>
        <p:spPr>
          <a:xfrm xmlns:a="http://schemas.openxmlformats.org/drawingml/2006/main">
            <a:off x="8293608" y="4608576"/>
            <a:ext cx="3291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50">
                <a:solidFill>
                  <a:srgbClr val="555555"/>
                </a:solidFill>
                <a:latin typeface="Calibri"/>
                <a:ea typeface="Calibri"/>
                <a:cs typeface="Calibri"/>
              </a:rPr>
              <a:t>25-yr horizon; cash reserve outside portfolio</a:t>
            </a:r>
          </a:p>
        </p:txBody>
      </p:sp>
      <p:sp>
        <p:nvSpPr>
          <p:cNvPr id="91" name="Shape 89">
            <a:extLst xmlns:a="http://schemas.openxmlformats.org/drawingml/2006/main">
              <a:ext uri="{FF2B5EF4-FFF2-40B4-BE49-F238E27FC236}">
                <a16:creationId xmlns:a16="http://schemas.microsoft.com/office/drawing/2014/main" id="{882750A5-95B9-4AAD-8112-EF01064DAB9E}"/>
              </a:ext>
            </a:extLst>
          </p:cNvPr>
          <p:cNvSpPr>
            <a:spLocks xmlns:a="http://schemas.openxmlformats.org/drawingml/2006/main" noGrp="1"/>
          </p:cNvSpPr>
          <p:nvPr/>
        </p:nvSpPr>
        <p:spPr>
          <a:xfrm xmlns:a="http://schemas.openxmlformats.org/drawingml/2006/main">
            <a:off x="8174736" y="5230368"/>
            <a:ext cx="1097280" cy="877824"/>
          </a:xfrm>
          <a:prstGeom xmlns:a="http://schemas.openxmlformats.org/drawingml/2006/main" prst="rect">
            <a:avLst/>
          </a:prstGeom>
          <a:solidFill xmlns:a="http://schemas.openxmlformats.org/drawingml/2006/main">
            <a:srgbClr val="8B1A1A"/>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92" name="Text 90">
            <a:extLst xmlns:a="http://schemas.openxmlformats.org/drawingml/2006/main">
              <a:ext uri="{FF2B5EF4-FFF2-40B4-BE49-F238E27FC236}">
                <a16:creationId xmlns:a16="http://schemas.microsoft.com/office/drawing/2014/main" id="{D42A368D-E429-401E-B7AB-516F4BB6676A}"/>
              </a:ext>
            </a:extLst>
          </p:cNvPr>
          <p:cNvSpPr>
            <a:spLocks xmlns:a="http://schemas.openxmlformats.org/drawingml/2006/main" noGrp="1"/>
          </p:cNvSpPr>
          <p:nvPr/>
        </p:nvSpPr>
        <p:spPr>
          <a:xfrm xmlns:a="http://schemas.openxmlformats.org/drawingml/2006/main">
            <a:off x="8193024"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E(R)</a:t>
            </a:r>
          </a:p>
        </p:txBody>
      </p:sp>
      <p:sp>
        <p:nvSpPr>
          <p:cNvPr id="93" name="Text 91">
            <a:extLst xmlns:a="http://schemas.openxmlformats.org/drawingml/2006/main">
              <a:ext uri="{FF2B5EF4-FFF2-40B4-BE49-F238E27FC236}">
                <a16:creationId xmlns:a16="http://schemas.microsoft.com/office/drawing/2014/main" id="{5DAD0904-92A6-4EF1-A229-A19C79BCD91D}"/>
              </a:ext>
            </a:extLst>
          </p:cNvPr>
          <p:cNvSpPr>
            <a:spLocks xmlns:a="http://schemas.openxmlformats.org/drawingml/2006/main" noGrp="1"/>
          </p:cNvSpPr>
          <p:nvPr/>
        </p:nvSpPr>
        <p:spPr>
          <a:xfrm xmlns:a="http://schemas.openxmlformats.org/drawingml/2006/main">
            <a:off x="8220456"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9.5%</a:t>
            </a:r>
          </a:p>
        </p:txBody>
      </p:sp>
      <p:sp>
        <p:nvSpPr>
          <p:cNvPr id="94" name="Shape 92">
            <a:extLst xmlns:a="http://schemas.openxmlformats.org/drawingml/2006/main">
              <a:ext uri="{FF2B5EF4-FFF2-40B4-BE49-F238E27FC236}">
                <a16:creationId xmlns:a16="http://schemas.microsoft.com/office/drawing/2014/main" id="{7DF5E700-3FD8-4D4C-8338-33D85C70DC1E}"/>
              </a:ext>
            </a:extLst>
          </p:cNvPr>
          <p:cNvSpPr>
            <a:spLocks xmlns:a="http://schemas.openxmlformats.org/drawingml/2006/main" noGrp="1"/>
          </p:cNvSpPr>
          <p:nvPr/>
        </p:nvSpPr>
        <p:spPr>
          <a:xfrm xmlns:a="http://schemas.openxmlformats.org/drawingml/2006/main">
            <a:off x="9272016" y="5230368"/>
            <a:ext cx="1097280" cy="877824"/>
          </a:xfrm>
          <a:prstGeom xmlns:a="http://schemas.openxmlformats.org/drawingml/2006/main" prst="rect">
            <a:avLst/>
          </a:prstGeom>
          <a:solidFill xmlns:a="http://schemas.openxmlformats.org/drawingml/2006/main">
            <a:srgbClr val="263545"/>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95" name="Text 93">
            <a:extLst xmlns:a="http://schemas.openxmlformats.org/drawingml/2006/main">
              <a:ext uri="{FF2B5EF4-FFF2-40B4-BE49-F238E27FC236}">
                <a16:creationId xmlns:a16="http://schemas.microsoft.com/office/drawing/2014/main" id="{4F67E60D-01C3-438E-BEC1-11BE5625F55B}"/>
              </a:ext>
            </a:extLst>
          </p:cNvPr>
          <p:cNvSpPr>
            <a:spLocks xmlns:a="http://schemas.openxmlformats.org/drawingml/2006/main" noGrp="1"/>
          </p:cNvSpPr>
          <p:nvPr/>
        </p:nvSpPr>
        <p:spPr>
          <a:xfrm xmlns:a="http://schemas.openxmlformats.org/drawingml/2006/main">
            <a:off x="9290304"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STD DEV</a:t>
            </a:r>
          </a:p>
        </p:txBody>
      </p:sp>
      <p:sp>
        <p:nvSpPr>
          <p:cNvPr id="96" name="Text 94">
            <a:extLst xmlns:a="http://schemas.openxmlformats.org/drawingml/2006/main">
              <a:ext uri="{FF2B5EF4-FFF2-40B4-BE49-F238E27FC236}">
                <a16:creationId xmlns:a16="http://schemas.microsoft.com/office/drawing/2014/main" id="{6F860F8C-C517-4A8F-B8B3-73ECE8F97FD0}"/>
              </a:ext>
            </a:extLst>
          </p:cNvPr>
          <p:cNvSpPr>
            <a:spLocks xmlns:a="http://schemas.openxmlformats.org/drawingml/2006/main" noGrp="1"/>
          </p:cNvSpPr>
          <p:nvPr/>
        </p:nvSpPr>
        <p:spPr>
          <a:xfrm xmlns:a="http://schemas.openxmlformats.org/drawingml/2006/main">
            <a:off x="9317736"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20.0%</a:t>
            </a:r>
          </a:p>
        </p:txBody>
      </p:sp>
      <p:sp>
        <p:nvSpPr>
          <p:cNvPr id="97" name="Shape 95">
            <a:extLst xmlns:a="http://schemas.openxmlformats.org/drawingml/2006/main">
              <a:ext uri="{FF2B5EF4-FFF2-40B4-BE49-F238E27FC236}">
                <a16:creationId xmlns:a16="http://schemas.microsoft.com/office/drawing/2014/main" id="{9E426DF4-0202-495D-911F-7D1ADD675B3B}"/>
              </a:ext>
            </a:extLst>
          </p:cNvPr>
          <p:cNvSpPr>
            <a:spLocks xmlns:a="http://schemas.openxmlformats.org/drawingml/2006/main" noGrp="1"/>
          </p:cNvSpPr>
          <p:nvPr/>
        </p:nvSpPr>
        <p:spPr>
          <a:xfrm xmlns:a="http://schemas.openxmlformats.org/drawingml/2006/main">
            <a:off x="10369296" y="5230368"/>
            <a:ext cx="1097280" cy="877824"/>
          </a:xfrm>
          <a:prstGeom xmlns:a="http://schemas.openxmlformats.org/drawingml/2006/main" prst="rect">
            <a:avLst/>
          </a:prstGeom>
          <a:solidFill xmlns:a="http://schemas.openxmlformats.org/drawingml/2006/main">
            <a:srgbClr val="1A1410"/>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98" name="Text 96">
            <a:extLst xmlns:a="http://schemas.openxmlformats.org/drawingml/2006/main">
              <a:ext uri="{FF2B5EF4-FFF2-40B4-BE49-F238E27FC236}">
                <a16:creationId xmlns:a16="http://schemas.microsoft.com/office/drawing/2014/main" id="{3A381DCE-B1A1-4608-AD2E-432392801770}"/>
              </a:ext>
            </a:extLst>
          </p:cNvPr>
          <p:cNvSpPr>
            <a:spLocks xmlns:a="http://schemas.openxmlformats.org/drawingml/2006/main" noGrp="1"/>
          </p:cNvSpPr>
          <p:nvPr/>
        </p:nvSpPr>
        <p:spPr>
          <a:xfrm xmlns:a="http://schemas.openxmlformats.org/drawingml/2006/main">
            <a:off x="10387584"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RISK A</a:t>
            </a:r>
          </a:p>
        </p:txBody>
      </p:sp>
      <p:sp>
        <p:nvSpPr>
          <p:cNvPr id="99" name="Text 97">
            <a:extLst xmlns:a="http://schemas.openxmlformats.org/drawingml/2006/main">
              <a:ext uri="{FF2B5EF4-FFF2-40B4-BE49-F238E27FC236}">
                <a16:creationId xmlns:a16="http://schemas.microsoft.com/office/drawing/2014/main" id="{DD146FEC-EEC1-44C9-86B9-87455A656921}"/>
              </a:ext>
            </a:extLst>
          </p:cNvPr>
          <p:cNvSpPr>
            <a:spLocks xmlns:a="http://schemas.openxmlformats.org/drawingml/2006/main" noGrp="1"/>
          </p:cNvSpPr>
          <p:nvPr/>
        </p:nvSpPr>
        <p:spPr>
          <a:xfrm xmlns:a="http://schemas.openxmlformats.org/drawingml/2006/main">
            <a:off x="10415016"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2.0</a:t>
            </a:r>
          </a:p>
        </p:txBody>
      </p:sp>
      <p:sp>
        <p:nvSpPr>
          <p:cNvPr id="100" name="Shape 98">
            <a:extLst xmlns:a="http://schemas.openxmlformats.org/drawingml/2006/main">
              <a:ext uri="{FF2B5EF4-FFF2-40B4-BE49-F238E27FC236}">
                <a16:creationId xmlns:a16="http://schemas.microsoft.com/office/drawing/2014/main" id="{60C78A13-A47D-420A-9172-DE7E9D96542A}"/>
              </a:ext>
            </a:extLst>
          </p:cNvPr>
          <p:cNvSpPr>
            <a:spLocks xmlns:a="http://schemas.openxmlformats.org/drawingml/2006/main" noGrp="1"/>
          </p:cNvSpPr>
          <p:nvPr/>
        </p:nvSpPr>
        <p:spPr>
          <a:xfrm xmlns:a="http://schemas.openxmlformats.org/drawingml/2006/main">
            <a:off x="0" y="6565392"/>
            <a:ext cx="12161520" cy="292608"/>
          </a:xfrm>
          <a:prstGeom xmlns:a="http://schemas.openxmlformats.org/drawingml/2006/main" prst="rect">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101" name="Text 99">
            <a:extLst xmlns:a="http://schemas.openxmlformats.org/drawingml/2006/main">
              <a:ext uri="{FF2B5EF4-FFF2-40B4-BE49-F238E27FC236}">
                <a16:creationId xmlns:a16="http://schemas.microsoft.com/office/drawing/2014/main" id="{1673FAF9-5D76-44B5-865C-4E28436E03D0}"/>
              </a:ext>
            </a:extLst>
          </p:cNvPr>
          <p:cNvSpPr>
            <a:spLocks xmlns:a="http://schemas.openxmlformats.org/drawingml/2006/main" noGrp="1"/>
          </p:cNvSpPr>
          <p:nvPr/>
        </p:nvSpPr>
        <p:spPr>
          <a:xfrm xmlns:a="http://schemas.openxmlformats.org/drawingml/2006/main">
            <a:off x="274320" y="6565392"/>
            <a:ext cx="116128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FFFFFF">
                    <a:alpha val="65000"/>
                  </a:srgbClr>
                </a:solidFill>
                <a:latin typeface="Calibri"/>
                <a:ea typeface="Calibri"/>
                <a:cs typeface="Calibri"/>
              </a:rPr>
              <a:t>BUS331 Investments  ·  Endicott College  ·  Team Six</a:t>
            </a:r>
          </a:p>
        </p:txBody>
      </p:sp>
    </p:spTree>
    <p:extLst>
      <p:ext uri="{BB962C8B-B14F-4D97-AF65-F5344CB8AC3E}">
        <p14:creationId xmlns:p14="http://schemas.microsoft.com/office/powerpoint/2010/main" val="168397018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2026-10-05T23:16:18.5500000Z</dcterms:created>
  <dcterms:modified xsi:type="dcterms:W3CDTF">2026-10-05T23:16:18.5500000Z</dcterms:modified>
</coreProperties>
</file>