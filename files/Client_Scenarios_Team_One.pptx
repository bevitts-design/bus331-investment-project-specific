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7fc2dd18bde4b5d" /><Relationship Type="http://schemas.openxmlformats.org/officeDocument/2006/relationships/extended-properties" Target="/docProps/app.xml" Id="R1f997df4478c4b55" /><Relationship Type="http://schemas.openxmlformats.org/officeDocument/2006/relationships/officeDocument" Target="/ppt/presentation.xml" Id="R7e8898a213174ce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e2a659e2034b6a"/>
  </p:sldMasterIdLst>
  <p:notesMasterIdLst>
    <p:notesMasterId xmlns:r="http://schemas.openxmlformats.org/officeDocument/2006/relationships" r:id="Re2f145e3c5674596"/>
  </p:notesMasterIdLst>
  <p:sldIdLst>
    <p:sldId xmlns:r="http://schemas.openxmlformats.org/officeDocument/2006/relationships" id="256" r:id="R741130e6552448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3d62aa7bbb4976" /><Relationship Type="http://schemas.openxmlformats.org/officeDocument/2006/relationships/slideMaster" Target="/ppt/slideMasters/slideMaster1.xml" Id="R41e2a659e2034b6a" /><Relationship Type="http://schemas.openxmlformats.org/officeDocument/2006/relationships/notesMaster" Target="/ppt/notesMasters/notesMaster1.xml" Id="Re2f145e3c5674596" /><Relationship Type="http://schemas.openxmlformats.org/officeDocument/2006/relationships/presProps" Target="/ppt/presProps.xml" Id="R799f4a2b79ff4ea6" /><Relationship Type="http://schemas.openxmlformats.org/officeDocument/2006/relationships/viewProps" Target="/ppt/viewProps.xml" Id="R4454bb909ec14720" /><Relationship Type="http://schemas.openxmlformats.org/officeDocument/2006/relationships/tableStyles" Target="/ppt/tableStyles.xml" Id="R0b8e24a26948460a" /><Relationship Type="http://schemas.openxmlformats.org/officeDocument/2006/relationships/slide" Target="/ppt/slides/slide1.xml" Id="R741130e6552448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504f1ed6c44d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a5831fa6504dac" /><Relationship Type="http://schemas.openxmlformats.org/officeDocument/2006/relationships/notesMaster" Target="/ppt/notesMasters/notesMaster1.xml" Id="R8a00a914cbc64ba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064a17880f49d6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b751d036bd4688" /><Relationship Type="http://schemas.openxmlformats.org/officeDocument/2006/relationships/slideLayout" Target="/ppt/slideLayouts/slideLayout1.xml" Id="R07e483940c2f4e2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e483940c2f4e2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28ae79d5e24fa5" /><Relationship Type="http://schemas.openxmlformats.org/officeDocument/2006/relationships/notesSlide" Target="/ppt/notesSlides/notesSlide1.xml" Id="Ra9a97618472e4e3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6BCA1CA-E6D1-4153-8CBA-4833A5C73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6152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4A6B"/>
          </a:solidFill>
          <a:ln xmlns:a="http://schemas.openxmlformats.org/drawingml/2006/main" w="12700">
            <a:solidFill>
              <a:srgbClr val="2B4A6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49049CC-E390-48F6-84A0-D51544F5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-45720"/>
            <a:ext cx="14630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0" b="1">
                <a:solidFill>
                  <a:srgbClr val="FFFFFF">
                    <a:alpha val="25000"/>
                  </a:srgbClr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804A4AC-0546-43A0-86FE-7A326CEC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3152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FFFFFF">
                    <a:alpha val="60000"/>
                  </a:srgbClr>
                </a:solidFill>
                <a:latin typeface="Calibri"/>
                <a:ea typeface="Calibri"/>
                <a:cs typeface="Calibri"/>
              </a:rPr>
              <a:t>TEAM ONE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496E79D-A5A3-4292-8B1E-D906E9A6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"/>
            <a:ext cx="7315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6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Team One · Client Profiles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0AE0205-8A6D-441F-A7EF-76B59F83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274320"/>
            <a:ext cx="1188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FFFFFF">
                    <a:alpha val="50000"/>
                  </a:srgbClr>
                </a:solidFill>
                <a:latin typeface="Calibri"/>
                <a:ea typeface="Calibri"/>
                <a:cs typeface="Calibri"/>
              </a:rPr>
              <a:t>1 / 5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480F595-628C-4EFB-8BE0-C039D3705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" y="1188720"/>
            <a:ext cx="3749040" cy="521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8E2D8"/>
            </a:solidFill>
            <a:prstDash val="solid"/>
          </a:ln>
          <a:effectLst xmlns:a="http://schemas.openxmlformats.org/drawingml/2006/main"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7297E81-4AA1-443D-8C76-BEC2FB4F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" y="1188720"/>
            <a:ext cx="374904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4A6B"/>
          </a:solidFill>
          <a:ln xmlns:a="http://schemas.openxmlformats.org/drawingml/2006/main" w="12700">
            <a:solidFill>
              <a:srgbClr val="2B4A6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F9AAA03-57CB-41E1-A719-9ECFAB9F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44475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4A6B"/>
          </a:solidFill>
          <a:ln xmlns:a="http://schemas.openxmlformats.org/drawingml/2006/main" w="12700">
            <a:solidFill>
              <a:srgbClr val="2B4A6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F9E22C4-2991-4532-AEC1-B70174FB9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1353312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CASE #01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D17D43B-26DF-4851-AF2E-EF222EAF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1444752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Eleanor Vance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CF26304-C8A7-40E9-B0EA-61EAAFEE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1847088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Age 72  ·  Retired Librarian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10B59BC-2CCA-4A2D-B183-49D9291E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322576"/>
            <a:ext cx="132588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12700">
            <a:solidFill>
              <a:srgbClr val="FFF0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367A2F9-03C0-453B-9363-C6DD69A7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" y="2382012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5B30"/>
          </a:solidFill>
          <a:ln xmlns:a="http://schemas.openxmlformats.org/drawingml/2006/main" w="12700">
            <a:solidFill>
              <a:srgbClr val="C05B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FD721EC-CA94-482C-A801-74722723A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" y="2322576"/>
            <a:ext cx="11338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C05B30"/>
                </a:solidFill>
                <a:latin typeface="Calibri"/>
                <a:ea typeface="Calibri"/>
                <a:cs typeface="Calibri"/>
              </a:rPr>
              <a:t>RISK AVERSE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FE345067-8786-4E07-87F6-8BEA39D8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24912"/>
            <a:ext cx="3291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">
            <a:solidFill>
              <a:srgbClr val="E0D8C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F12DED5-B56E-4563-A5F0-CCADB21B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ANNUAL INCOME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CBB6AB9-CFDE-42C0-837C-DEFFF871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$30,000 (Pension)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D20EBCF-72ED-41F4-976D-6B0D0CF7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NET WORTH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BD2CF29-DEBB-4B3D-84F2-EB6C02A1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$1.2M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988716A-6621-43D4-90B8-3F8ED626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56432"/>
            <a:ext cx="3291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4F0"/>
          </a:solidFill>
          <a:ln xmlns:a="http://schemas.openxmlformats.org/drawingml/2006/main" w="12700">
            <a:solidFill>
              <a:srgbClr val="D6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14B7A770-6B66-46A2-8892-C67243F5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56432"/>
            <a:ext cx="54864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4A6B"/>
          </a:solidFill>
          <a:ln xmlns:a="http://schemas.openxmlformats.org/drawingml/2006/main" w="12700">
            <a:solidFill>
              <a:srgbClr val="2B4A6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EBB4D1E-1968-49BC-8925-9C20CF71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" y="3493008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2B4A6B"/>
                </a:solidFill>
                <a:latin typeface="Calibri"/>
                <a:ea typeface="Calibri"/>
                <a:cs typeface="Calibri"/>
              </a:rPr>
              <a:t>PRIMARY GOAL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FB8D28E-FB9C-449B-B56B-6CC3E7A6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" y="3657600"/>
            <a:ext cx="3291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i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Capital Preservation / Income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F9B047B-C98D-4287-BC58-58D7DFB86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407408"/>
            <a:ext cx="329184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F0"/>
          </a:solidFill>
          <a:ln xmlns:a="http://schemas.openxmlformats.org/drawingml/2006/main" w="6350">
            <a:solidFill>
              <a:srgbClr val="D8D0C4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13B2A85-2798-42B4-B7B3-7266A5E7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" y="4443984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KEY CONSTRAINTS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10360C4-43A3-4689-83AC-1F38AC51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" y="4608576"/>
            <a:ext cx="3291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High liquidity needs for medical; 2-5yr horizon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277ADAE9-E17E-4F21-A9D5-8BA7FA72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4A6B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0A28655A-3278-4051-ABF2-A0DEE3389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E(R)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08952397-D07B-4F51-B0FA-8B17F26F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4.5%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DBDED1D8-ECC7-42A8-9698-25F9A12E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45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8E2FB383-7998-479D-B37C-3B314AF6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STD DEV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E090004-AEAE-4EE2-A165-F061A032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6.0%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CEF41AEE-58A5-469B-A971-A4E148A6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410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DF14DCFC-ADE3-4242-86FC-D96BC082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RISK A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C7C621EF-DC8D-40BC-928A-3760AECE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8.0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B98BE0B4-CA65-4FA4-BE1D-EE03BBBAB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1648" y="1188720"/>
            <a:ext cx="3749040" cy="521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8E2D8"/>
            </a:solidFill>
            <a:prstDash val="solid"/>
          </a:ln>
          <a:effectLst xmlns:a="http://schemas.openxmlformats.org/drawingml/2006/main"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D5E98A67-D4E4-4F42-9AF9-CFF6B59B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1648" y="1188720"/>
            <a:ext cx="374904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4A6B"/>
          </a:solidFill>
          <a:ln xmlns:a="http://schemas.openxmlformats.org/drawingml/2006/main" w="12700">
            <a:solidFill>
              <a:srgbClr val="2B4A6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440B6199-332A-41B9-8933-DB193386F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144475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4A6B"/>
          </a:solidFill>
          <a:ln xmlns:a="http://schemas.openxmlformats.org/drawingml/2006/main" w="12700">
            <a:solidFill>
              <a:srgbClr val="2B4A6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073A1D6B-D6C5-467F-B360-871F06000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1444752"/>
            <a:ext cx="74980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MC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2EC3A9F6-1138-4F20-9C58-EE78F5D6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353312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CASE #02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6A7730DE-2FB1-42DD-AB4A-0D944AE17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1444752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Marcus Chen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020C9E17-87CD-4D84-A6AD-BABD1A3A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1847088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Age 29  ·  Software Engineer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6FA17EF6-9298-417B-9E89-E2F75B72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322576"/>
            <a:ext cx="132588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E"/>
          </a:solidFill>
          <a:ln xmlns:a="http://schemas.openxmlformats.org/drawingml/2006/main" w="12700">
            <a:solidFill>
              <a:srgbClr val="E8F5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9C52A305-2959-4C19-9AE9-0B2E7AE5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2382012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E"/>
          </a:solidFill>
          <a:ln xmlns:a="http://schemas.openxmlformats.org/drawingml/2006/main" w="12700">
            <a:solidFill>
              <a:srgbClr val="2D8A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A9D9D15E-4F5C-47E7-9D1E-2E0CB5B2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2272" y="2322576"/>
            <a:ext cx="11338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2D8A5E"/>
                </a:solidFill>
                <a:latin typeface="Calibri"/>
                <a:ea typeface="Calibri"/>
                <a:cs typeface="Calibri"/>
              </a:rPr>
              <a:t>RISK SEEKING</a:t>
            </a:r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8AAAE289-CF98-4E32-9274-F5663B76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724912"/>
            <a:ext cx="3291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">
            <a:solidFill>
              <a:srgbClr val="E0D8C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0E55EED8-029F-4D05-A0C4-E84DE490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ANNUAL INCOME</a:t>
            </a:r>
          </a:p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E21FDBAA-E5FA-4CCD-86C6-B0503F711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$210,000</a:t>
            </a:r>
          </a:p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0DCF2203-C28E-443A-BC29-84FB29CB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NET WORTH</a:t>
            </a:r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54CD83CD-3B3D-4411-956F-D7D14371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$150,000</a:t>
            </a:r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D0906372-40C5-4DD7-8083-236E7CFE3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3456432"/>
            <a:ext cx="3291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4F0"/>
          </a:solidFill>
          <a:ln xmlns:a="http://schemas.openxmlformats.org/drawingml/2006/main" w="12700">
            <a:solidFill>
              <a:srgbClr val="D6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D41FFB01-EB3F-4827-A93C-4FC998E3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3456432"/>
            <a:ext cx="54864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4A6B"/>
          </a:solidFill>
          <a:ln xmlns:a="http://schemas.openxmlformats.org/drawingml/2006/main" w="12700">
            <a:solidFill>
              <a:srgbClr val="2B4A6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FB61829C-5221-4D56-B708-9CDF2961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493008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2B4A6B"/>
                </a:solidFill>
                <a:latin typeface="Calibri"/>
                <a:ea typeface="Calibri"/>
                <a:cs typeface="Calibri"/>
              </a:rPr>
              <a:t>PRIMARY GOAL</a:t>
            </a:r>
          </a:p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3CEF4D0E-A69D-4B92-BD9D-FF3FE63E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657600"/>
            <a:ext cx="3291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i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Aggressive Growth / Early Retirement</a:t>
            </a:r>
          </a:p>
        </p:txBody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7288B2FC-D652-4DE2-A2EB-FC66CF6E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4407408"/>
            <a:ext cx="329184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F0"/>
          </a:solidFill>
          <a:ln xmlns:a="http://schemas.openxmlformats.org/drawingml/2006/main" w="6350">
            <a:solidFill>
              <a:srgbClr val="D8D0C4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299AD1D4-5F87-408C-A899-37FF5B00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443984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KEY CONSTRAINTS</a:t>
            </a:r>
          </a:p>
        </p:txBody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CC45A43A-81DD-44E2-B364-454FB29E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608576"/>
            <a:ext cx="3291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Tech stock concentration; High volatility</a:t>
            </a:r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8F98F013-8756-47ED-B8F2-6383DC02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4A6B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7B164F2B-258F-420F-A577-3D082298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E(R)</a:t>
            </a:r>
          </a:p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A63E7610-A43F-4CF3-A412-59B2CA39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11.0%</a:t>
            </a:r>
          </a:p>
        </p:txBody>
      </p:sp>
      <p:sp>
        <p:nvSpPr>
          <p:cNvPr id="63" name="Shape 61">
            <a:extLst xmlns:a="http://schemas.openxmlformats.org/drawingml/2006/main">
              <a:ext uri="{FF2B5EF4-FFF2-40B4-BE49-F238E27FC236}">
                <a16:creationId xmlns:a16="http://schemas.microsoft.com/office/drawing/2014/main" id="{6AC9277D-E9D3-45AC-9CDD-840C7FC6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7528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45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Text 62">
            <a:extLst xmlns:a="http://schemas.openxmlformats.org/drawingml/2006/main">
              <a:ext uri="{FF2B5EF4-FFF2-40B4-BE49-F238E27FC236}">
                <a16:creationId xmlns:a16="http://schemas.microsoft.com/office/drawing/2014/main" id="{53575A05-A067-443F-92A9-DE918E1D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16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STD DEV</a:t>
            </a:r>
          </a:p>
        </p:txBody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44AE9492-51B0-4FEB-A7A4-6EF64836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22.0%</a:t>
            </a:r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0B136451-170B-41FC-AC0B-523A4DBE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410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126BE530-5D38-4BBF-8ABE-802C64D2D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RISK A</a:t>
            </a:r>
          </a:p>
        </p:txBody>
      </p:sp>
      <p:sp>
        <p:nvSpPr>
          <p:cNvPr id="68" name="Text 66">
            <a:extLst xmlns:a="http://schemas.openxmlformats.org/drawingml/2006/main">
              <a:ext uri="{FF2B5EF4-FFF2-40B4-BE49-F238E27FC236}">
                <a16:creationId xmlns:a16="http://schemas.microsoft.com/office/drawing/2014/main" id="{DDE950CB-1C82-4DDF-8E76-9033C1DE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1.5</a:t>
            </a:r>
          </a:p>
        </p:txBody>
      </p:sp>
      <p:sp>
        <p:nvSpPr>
          <p:cNvPr id="69" name="Shape 67">
            <a:extLst xmlns:a="http://schemas.openxmlformats.org/drawingml/2006/main">
              <a:ext uri="{FF2B5EF4-FFF2-40B4-BE49-F238E27FC236}">
                <a16:creationId xmlns:a16="http://schemas.microsoft.com/office/drawing/2014/main" id="{31EED5B8-8E9F-483D-BE5F-55A75944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6136" y="1188720"/>
            <a:ext cx="3749040" cy="521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8E2D8"/>
            </a:solidFill>
            <a:prstDash val="solid"/>
          </a:ln>
          <a:effectLst xmlns:a="http://schemas.openxmlformats.org/drawingml/2006/main"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0" name="Shape 68">
            <a:extLst xmlns:a="http://schemas.openxmlformats.org/drawingml/2006/main">
              <a:ext uri="{FF2B5EF4-FFF2-40B4-BE49-F238E27FC236}">
                <a16:creationId xmlns:a16="http://schemas.microsoft.com/office/drawing/2014/main" id="{EE8ADDB2-C138-4032-9B22-FF9CC640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6136" y="1188720"/>
            <a:ext cx="374904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4A6B"/>
          </a:solidFill>
          <a:ln xmlns:a="http://schemas.openxmlformats.org/drawingml/2006/main" w="12700">
            <a:solidFill>
              <a:srgbClr val="2B4A6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1" name="Shape 69">
            <a:extLst xmlns:a="http://schemas.openxmlformats.org/drawingml/2006/main">
              <a:ext uri="{FF2B5EF4-FFF2-40B4-BE49-F238E27FC236}">
                <a16:creationId xmlns:a16="http://schemas.microsoft.com/office/drawing/2014/main" id="{1F23E4CC-2793-4980-8CB5-AA9B61C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144475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4A6B"/>
          </a:solidFill>
          <a:ln xmlns:a="http://schemas.openxmlformats.org/drawingml/2006/main" w="12700">
            <a:solidFill>
              <a:srgbClr val="2B4A6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2" name="Text 70">
            <a:extLst xmlns:a="http://schemas.openxmlformats.org/drawingml/2006/main">
              <a:ext uri="{FF2B5EF4-FFF2-40B4-BE49-F238E27FC236}">
                <a16:creationId xmlns:a16="http://schemas.microsoft.com/office/drawing/2014/main" id="{52DDE2C0-4234-494F-95A5-F49CA307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1444752"/>
            <a:ext cx="74980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DS</a:t>
            </a:r>
          </a:p>
        </p:txBody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09188069-6BCC-4BE0-AE28-D1361289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1353312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CASE #03</a:t>
            </a:r>
          </a:p>
        </p:txBody>
      </p:sp>
      <p:sp>
        <p:nvSpPr>
          <p:cNvPr id="74" name="Text 72">
            <a:extLst xmlns:a="http://schemas.openxmlformats.org/drawingml/2006/main">
              <a:ext uri="{FF2B5EF4-FFF2-40B4-BE49-F238E27FC236}">
                <a16:creationId xmlns:a16="http://schemas.microsoft.com/office/drawing/2014/main" id="{08345A29-7381-4B60-B300-BD446B0B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1444752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David &amp; Sarah Miller</a:t>
            </a:r>
          </a:p>
        </p:txBody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605A993F-AD81-4C3D-A4A1-4F56F218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1847088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Age 48/46  ·  Middle Management</a:t>
            </a:r>
          </a:p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D47399CE-5BD3-4B11-BF25-D7031EEE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322576"/>
            <a:ext cx="132588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12700">
            <a:solidFill>
              <a:srgbClr val="E8F0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7" name="Shape 75">
            <a:extLst xmlns:a="http://schemas.openxmlformats.org/drawingml/2006/main">
              <a:ext uri="{FF2B5EF4-FFF2-40B4-BE49-F238E27FC236}">
                <a16:creationId xmlns:a16="http://schemas.microsoft.com/office/drawing/2014/main" id="{92754AAF-E40C-444A-B8DF-721AECD5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8744" y="2382012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6EA5"/>
          </a:solidFill>
          <a:ln xmlns:a="http://schemas.openxmlformats.org/drawingml/2006/main" w="12700">
            <a:solidFill>
              <a:srgbClr val="3A6EA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8" name="Text 76">
            <a:extLst xmlns:a="http://schemas.openxmlformats.org/drawingml/2006/main">
              <a:ext uri="{FF2B5EF4-FFF2-40B4-BE49-F238E27FC236}">
                <a16:creationId xmlns:a16="http://schemas.microsoft.com/office/drawing/2014/main" id="{7366B86E-6B0C-4EFB-A1C0-EDAEE5D2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322576"/>
            <a:ext cx="11338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3A6EA5"/>
                </a:solidFill>
                <a:latin typeface="Calibri"/>
                <a:ea typeface="Calibri"/>
                <a:cs typeface="Calibri"/>
              </a:rPr>
              <a:t>RISK NEUTRAL</a:t>
            </a:r>
          </a:p>
        </p:txBody>
      </p:sp>
      <p:sp>
        <p:nvSpPr>
          <p:cNvPr id="79" name="Shape 77">
            <a:extLst xmlns:a="http://schemas.openxmlformats.org/drawingml/2006/main">
              <a:ext uri="{FF2B5EF4-FFF2-40B4-BE49-F238E27FC236}">
                <a16:creationId xmlns:a16="http://schemas.microsoft.com/office/drawing/2014/main" id="{F0C2BA63-BA0F-4DDF-8CFE-49248FB3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724912"/>
            <a:ext cx="3291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">
            <a:solidFill>
              <a:srgbClr val="E0D8C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0" name="Text 78">
            <a:extLst xmlns:a="http://schemas.openxmlformats.org/drawingml/2006/main">
              <a:ext uri="{FF2B5EF4-FFF2-40B4-BE49-F238E27FC236}">
                <a16:creationId xmlns:a16="http://schemas.microsoft.com/office/drawing/2014/main" id="{375447F2-6FC1-4766-9E64-E375F127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ANNUAL INCOME</a:t>
            </a:r>
          </a:p>
        </p:txBody>
      </p:sp>
      <p:sp>
        <p:nvSpPr>
          <p:cNvPr id="81" name="Text 79">
            <a:extLst xmlns:a="http://schemas.openxmlformats.org/drawingml/2006/main">
              <a:ext uri="{FF2B5EF4-FFF2-40B4-BE49-F238E27FC236}">
                <a16:creationId xmlns:a16="http://schemas.microsoft.com/office/drawing/2014/main" id="{850FB151-8365-47E2-8CF2-BD9385B6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$165,000</a:t>
            </a:r>
          </a:p>
        </p:txBody>
      </p:sp>
      <p:sp>
        <p:nvSpPr>
          <p:cNvPr id="82" name="Text 80">
            <a:extLst xmlns:a="http://schemas.openxmlformats.org/drawingml/2006/main">
              <a:ext uri="{FF2B5EF4-FFF2-40B4-BE49-F238E27FC236}">
                <a16:creationId xmlns:a16="http://schemas.microsoft.com/office/drawing/2014/main" id="{C327D61A-97A6-449F-9D5B-8A8842ED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2096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NET WORTH</a:t>
            </a:r>
          </a:p>
        </p:txBody>
      </p:sp>
      <p:sp>
        <p:nvSpPr>
          <p:cNvPr id="83" name="Text 81">
            <a:extLst xmlns:a="http://schemas.openxmlformats.org/drawingml/2006/main">
              <a:ext uri="{FF2B5EF4-FFF2-40B4-BE49-F238E27FC236}">
                <a16:creationId xmlns:a16="http://schemas.microsoft.com/office/drawing/2014/main" id="{2D46D9BE-AC0B-43E4-8B60-ABAB8630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2096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$450,000</a:t>
            </a:r>
          </a:p>
        </p:txBody>
      </p:sp>
      <p:sp>
        <p:nvSpPr>
          <p:cNvPr id="84" name="Shape 82">
            <a:extLst xmlns:a="http://schemas.openxmlformats.org/drawingml/2006/main">
              <a:ext uri="{FF2B5EF4-FFF2-40B4-BE49-F238E27FC236}">
                <a16:creationId xmlns:a16="http://schemas.microsoft.com/office/drawing/2014/main" id="{165D82DB-8EAA-4509-942F-396CA9B1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3456432"/>
            <a:ext cx="3291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4F0"/>
          </a:solidFill>
          <a:ln xmlns:a="http://schemas.openxmlformats.org/drawingml/2006/main" w="12700">
            <a:solidFill>
              <a:srgbClr val="D6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5" name="Shape 83">
            <a:extLst xmlns:a="http://schemas.openxmlformats.org/drawingml/2006/main">
              <a:ext uri="{FF2B5EF4-FFF2-40B4-BE49-F238E27FC236}">
                <a16:creationId xmlns:a16="http://schemas.microsoft.com/office/drawing/2014/main" id="{203753FC-EF26-4EC2-8504-C12ABFBF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3456432"/>
            <a:ext cx="54864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4A6B"/>
          </a:solidFill>
          <a:ln xmlns:a="http://schemas.openxmlformats.org/drawingml/2006/main" w="12700">
            <a:solidFill>
              <a:srgbClr val="2B4A6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6" name="Text 84">
            <a:extLst xmlns:a="http://schemas.openxmlformats.org/drawingml/2006/main">
              <a:ext uri="{FF2B5EF4-FFF2-40B4-BE49-F238E27FC236}">
                <a16:creationId xmlns:a16="http://schemas.microsoft.com/office/drawing/2014/main" id="{60F289A7-B4D5-4ED2-8B27-2C57C734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3493008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2B4A6B"/>
                </a:solidFill>
                <a:latin typeface="Calibri"/>
                <a:ea typeface="Calibri"/>
                <a:cs typeface="Calibri"/>
              </a:rPr>
              <a:t>PRIMARY GOAL</a:t>
            </a:r>
          </a:p>
        </p:txBody>
      </p:sp>
      <p:sp>
        <p:nvSpPr>
          <p:cNvPr id="87" name="Text 85">
            <a:extLst xmlns:a="http://schemas.openxmlformats.org/drawingml/2006/main">
              <a:ext uri="{FF2B5EF4-FFF2-40B4-BE49-F238E27FC236}">
                <a16:creationId xmlns:a16="http://schemas.microsoft.com/office/drawing/2014/main" id="{B648A4FD-C687-4FA3-97FD-8860503A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3657600"/>
            <a:ext cx="3291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i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College Funding / Retirement</a:t>
            </a:r>
          </a:p>
        </p:txBody>
      </p:sp>
      <p:sp>
        <p:nvSpPr>
          <p:cNvPr id="88" name="Shape 86">
            <a:extLst xmlns:a="http://schemas.openxmlformats.org/drawingml/2006/main">
              <a:ext uri="{FF2B5EF4-FFF2-40B4-BE49-F238E27FC236}">
                <a16:creationId xmlns:a16="http://schemas.microsoft.com/office/drawing/2014/main" id="{3E57E217-B71B-4DCC-800D-3ABD4C23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4407408"/>
            <a:ext cx="329184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F0"/>
          </a:solidFill>
          <a:ln xmlns:a="http://schemas.openxmlformats.org/drawingml/2006/main" w="6350">
            <a:solidFill>
              <a:srgbClr val="D8D0C4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9" name="Text 87">
            <a:extLst xmlns:a="http://schemas.openxmlformats.org/drawingml/2006/main">
              <a:ext uri="{FF2B5EF4-FFF2-40B4-BE49-F238E27FC236}">
                <a16:creationId xmlns:a16="http://schemas.microsoft.com/office/drawing/2014/main" id="{892A2389-55FD-41B3-A30E-29FD5C76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4443984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KEY CONSTRAINTS</a:t>
            </a:r>
          </a:p>
        </p:txBody>
      </p:sp>
      <p:sp>
        <p:nvSpPr>
          <p:cNvPr id="90" name="Text 88">
            <a:extLst xmlns:a="http://schemas.openxmlformats.org/drawingml/2006/main">
              <a:ext uri="{FF2B5EF4-FFF2-40B4-BE49-F238E27FC236}">
                <a16:creationId xmlns:a16="http://schemas.microsoft.com/office/drawing/2014/main" id="{911F74C0-5B5C-49D4-8EDA-7E54FC71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4608576"/>
            <a:ext cx="3291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Tuition payments starting in 3 years</a:t>
            </a:r>
          </a:p>
        </p:txBody>
      </p:sp>
      <p:sp>
        <p:nvSpPr>
          <p:cNvPr id="91" name="Shape 89">
            <a:extLst xmlns:a="http://schemas.openxmlformats.org/drawingml/2006/main">
              <a:ext uri="{FF2B5EF4-FFF2-40B4-BE49-F238E27FC236}">
                <a16:creationId xmlns:a16="http://schemas.microsoft.com/office/drawing/2014/main" id="{60DE4DFB-F495-4C29-AB93-627EEAA6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4A6B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2" name="Text 90">
            <a:extLst xmlns:a="http://schemas.openxmlformats.org/drawingml/2006/main">
              <a:ext uri="{FF2B5EF4-FFF2-40B4-BE49-F238E27FC236}">
                <a16:creationId xmlns:a16="http://schemas.microsoft.com/office/drawing/2014/main" id="{C854E9AA-8C08-4054-BD6E-465E2F5A4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E(R)</a:t>
            </a:r>
          </a:p>
        </p:txBody>
      </p:sp>
      <p:sp>
        <p:nvSpPr>
          <p:cNvPr id="93" name="Text 91">
            <a:extLst xmlns:a="http://schemas.openxmlformats.org/drawingml/2006/main">
              <a:ext uri="{FF2B5EF4-FFF2-40B4-BE49-F238E27FC236}">
                <a16:creationId xmlns:a16="http://schemas.microsoft.com/office/drawing/2014/main" id="{F61B1559-0EBA-4E88-BB23-B94B79CB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7.0%</a:t>
            </a:r>
          </a:p>
        </p:txBody>
      </p:sp>
      <p:sp>
        <p:nvSpPr>
          <p:cNvPr id="94" name="Shape 92">
            <a:extLst xmlns:a="http://schemas.openxmlformats.org/drawingml/2006/main">
              <a:ext uri="{FF2B5EF4-FFF2-40B4-BE49-F238E27FC236}">
                <a16:creationId xmlns:a16="http://schemas.microsoft.com/office/drawing/2014/main" id="{4E9CA86D-CCE3-4569-B146-7E16C5E1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45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0BF172E1-1C96-4D3F-8713-3793BA0B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STD DEV</a:t>
            </a:r>
          </a:p>
        </p:txBody>
      </p:sp>
      <p:sp>
        <p:nvSpPr>
          <p:cNvPr id="96" name="Text 94">
            <a:extLst xmlns:a="http://schemas.openxmlformats.org/drawingml/2006/main">
              <a:ext uri="{FF2B5EF4-FFF2-40B4-BE49-F238E27FC236}">
                <a16:creationId xmlns:a16="http://schemas.microsoft.com/office/drawing/2014/main" id="{F5424ED3-3FBA-4120-AA04-EEC7AE48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12.0%</a:t>
            </a:r>
          </a:p>
        </p:txBody>
      </p:sp>
      <p:sp>
        <p:nvSpPr>
          <p:cNvPr id="97" name="Shape 95">
            <a:extLst xmlns:a="http://schemas.openxmlformats.org/drawingml/2006/main">
              <a:ext uri="{FF2B5EF4-FFF2-40B4-BE49-F238E27FC236}">
                <a16:creationId xmlns:a16="http://schemas.microsoft.com/office/drawing/2014/main" id="{F37885E7-3EDA-48E2-8326-CD79BF03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9296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410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8" name="Text 96">
            <a:extLst xmlns:a="http://schemas.openxmlformats.org/drawingml/2006/main">
              <a:ext uri="{FF2B5EF4-FFF2-40B4-BE49-F238E27FC236}">
                <a16:creationId xmlns:a16="http://schemas.microsoft.com/office/drawing/2014/main" id="{8B832916-15C5-409C-8AC3-1081A0A6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RISK A</a:t>
            </a:r>
          </a:p>
        </p:txBody>
      </p:sp>
      <p:sp>
        <p:nvSpPr>
          <p:cNvPr id="99" name="Text 97">
            <a:extLst xmlns:a="http://schemas.openxmlformats.org/drawingml/2006/main">
              <a:ext uri="{FF2B5EF4-FFF2-40B4-BE49-F238E27FC236}">
                <a16:creationId xmlns:a16="http://schemas.microsoft.com/office/drawing/2014/main" id="{BC1635FA-9B85-4860-9AC7-7E4A4994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5016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4.0</a:t>
            </a:r>
          </a:p>
        </p:txBody>
      </p:sp>
      <p:sp>
        <p:nvSpPr>
          <p:cNvPr id="100" name="Shape 98">
            <a:extLst xmlns:a="http://schemas.openxmlformats.org/drawingml/2006/main">
              <a:ext uri="{FF2B5EF4-FFF2-40B4-BE49-F238E27FC236}">
                <a16:creationId xmlns:a16="http://schemas.microsoft.com/office/drawing/2014/main" id="{1B1CADC9-369D-4697-B7EF-A7A39C14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65392"/>
            <a:ext cx="1216152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4A6B"/>
          </a:solidFill>
          <a:ln xmlns:a="http://schemas.openxmlformats.org/drawingml/2006/main" w="12700">
            <a:solidFill>
              <a:srgbClr val="2B4A6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1" name="Text 99">
            <a:extLst xmlns:a="http://schemas.openxmlformats.org/drawingml/2006/main">
              <a:ext uri="{FF2B5EF4-FFF2-40B4-BE49-F238E27FC236}">
                <a16:creationId xmlns:a16="http://schemas.microsoft.com/office/drawing/2014/main" id="{00365737-9632-41B5-97D5-042509DDF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6565392"/>
            <a:ext cx="116128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BUS331 Investments  ·  Endicott College  ·  Team One</a:t>
            </a:r>
          </a:p>
        </p:txBody>
      </p:sp>
      <p:sp>
        <p:nvSpPr>
          <p:cNvPr id="104" name="Text 39">
            <a:extLst xmlns:a="http://schemas.openxmlformats.org/drawingml/2006/main">
              <a:ext uri="{FF2B5EF4-FFF2-40B4-BE49-F238E27FC236}">
                <a16:creationId xmlns:a16="http://schemas.microsoft.com/office/drawing/2014/main" id="{701936F2-F6CB-2411-1711-A20E17F6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" y="1463040"/>
            <a:ext cx="74980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EV</a:t>
            </a:r>
          </a:p>
        </p:txBody>
      </p:sp>
    </p:spTree>
    <p:extLst>
      <p:ext uri="{BB962C8B-B14F-4D97-AF65-F5344CB8AC3E}">
        <p14:creationId xmlns:p14="http://schemas.microsoft.com/office/powerpoint/2010/main" val="40996620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2026-08-14T17:09:14.9940000Z</dcterms:created>
  <dcterms:modified xsi:type="dcterms:W3CDTF">2026-08-14T17:09:14.9940000Z</dcterms:modified>
</coreProperties>
</file>