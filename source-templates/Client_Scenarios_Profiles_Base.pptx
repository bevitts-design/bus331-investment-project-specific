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a3521bc73d4e51" /><Relationship Type="http://schemas.openxmlformats.org/officeDocument/2006/relationships/extended-properties" Target="/docProps/app.xml" Id="Rd2b5b6ab089846f0" /><Relationship Type="http://schemas.openxmlformats.org/officeDocument/2006/relationships/officeDocument" Target="/ppt/presentation.xml" Id="R2e98159ed00b4c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a7055fd6ac42e1"/>
  </p:sldMasterIdLst>
  <p:notesMasterIdLst>
    <p:notesMasterId xmlns:r="http://schemas.openxmlformats.org/officeDocument/2006/relationships" r:id="R24071a87f9a74e78"/>
  </p:notesMasterIdLst>
  <p:sldIdLst>
    <p:sldId xmlns:r="http://schemas.openxmlformats.org/officeDocument/2006/relationships" id="256" r:id="R33abf3267d694ade"/>
    <p:sldId xmlns:r="http://schemas.openxmlformats.org/officeDocument/2006/relationships" id="257" r:id="R9ff033a71bbc4c33"/>
    <p:sldId xmlns:r="http://schemas.openxmlformats.org/officeDocument/2006/relationships" id="258" r:id="R71b0b9e971524e38"/>
    <p:sldId xmlns:r="http://schemas.openxmlformats.org/officeDocument/2006/relationships" id="259" r:id="Rdb300154545e436e"/>
    <p:sldId xmlns:r="http://schemas.openxmlformats.org/officeDocument/2006/relationships" id="260" r:id="Ra7bdcb1dda0e401c"/>
    <p:sldId xmlns:r="http://schemas.openxmlformats.org/officeDocument/2006/relationships" id="261" r:id="Ree8a85ed153d41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888f7bb9a40a8" /><Relationship Type="http://schemas.openxmlformats.org/officeDocument/2006/relationships/slideMaster" Target="/ppt/slideMasters/slideMaster1.xml" Id="Rdca7055fd6ac42e1" /><Relationship Type="http://schemas.openxmlformats.org/officeDocument/2006/relationships/notesMaster" Target="/ppt/notesMasters/notesMaster1.xml" Id="R24071a87f9a74e78" /><Relationship Type="http://schemas.openxmlformats.org/officeDocument/2006/relationships/presProps" Target="/ppt/presProps.xml" Id="R31485b9a6dab4a12" /><Relationship Type="http://schemas.openxmlformats.org/officeDocument/2006/relationships/viewProps" Target="/ppt/viewProps.xml" Id="Rfe160b1dd8e14f9e" /><Relationship Type="http://schemas.openxmlformats.org/officeDocument/2006/relationships/tableStyles" Target="/ppt/tableStyles.xml" Id="Rd016a91c23344409" /><Relationship Type="http://schemas.openxmlformats.org/officeDocument/2006/relationships/slide" Target="/ppt/slides/slide1.xml" Id="R33abf3267d694ade" /><Relationship Type="http://schemas.openxmlformats.org/officeDocument/2006/relationships/slide" Target="/ppt/slides/slide2.xml" Id="R9ff033a71bbc4c33" /><Relationship Type="http://schemas.openxmlformats.org/officeDocument/2006/relationships/slide" Target="/ppt/slides/slide3.xml" Id="R71b0b9e971524e38" /><Relationship Type="http://schemas.openxmlformats.org/officeDocument/2006/relationships/slide" Target="/ppt/slides/slide4.xml" Id="Rdb300154545e436e" /><Relationship Type="http://schemas.openxmlformats.org/officeDocument/2006/relationships/slide" Target="/ppt/slides/slide5.xml" Id="Ra7bdcb1dda0e401c" /><Relationship Type="http://schemas.openxmlformats.org/officeDocument/2006/relationships/slide" Target="/ppt/slides/slide6.xml" Id="Ree8a85ed153d41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10a80de6fc4b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1e1ae8c7344827" /><Relationship Type="http://schemas.openxmlformats.org/officeDocument/2006/relationships/notesMaster" Target="/ppt/notesMasters/notesMaster1.xml" Id="R51a88c86607e49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1f4f71cf64b21" /><Relationship Type="http://schemas.openxmlformats.org/officeDocument/2006/relationships/notesMaster" Target="/ppt/notesMasters/notesMaster1.xml" Id="R149a56f798d94a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e9fcedc2a41a7" /><Relationship Type="http://schemas.openxmlformats.org/officeDocument/2006/relationships/notesMaster" Target="/ppt/notesMasters/notesMaster1.xml" Id="R07b75790354b46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3be15d3d534da7" /><Relationship Type="http://schemas.openxmlformats.org/officeDocument/2006/relationships/notesMaster" Target="/ppt/notesMasters/notesMaster1.xml" Id="Rd6cd2452d1bf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e89888bd884a5c" /><Relationship Type="http://schemas.openxmlformats.org/officeDocument/2006/relationships/notesMaster" Target="/ppt/notesMasters/notesMaster1.xml" Id="R34f981ac03a544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33b5065134d36" /><Relationship Type="http://schemas.openxmlformats.org/officeDocument/2006/relationships/notesMaster" Target="/ppt/notesMasters/notesMaster1.xml" Id="R3403561b975d4e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f26eb73374fc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61919bb35145c2" /><Relationship Type="http://schemas.openxmlformats.org/officeDocument/2006/relationships/slideLayout" Target="/ppt/slideLayouts/slideLayout1.xml" Id="R9706db2c93c74bc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6db2c93c74bc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e213712404d55" /><Relationship Type="http://schemas.openxmlformats.org/officeDocument/2006/relationships/notesSlide" Target="/ppt/notesSlides/notesSlide1.xml" Id="R44760ae4ebb7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129c808264a11" /><Relationship Type="http://schemas.openxmlformats.org/officeDocument/2006/relationships/notesSlide" Target="/ppt/notesSlides/notesSlide2.xml" Id="Ra8678facbdb44a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5dc735f444910" /><Relationship Type="http://schemas.openxmlformats.org/officeDocument/2006/relationships/notesSlide" Target="/ppt/notesSlides/notesSlide3.xml" Id="Raafbaf58d9554a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fb0482bb24d98" /><Relationship Type="http://schemas.openxmlformats.org/officeDocument/2006/relationships/notesSlide" Target="/ppt/notesSlides/notesSlide4.xml" Id="R2c5a68c993b344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cfc64b47f406a" /><Relationship Type="http://schemas.openxmlformats.org/officeDocument/2006/relationships/notesSlide" Target="/ppt/notesSlides/notesSlide5.xml" Id="Rc0d597c9487547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db7e46f074acf" /><Relationship Type="http://schemas.openxmlformats.org/officeDocument/2006/relationships/notesSlide" Target="/ppt/notesSlides/notesSlide6.xml" Id="R9670b2055b2f44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CB840D-B071-4D43-85B8-98BB617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2700">
            <a:solidFill>
              <a:srgbClr val="C9A8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6FD6FA4-C128-4BC3-95B0-DE3F78D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1199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4F21A1-12D1-4FFC-B15C-8EA790F8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59536"/>
            <a:ext cx="1199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B0DB196-3A93-4B71-9A52-56D1B4B5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1719072"/>
            <a:ext cx="1199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3FF7344-7A45-411D-BB9E-90ED5E04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78608"/>
            <a:ext cx="1199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7E8AF7B-C79F-4E3B-AE4C-057AA3B7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438144"/>
            <a:ext cx="1199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52A8D7-F04E-45DE-88B5-74D93CE4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4297680"/>
            <a:ext cx="1199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E5C8BA5-13AE-471A-A76B-9FF8A261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5157216"/>
            <a:ext cx="1199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865F52A-E396-49D5-8D07-3DCFA20A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016752"/>
            <a:ext cx="1199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EBE6360-359F-4ED2-8E14-6CE098DB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Client Scenario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1C19996-2026-48BC-9ACA-033DB860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1460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000" b="1" i="1">
                <a:solidFill>
                  <a:srgbClr val="C9A84C"/>
                </a:solidFill>
                <a:latin typeface="Georgia"/>
                <a:ea typeface="Georgia"/>
                <a:cs typeface="Georgia"/>
              </a:rPr>
              <a:t>Profiles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ADE9F95-F557-4802-B6FE-7A423770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7764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BUS331 Investments  ·  Endicott College  ·  </a:t>
            </a:r>
            <a:r>
              <a:rPr sz="13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2026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A45F269-B400-4088-8EE1-CA6C339D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88720"/>
            <a:ext cx="2194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55731D-43B7-415D-AF13-41021B33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88720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1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9E823C-4BD9-45FA-BB34-A7775FCE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93392"/>
            <a:ext cx="2194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54696B-C4E4-43B4-AB87-685DEAD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93392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2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E1C815A-DCE5-49D6-BFB1-D0103755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8064"/>
            <a:ext cx="2194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DE137E-8E2F-43E1-BC5F-7E1D4F64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8064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3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A2072C6-E5D2-4A3A-9EFD-208D0632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2736"/>
            <a:ext cx="2194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E764BB-DBA8-4108-8B07-DC8D69C7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2736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4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81C6F79-76D9-41B8-8B05-1B8F6D64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07408"/>
            <a:ext cx="2194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DCFE6B5-4AC5-439D-821B-BED572BF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0740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5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FFBCA0B-19E1-4B22-AC3F-1478752E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615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270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008074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6BCA1CA-E6D1-4153-8CBA-4833A5C7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9049CC-E390-48F6-84A0-D51544F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04A4AC-0546-43A0-86FE-7A326CEC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ONE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96E79D-A5A3-4292-8B1E-D906E9A6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One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0AE0205-8A6D-441F-A7EF-76B59F83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1 / 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480F595-628C-4EFB-8BE0-C039D37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297E81-4AA1-443D-8C76-BEC2FB4F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F9AAA03-57CB-41E1-A719-9ECFAB9F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F9E22C4-2991-4532-AEC1-B70174F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D17D43B-26DF-4851-AF2E-EF222EAF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Eleanor Vance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F26304-C8A7-40E9-B0EA-61EAAFE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72  ·  Retired Librarian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10B59BC-2CCA-4A2D-B183-49D9291E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367A2F9-03C0-453B-9363-C6DD69A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FD721EC-CA94-482C-A801-74722723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E345067-8786-4E07-87F6-8BEA39D8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12DED5-B56E-4563-A5F0-CCADB21B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CBB6AB9-CFDE-42C0-837C-DEFFF871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$30,000 (Pension)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D20EBCF-72ED-41F4-976D-6B0D0CF7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BD2CF29-DEBB-4B3D-84F2-EB6C02A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$1.2M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988716A-6621-43D4-90B8-3F8ED626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12700">
            <a:solidFill>
              <a:srgbClr val="D6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4B7A770-6B66-46A2-8892-C67243F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EBB4D1E-1968-49BC-8925-9C20CF71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B4A6B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FB8D28E-FB9C-449B-B56B-6CC3E7A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Capital Preservation / Income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F9B047B-C98D-4287-BC58-58D7DFB8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3B2A85-2798-42B4-B7B3-7266A5E7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10360C4-43A3-4689-83AC-1F38AC5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High liquidity needs for medical; 2-5yr horizon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7ADAE9-E17E-4F21-A9D5-8BA7FA72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A28655A-3278-4051-ABF2-A0DEE338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952397-D07B-4F51-B0FA-8B17F26F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4.5%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BDED1D8-ECC7-42A8-9698-25F9A12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E2FB383-7998-479D-B37C-3B314AF6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E090004-AEAE-4EE2-A165-F061A032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EF41AEE-58A5-469B-A971-A4E148A6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F14DCFC-ADE3-4242-86FC-D96BC08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7C621EF-DC8D-40BC-928A-3760AECE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8.0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98BE0B4-CA65-4FA4-BE1D-EE03BBBA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5E98A67-D4E4-4F42-9AF9-CFF6B59B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40B6199-332A-41B9-8933-DB193386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73A1D6B-D6C5-467F-B360-871F060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MC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EC3A9F6-1138-4F20-9C58-EE78F5D6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#02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A7730DE-2FB1-42DD-AB4A-0D944AE1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Marcus Chen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20C9E17-87CD-4D84-A6AD-BABD1A3A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29  ·  Software Engineer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FA17EF6-9298-417B-9E89-E2F75B72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C52A305-2959-4C19-9AE9-0B2E7AE5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9D9D15E-4F5C-47E7-9D1E-2E0CB5B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8AAAE289-CF98-4E32-9274-F5663B76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E55EED8-029F-4D05-A0C4-E84DE49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21FDBAA-E5FA-4CCD-86C6-B0503F71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$210,000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0DCF2203-C28E-443A-BC29-84FB29CB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54CD83CD-3B3D-4411-956F-D7D1437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$150,000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D0906372-40C5-4DD7-8083-236E7CF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12700">
            <a:solidFill>
              <a:srgbClr val="D6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D41FFB01-EB3F-4827-A93C-4FC998E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FB61829C-5221-4D56-B708-9CDF2961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B4A6B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3CEF4D0E-A69D-4B92-BD9D-FF3FE63E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Aggressive Growth / Early Retirement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288B2FC-D652-4DE2-A2EB-FC66CF6E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299AD1D4-5F87-408C-A899-37FF5B0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CC45A43A-81DD-44E2-B364-454FB29E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Tech stock concentration; High volatility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8F98F013-8756-47ED-B8F2-6383DC02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7B164F2B-258F-420F-A577-3D082298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A63E7610-A43F-4CF3-A412-59B2CA39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11.0%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6AC9277D-E9D3-45AC-9CDD-840C7FC6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53575A05-A067-443F-92A9-DE918E1D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44AE9492-51B0-4FEB-A7A4-6EF64836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22.0%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0B136451-170B-41FC-AC0B-523A4DBE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126BE530-5D38-4BBF-8ABE-802C64D2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DDE950CB-1C82-4DDF-8E76-9033C1DE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1.5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31EED5B8-8E9F-483D-BE5F-55A75944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E8ADDB2-C138-4032-9B22-FF9CC640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1F23E4CC-2793-4980-8CB5-AA9B61C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52DDE2C0-4234-494F-95A5-F49CA30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DS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09188069-6BCC-4BE0-AE28-D1361289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#03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08345A29-7381-4B60-B300-BD446B0B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David &amp; Sarah Miller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605A993F-AD81-4C3D-A4A1-4F56F21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48/46  ·  Middle Management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D47399CE-5BD3-4B11-BF25-D7031EE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92754AAF-E40C-444A-B8DF-721AECD5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7366B86E-6B0C-4EFB-A1C0-EDAEE5D2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F0C2BA63-BA0F-4DDF-8CFE-49248FB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375447F2-6FC1-4766-9E64-E375F12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850FB151-8365-47E2-8CF2-BD9385B6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$165,000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C327D61A-97A6-449F-9D5B-8A8842ED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2D46D9BE-AC0B-43E4-8B60-ABAB863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$450,000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165D82DB-8EAA-4509-942F-396CA9B1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12700">
            <a:solidFill>
              <a:srgbClr val="D6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203753FC-EF26-4EC2-8504-C12ABFB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60F289A7-B4D5-4ED2-8B27-2C57C734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B4A6B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B648A4FD-C687-4FA3-97FD-8860503A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College Funding / Retirement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3E57E217-B71B-4DCC-800D-3ABD4C23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892A2389-55FD-41B3-A30E-29FD5C76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911F74C0-5B5C-49D4-8EDA-7E54FC71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Tuition payments starting in 3 years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60DE4DFB-F495-4C29-AB93-627EEAA6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C854E9AA-8C08-4054-BD6E-465E2F5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F61B1559-0EBA-4E88-BB23-B94B79CB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7.0%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E9CA86D-CCE3-4569-B146-7E16C5E1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0BF172E1-1C96-4D3F-8713-3793BA0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F5424ED3-3FBA-4120-AA04-EEC7AE4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12.0%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F37885E7-3EDA-48E2-8326-CD79BF0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8B832916-15C5-409C-8AC3-1081A0A6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BC1635FA-9B85-4860-9AC7-7E4A499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4.0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1B1CADC9-369D-4697-B7EF-A7A39C14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00365737-9632-41B5-97D5-042509DD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One</a:t>
            </a:r>
          </a:p>
        </p:txBody>
      </p:sp>
      <p:sp>
        <p:nvSpPr>
          <p:cNvPr id="104" name="Text 39">
            <a:extLst xmlns:a="http://schemas.openxmlformats.org/drawingml/2006/main">
              <a:ext uri="{FF2B5EF4-FFF2-40B4-BE49-F238E27FC236}">
                <a16:creationId xmlns:a16="http://schemas.microsoft.com/office/drawing/2014/main" id="{701936F2-F6CB-2411-1711-A20E17F6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" y="1463040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</a:t>
            </a:r>
          </a:p>
        </p:txBody>
      </p:sp>
    </p:spTree>
    <p:extLst>
      <p:ext uri="{BB962C8B-B14F-4D97-AF65-F5344CB8AC3E}">
        <p14:creationId xmlns:p14="http://schemas.microsoft.com/office/powerpoint/2010/main" val="4099662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A10587-971B-450E-A93B-F9B77BC6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5CAB45-6928-405A-A74A-F03E3F3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88E5A-C993-4C8A-8CBC-46C5347A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TWO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88839D-0CE6-4A24-AD95-C61CE0FE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Two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81E9F0-88CD-4429-8033-2B029578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2 / 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1A08AE2-AA1C-4F12-97A1-02BD3B46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1D1CAF5-C55B-4DB6-A02F-A02C7F7F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3A8AA9E-F341-4BAA-8F49-A5BD0428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ED3603-B2C2-411F-BF28-1ABD3EB8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JR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55C6830-B18E-4C7E-A89C-7667E588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#05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2DD23F-C081-47EE-9665-06DFC59F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Javier Rodriguez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83E3724-33AB-42BA-B9DE-622D7E2F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55  ·  Business Owner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895F9BB-6E76-43A0-9E4A-3E0CC7D1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55A5C8-FC0A-4BB9-8EC0-56C08CCE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600485E-030D-4FAF-9FC8-0705560B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DC8FEED-61A3-42A4-8F14-4913A385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8CD4E2-FF23-435E-9DF8-6F63E5B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7947F7-02BB-460E-9B03-1F24B21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$200,000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5618830-6A94-43EC-9B80-83003F9F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099683-AFB1-4BC1-9E17-E5528B3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$3.0M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73F1CE4-42EB-4D4A-94E1-C6F9DDB7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0"/>
          </a:solidFill>
          <a:ln xmlns:a="http://schemas.openxmlformats.org/drawingml/2006/main" w="12700">
            <a:solidFill>
              <a:srgbClr val="F0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E446F49-69EC-4C32-90AB-8BCDC31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EFAC16C-85F3-48CC-B8D3-24DEC853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B3A1F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917B574-02E2-4DBB-B142-D4AC595E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Diversification / Business Exit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8964BD7-D015-4C9B-B51D-EBFFD605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F426927-1D45-45A5-AF39-794866E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04D1C8D-373A-4C41-B418-C5BFCD0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Illiquid business assets; Tax-sensitive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862F4D0-41B3-41FC-AB0E-57802DBD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6FE35B9-3537-4A4F-A1A3-488392E0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9A7BD24-C8C5-4E0C-BE02-157C8403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7.5%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5AD5CA1-F447-4D46-969F-ABC19F23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DED9E9F-387D-4E0C-9B8E-0FF9F0F1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6006FEC-5D2F-4805-8310-123F7F4A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14.0%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86FB12AC-9538-45EA-B24C-9069DD19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CF10D43-0202-4A51-826D-639B883F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BCB6CFA-A109-423F-9498-31E8BC02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4.5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487DB41B-14D9-43F4-80B6-40DB862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5562D8C-E7FB-4B0B-A250-8A323393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9DF0D32-263B-45B1-802B-A9A453E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6F492E2D-15F6-4687-91FC-CC1A3BD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LS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42163C5-1D16-478B-83F2-695DCA81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#07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358675E-08A7-444E-9160-A4A4103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Linda Sterling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72F91AF-1285-443F-86A0-ED2E7264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51  ·  Marketing Director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A6D807B-9CCF-4800-94FE-91736B5A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51E3D36-F619-416A-BE76-E50AC73A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B118B5AD-13AF-49E7-8B68-14F966EE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887D40B7-6CE9-478F-B2E4-D6F2959B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4EC50493-BA96-48D5-9FC9-A2263354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804B54DC-83E7-4381-986D-67433D14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$95,000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3086B2D4-07D5-4CD4-85DE-61B4A79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AF632D10-B758-4FF7-BF78-B1F12B5F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$600,000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FB4C362-510B-40D9-952D-C23FEC73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0"/>
          </a:solidFill>
          <a:ln xmlns:a="http://schemas.openxmlformats.org/drawingml/2006/main" w="12700">
            <a:solidFill>
              <a:srgbClr val="F0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46CC2297-401B-47B7-B690-31C6709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CFD4777A-1E77-430B-9E42-302A567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B3A1F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2E8CDC9E-C388-42DF-B24C-408EDEF7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Stability / Home Purchase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F8DC47D-4102-495F-9294-D5C17E69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ECE0FD0A-DAAE-47C3-A6BA-E6213DE2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A41FFBA3-BF54-4CFE-A236-6E01F21F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Needs $150k cash for home in 12 months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6B50B30D-BF28-4F96-B310-74A06BD4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72FEA3FF-514D-4647-ADF2-900D939F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24B02783-64F2-41A0-A66F-0CFA4F45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5.5%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8CAA8970-CE10-49FF-B314-9637F8CE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F283730A-9580-4EBC-9762-CE868D67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F89CEEBB-CF57-40FB-AAB1-D1300170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2CE95CBD-943B-484C-B51C-765CB8E3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80FEE2D9-B04D-48DA-9F0A-AA89294C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F125F3CF-90B1-42DD-917E-AEFD5841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6.0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4146527-418F-48E9-AE30-CE2E22D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CE87E1CB-D33D-434C-9682-A80BC48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3FA85FF1-9F69-469F-9B98-06964097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182E930C-FE15-4560-BABA-A906847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RH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47047306-8049-4B90-9982-277C3C5D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#08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DB403AE7-EFD7-4A7A-B9B8-4326D512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Robert Halloway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976EEB95-E269-4CFA-8247-1652CA8C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58  ·  Retail Manager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DC89CB91-BAD0-4C8C-95CE-DFE7CD7F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E3F2185A-04EA-4776-8EEA-0DE3C1DA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3CE5E37A-B4D8-44D4-92E4-CFE1E897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F820CA0-BD1A-4104-BA52-6F46B77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991C28CE-F801-4E79-81B3-635F1822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B2FB562C-1458-4C2D-97DE-F5558BC2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$70,000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36DAC49A-E39A-49BC-AB8C-E3F0AC88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791FA4C8-3793-45B7-8A4B-269B858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$120,000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97A4863B-EDAA-40CA-8A59-2C690EC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0"/>
          </a:solidFill>
          <a:ln xmlns:a="http://schemas.openxmlformats.org/drawingml/2006/main" w="12700">
            <a:solidFill>
              <a:srgbClr val="F0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427C6BB4-A529-4791-918A-06C4CD0A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DDCEF2EE-5AD8-4FA2-8C7E-0AB58080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B3A1F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0BD953A5-CA13-41F2-A2E1-AFE4A1A5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Catch-up Growth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1F40E665-4F9D-4D9D-95FC-1AFCD7FF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55BFA8BD-A405-490E-A0FB-A2E6BFDA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9822CBC6-4DDC-4A63-9206-47DE0A8E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Under-funded for retirement; short horizon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C49085B7-F1F6-4091-9837-EC19B33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9452F3FC-6771-4114-83F2-972F7BD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43D1EA1C-39FA-484B-9065-D2AB2D8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10.0%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F3D519A5-3CB6-4492-8E27-1B8056B5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9F634689-DA51-445F-866A-39C48CD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5DD218AB-F003-4A42-A9B6-2558F3F0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9A015E38-E9ED-459E-8339-6F0A2C20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45B0C00C-702B-4DB6-B274-71AB2ED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93AA785E-6717-433B-83C7-658EFA14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2.0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C9754B6D-DD5F-4348-8C89-903C9FD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CC4FA6CA-73AD-4794-AE1D-D3199B10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Two</a:t>
            </a:r>
          </a:p>
        </p:txBody>
      </p:sp>
    </p:spTree>
    <p:extLst>
      <p:ext uri="{BB962C8B-B14F-4D97-AF65-F5344CB8AC3E}">
        <p14:creationId xmlns:p14="http://schemas.microsoft.com/office/powerpoint/2010/main" val="2056201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0110805-B6B4-4F67-813F-7EB7A69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277F78-1B88-4183-938C-EA39413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5D040E-2580-4E46-9C08-B37E28B8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THREE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A89183-8AB7-4AD0-A96E-B120E61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Three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EEA4AEC-EEFA-4CA4-A65A-2CCD8A01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3 / 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C0DA054-00D2-4398-9674-AC1C218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23C5EF7-961F-4CD6-98B5-4E73E9F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FCA3AF8-CC72-4843-BDD7-70CC2E5B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319570-AC58-4B5B-A67B-E6A7050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0002FEE-C37A-4CEA-9F19-746B17FB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4854814-F464-4F99-ADFC-6153A25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Chloe Dubois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123FDAC-0E6A-4FB3-8693-48888431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24  ·  Graduate Student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F6DBC7E-40BA-43FC-9885-205EE793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642913-E2DB-4C08-921A-6DA9E68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C5E90FF-2ACF-4879-A80C-491B3764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D95EBD7-75B4-4043-8BEC-381498D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F12378-44F3-4995-942C-2B118DD4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4401BD4-85B0-4F4C-99D1-576D2C4B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22CB19-57EB-4ADE-8ADD-2838BB4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6A3EEB0-EF61-416A-9889-134AB3AC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$2.5M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B02F76F-5768-4B39-BE61-566572BD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BD8"/>
          </a:solidFill>
          <a:ln xmlns:a="http://schemas.openxmlformats.org/drawingml/2006/main" w="12700">
            <a:solidFill>
              <a:srgbClr val="D0EB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60617A6-7B3C-4530-A185-387EAFE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15EFAC5-5738-4F62-83D9-C294E212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D5A3D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9968DF-21B9-461C-8FBC-559A973E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Long-term Wealth Building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0BBF70E-0235-4D41-82F5-73AB4881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DBA34C0-BD42-4126-AF48-5AAA26C3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F6BD518-0BD4-4A83-A763-CA15D6AF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Novice experience; 30+ year horizon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61FEC13-E378-4434-A968-6959CC0A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AFC5E41-4AEB-42A4-BFDC-294036DD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8EF376D-53E0-41A2-8D5D-D276F340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9.5%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44F8411-504D-46AE-885A-56B69B11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9CE069E-9F3D-46BE-997C-C423FA5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7955A62-7BA9-4626-A955-B98E3F91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18.0%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85E51EE-D657-46C1-BDE3-E4D0DB4F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28FB67F-1D51-4298-BBC8-A9945A56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4BF6CA-83B9-4AB9-95F7-F0B73D8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2.5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6B5056C-76FC-4787-811E-87D3256A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3D40A80-7A62-4B88-A7BF-15EFE22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B50C23E-E992-4A01-971E-E912BECB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2E0B231-1FFC-4F27-BDA2-5FB8FEB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AO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FF6B2A9-356F-4F9F-B7D6-2CD42392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#06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6FCE45A-77AF-4E2C-90D4-5470CCD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Dr. Amara Okafor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019426-1538-472E-9B8E-97C35A75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42  ·  Pediatrician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B49A8F6-4139-4BCB-A34A-57BB8DD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272EEFA5-C9A7-47FC-8D98-3B76D256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A28A6A9-6D69-4FAB-A48F-DC12D01C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08E1FC4D-FE7E-4026-8F09-D89C15A3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02448B7-B6BE-4D65-8367-9FC54EE2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AE43745A-9B47-4416-A7B2-ABCAA7FE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$280,000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4E8CACD-5F5F-41EE-89C8-0FA1B34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A18E9DD-74D7-4D03-8C21-387E1AB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$850,000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9DE74988-DC29-4A94-BE48-ABFE4AB2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BD8"/>
          </a:solidFill>
          <a:ln xmlns:a="http://schemas.openxmlformats.org/drawingml/2006/main" w="12700">
            <a:solidFill>
              <a:srgbClr val="D0EB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A74388C9-D6C4-4A16-91B7-5CC48E9E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87CC1F04-D233-471F-BB1D-0B2AAC2B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D5A3D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6518025C-7CE1-4959-BCAB-BF84BB2D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Ethical Growth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E9637EDB-C2C1-48BA-94CB-270CAAA1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A769D9AB-AD11-46E8-9631-AE2DF09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306F21CE-E552-4127-9FEC-184761CD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Strict ESG filters (No tobacco/oil/arms)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C19B14AA-225C-4905-822E-6215ECEC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991C78D-6E9F-4EEC-9D5D-F370BCCB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811D9DDA-6325-44CF-BAB9-38797E27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8.0%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A2E4CED0-AA61-41B0-9A44-AC20A383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71DEBAC0-DBE7-4580-A130-8B3FCFD4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4090203C-635D-47B7-B771-7678199A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15.0%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97C6EA69-DE62-4DA8-8A55-EFBE44F4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077E9DC-6D40-49FC-A784-E6378F6C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355A2DEA-2767-4505-AA3D-CD773914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3.5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C0BAEF77-6CCD-4E81-B48C-69D4EAA3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2126C7A-2302-402D-BA3F-9495B01A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99C33F33-DF89-402B-91D8-4674B38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27DE5876-BECF-454A-B5F2-3472BD04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ZJ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E6C1A946-9764-4CF3-AE7A-858DD3FC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#10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2D7EE89A-9A98-4D8F-9737-291C9A3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Zoe Jenkins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AE5FD4A7-59EA-42A4-871D-5D737A3D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32  ·  Graphic Designer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21853414-C9F9-49D1-9BD3-8B4850D1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729371F4-EDA5-4C0C-8475-9D0E3E3C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6BBA6B02-0462-4362-BAAA-DEEF49DA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588518E-C270-44C7-9FF4-98FF029C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39DCC92F-2B19-44F3-A58E-C09C70A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F909C522-5A2B-4158-A32F-A84C8E9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$65,000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1B894250-FCBA-4066-AABC-4FCE62B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159B0212-44F4-4BB0-A1FA-32D59024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$40,000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0B9CC8B4-E0B2-411E-AB2E-F44B7ED4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BD8"/>
          </a:solidFill>
          <a:ln xmlns:a="http://schemas.openxmlformats.org/drawingml/2006/main" w="12700">
            <a:solidFill>
              <a:srgbClr val="D0EB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B27A889F-BAA6-4FBA-A656-0E936B02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D06D2965-3971-45CF-9930-D71349C9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D5A3D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1B667644-C924-41A5-BCD0-848B3AD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Emergency Fund / Growth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168864F6-7265-46C5-A681-B84250DF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6F1C42C8-B4FE-4A54-9DB7-7B692861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C8DE6C78-37C7-4196-BCB6-465AE5E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Variable income; needs 12-mo cash reserve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024B8348-87C4-446D-99E4-59941458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865A0FEF-E3EF-45D6-8F71-02BAD1C2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A56047D2-863D-4368-8EA6-90601092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6.5%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BE0A4F60-0546-4F8E-A3D3-27C6E744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58F04A46-3E56-42D2-8187-F14560F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26389A03-736E-41F0-B842-0F056A6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13.0%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44D6F990-3AB5-4702-AF24-FB2B4D09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51B02B29-5BC2-441A-A9ED-D1B0D6C6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DEA4A415-82A1-40EF-BE39-0D8526E2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5.0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CECE73E8-6649-4FEF-9E1F-8E68A35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28A3C7C4-A05A-43BB-87EC-E2EED495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Three</a:t>
            </a:r>
          </a:p>
        </p:txBody>
      </p:sp>
    </p:spTree>
    <p:extLst>
      <p:ext uri="{BB962C8B-B14F-4D97-AF65-F5344CB8AC3E}">
        <p14:creationId xmlns:p14="http://schemas.microsoft.com/office/powerpoint/2010/main" val="377812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2DF09E-4011-49FF-AA6D-D577C03E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934E5-4FCC-42DF-917D-BF3B6715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53AA17F-2AEC-4CCF-98F3-77B35933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FOUR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3F89EB-36FF-429F-BD7D-FAB510D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Four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DF0328-AE6A-4E0C-B004-1245FE1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4 / 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F652350-5745-4D11-84BF-EE4D7B1F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24CDC08-DEE4-467D-A873-0588CD9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FF59F12-7350-4984-9BCB-8F7A753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8CD988-7AC9-48ED-9CFA-CC52CBF9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F21397E-A1DD-416D-AB53-98CB17F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0146A30-7CFD-42B9-9B2D-A8ACB836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Thomas Murphy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D937BC-3829-49F6-A670-0C15E050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45  ·  Police Officer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179781E-C28C-41C1-A87C-F3EEC655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F1F793E-BA50-4BA0-9C47-77FDE496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0B75EC9-58C8-4188-BA19-20989595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36F59FF-0245-4F93-9A8B-01FF48E3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396A284-6CB7-4C0A-8D89-2D916E2A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40EE79C-B674-4615-8A48-65C913DC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$85,000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8D57A37-EC69-4BCD-B5B3-E1CF736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8EF80-F11B-448C-A6D3-178FB243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$200,000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5652A07-AC4A-4900-85F4-9819DAD3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0F0"/>
          </a:solidFill>
          <a:ln xmlns:a="http://schemas.openxmlformats.org/drawingml/2006/main" w="12700">
            <a:solidFill>
              <a:srgbClr val="E4D0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0F1BBA3-462D-437F-8F8A-299764CD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C04A422-E49C-45ED-BDFC-56DDB5E0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4A2060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BA23BAF-0030-49AA-A3F9-EAE1D7E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Supplemental Retirement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22F7234-F6FC-4271-84DF-368F1496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EC5367D-EF39-4F1B-AA54-A9AFB2C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3CCAEC5-54CB-42E0-89E0-87B98C7E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Psychological aversion to losses; Pension-backed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1A2E740-4BFA-43F8-B002-D3007351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2C46C0A-6021-4D1A-9A8E-DC59017B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4D6F53D-8ECA-441C-A08A-FF112CAA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4.0%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AB4DA3A-D9E8-4DAF-9550-3A45EF2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102F331-22B6-4178-8B3C-B371D96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054E909-8D23-4D7B-97E6-7A4C76C4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C207959-1973-4C87-B68B-0CF93EE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7AF5A1B-B276-47FC-AC1C-03626B73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3A454A8-A568-43BB-A271-BC866FB2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207C28E-2398-4C7C-B0B8-EA4FE910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98F2DE66-F815-430A-A114-FF04F5D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3A6FF36-8ED5-402D-83FB-5AFF9D7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C704C3B-4951-4F36-9765-ACE3154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YT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703A5DD-4FD5-4177-80AA-2D02B807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#12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B8DF64E-5537-4A7D-894B-5F4DF02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Yuki Tanaka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63A1F52-D287-4576-AB15-F4587936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38  ·  Tech Consultant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E9CFD57-36AA-45C7-AAFF-D89CAA0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198882EF-9185-4D9B-AD16-11F506D6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CEB95FE-6FF1-49EF-BEC4-C0018873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A97C21D-00DC-4348-8E55-34170C9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B56C4207-B2C4-4744-A825-67C5BD23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7875D166-5642-404A-AD73-7949062B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$150,000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0FF204F-E786-4BCF-90AD-0B75EF7F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551FF1F9-BB4C-46F7-924C-E6F35F92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$300,000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F82F9567-DB2C-43EB-8829-E2CFBB70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0F0"/>
          </a:solidFill>
          <a:ln xmlns:a="http://schemas.openxmlformats.org/drawingml/2006/main" w="12700">
            <a:solidFill>
              <a:srgbClr val="E4D0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1047C5B-C6FD-4A91-BFE4-2BAC134B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6FCF516A-B8D9-457D-A5CA-19571CE0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4A2060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60514689-3CA6-42A8-8221-855526F8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Growth / Global Diversification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11B0273-9B8A-4C06-B1A2-2D5ED12B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E6B21867-B9DD-4840-A59B-08FF64C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F4B1F182-0413-4CC7-B9E3-20C9C41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Currency risk (USD/JPY); Moving in 10 yrs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17556A93-C514-4C9C-8F7C-439086D1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D0B1953B-B5C5-44DD-902C-01F7775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A68E3DEE-CBA5-43FA-86DB-7E8668A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8.5%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CF9A9DF0-D07D-41DD-A41A-08480A90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7CC0F17-039A-4D96-A297-48D44B2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029EAE5D-B1AC-46E7-9AA5-C4AA9BBD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16.0%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DA68BE6F-DDB3-455A-9912-96516030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0E6FE893-6CF2-46F4-851B-13092FFB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545A43E5-3034-495E-8713-7E832AF0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3.5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9F2C689A-F1E4-4AAE-8B3E-0DB6DCA6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6BE6C3FA-822E-4285-8DBA-911007DC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ECBD4D18-AF28-4160-A923-6384A06A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590B28D3-9574-4DD5-93E3-98026CB0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ER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524C2137-391B-4865-8CC0-F8EBB7CB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#14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4FFB588E-D92D-4276-81AE-EEEDD5ED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Elena Rossi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D4E5B8AB-323F-4BEF-AC4A-09916E11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52  ·  Corporate VP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D4C61AB1-E48E-4CF7-84D7-B761E8FA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68F81B8E-F934-4A75-A9D6-E3B45DB4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E5D5F317-ACE1-43C4-8DFA-FFFC5E40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7D285304-4255-4F04-9844-772A5DC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95BD673D-9BCC-49FB-B0B8-38F1F3F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BB7D7F43-1CA0-4F73-9A83-81480896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$450,000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735C6B6A-6E78-46B7-89B5-42A13A9F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EDDF9565-CB6E-4C6F-8168-056A15C7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$4.0M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3BF8CABE-C19F-418A-8EAA-CCFAB771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0F0"/>
          </a:solidFill>
          <a:ln xmlns:a="http://schemas.openxmlformats.org/drawingml/2006/main" w="12700">
            <a:solidFill>
              <a:srgbClr val="E4D0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7A29D41A-80F1-4F14-BCA8-3AEF3225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D838DEA1-28C5-4362-83BC-C96926A9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4A2060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5E3ABFC7-BC96-4953-B350-E38716C1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Tax Efficiency / Sophisticated Growth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11D68C05-4391-4CBA-B388-4529045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8F8E125E-F2BF-4192-A69F-CE4694CC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DF2F1C85-CF69-46D5-A9AB-9E912F3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SEC Rule 144 restrictions; High tax bracket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AB7E219D-8EC6-4BAE-9285-8D7794CA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3A11517D-B905-4AAF-A6DF-5D5E5FE8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1DA271E9-81D2-47A9-8D77-BC6CC836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10.5%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AC42D34E-ED0B-4639-91BF-CC3A4313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2E317EC0-2B30-43B0-963C-BE12DDB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6AE0D748-B0D0-4A47-B78D-880CEF5B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21.0%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35446A88-4A35-4781-82F3-0F72B746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0C1F7698-0DAD-4F61-B265-4C9F0537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BB8CF713-220B-46AD-9A54-AF04D5BC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2.0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3C0F657A-744A-49C8-8944-4736A64D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FE040D04-5C95-4E89-8566-5F4D7215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Four</a:t>
            </a:r>
          </a:p>
        </p:txBody>
      </p:sp>
    </p:spTree>
    <p:extLst>
      <p:ext uri="{BB962C8B-B14F-4D97-AF65-F5344CB8AC3E}">
        <p14:creationId xmlns:p14="http://schemas.microsoft.com/office/powerpoint/2010/main" val="829086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9F0251-E423-4FBA-846B-159646F2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BA8A7E-4B4A-4ED2-A7CF-4629172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EDD47B-550C-4110-96D0-587922B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FIVE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F23FA8-2481-4A74-BD79-3B7E4F50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Five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7EB897-2A80-4802-87B4-5F7DEEF2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5 / 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5BA55B-02D6-4C16-BAFF-E20C1724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4E0D51-4BA3-439D-A2B1-FBCB205B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24B962F-0D93-4BFD-8B31-78B203AA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287DE5-B7E0-4721-A6ED-D0FA141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B779E5-F47F-4CA0-90BE-B4CE198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#09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A05FFAC-E2DC-4AB4-BC43-A651101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Arthur Sterling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8D1ADC-56AE-4F89-889E-2DD8293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80  ·  Retired Executive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089D0D5-96CD-4CA4-B99E-39606963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A5FE6B7-BEAB-45D0-BC14-7285058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8454E9-4248-490B-AF56-F4FDEF58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FE551EA-9AEB-4FF7-9CAF-62D100E1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74EAB25-80AF-48E8-8271-114AB57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53EE01-DBA3-4752-AEB6-E7B349C6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N/A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F1D5C0B-9FDD-4D88-93C1-695F856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4409596-77E4-4AD5-844D-388A134C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$50M+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C3F87C-449E-4C4F-A139-CE77C00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08354B6-7267-4843-9F08-F78D24C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4FDCE6-D364-4EE4-9DA0-D7F0E681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1BAAB0C-C00D-46A1-AE04-2CB11785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Philanthropy / Multi-gen Wealth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9011B93-E38F-4E85-9547-F3AB3E51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E1F1B-B1ED-42DF-BF6C-F7238B10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4E430AF-A917-43CB-A221-9AA1C7C1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Multi-gen taxes; inflation protection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1683DFA-6A43-4759-858E-5C0B85E7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A66E15C-9B3E-4225-8FF6-45DD1F86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28758FB-A320-4D2C-AC4A-60AF1BDC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AEBE818-06C3-4710-9CEA-DA5163A8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C8B5894-CE5F-4B2B-B8FC-260FD9F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3DDB97F-3159-4BC5-B4B7-44FF3C86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C22C8B6-E4A9-4EA9-8345-A017D159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767649D-81E7-4ED9-8B06-AE035F2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C9ACBE4-D3A6-4CC5-AA59-B5DF88ED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0A94625-6523-46A8-8EF3-50BDF162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37CCB44-DC5C-482E-AB46-0947E9CE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4DA2C87-32FE-4DC9-B1B7-1EDE88B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EA5D8677-CFDE-4285-980A-8F69530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TP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72E61CCE-C21A-4A24-8201-9E42A79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#13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710EEB8-4A5C-4B35-9912-C3E341A6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The Petersons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9A01D38-966F-4C74-9C74-2A8ED49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31/30  ·  Teacher &amp; Nurse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DF12CF7-07A0-42C8-85EB-FFBE4B7C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1973E76-5D9D-4ECD-B98B-138EE8F6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AC9066D-3CB7-45F6-ACE6-22B7E9E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DF19E9D-A756-458E-90DE-F11F245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FCCAA529-93BE-45D9-AA74-BB71309A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17D373B4-DD8C-4190-8ED6-5920C3B5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$110,000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5693FA75-71F4-4D81-AA63-F4905018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1C928C-F885-4F3F-98B5-ADE1A8B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1AA92162-502D-45EE-893B-529666E5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99F5B5A-54BA-4541-9FD0-164E48EA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F57DF732-3458-4606-9F50-850C618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83BE17F5-1223-4256-B402-30CE26D6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Debt Paydown / Child Education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12B75C82-30E9-4297-8AD6-BC8BDAE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789A0CCC-D585-4E92-8894-FAC99FE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0F030B8E-5B89-44D1-AF0C-8958909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$180k Student Debt; Low cash flow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C8F3E105-FB37-4CFA-A6EC-59FEF146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770125D4-B108-437D-812F-317460B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026186E8-2951-4E01-B25A-4487429D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8816860E-4694-4A64-8AAC-D50BB944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E6464BB4-71B4-42DD-A959-DB445647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3A5A746E-DC4F-47C1-B80B-96C100FC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0CA679BB-BF22-4F42-A8EA-F2D7C20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7D4CD42-5FB8-4EE1-807E-54B31D4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0551414F-7723-41EF-87EC-1E9C632B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7.0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CD6A837-4168-4598-BA21-799E20EE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40DA7865-55BE-4D64-A3D3-1367E79E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2D8AE7E7-B12F-4AD2-846F-D2E48C7C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88ED9BBD-C644-426E-98EE-3B98C8E1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5B777AD6-5482-4778-B887-17B38D77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#15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1917A345-642D-4D1A-A66E-E7EB80FA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Tyler Reed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0AF284E5-D67D-4271-806F-CC9D6D89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27  ·  Gig Economy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2ECBE23C-12D1-40DF-9811-DA847BF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EE28ECEB-F56E-463D-B381-677AC1FE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8759DA92-30D6-4C7C-BB62-D760AD33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B93A88A8-FA2F-4135-84FE-070BE7C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97C4A658-F687-499C-A506-F5FA8DAE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9F05672F-7C80-474D-801E-7753E80C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$55,000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3F14F857-DCA7-43F8-A2F8-897354B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3DDEFBCB-D953-4D24-9949-3F6FAB94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FD4045EA-30ED-457A-9984-F3D77FB7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8125C087-E929-4722-A75F-6D1A94C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37653717-4120-406E-8096-F3DCEE8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7E6C7934-70DF-4FB8-86E5-34D7B043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Capital Accumulation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EC4FFFEC-C0F0-40D0-B79C-534DB5A2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3997D47A-7FAF-462D-9634-C64E5E6D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FF7180ED-8731-40B7-AFDE-B777852E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Minimal starting capital; Very long horizon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882750A5-95B9-4AAD-8112-EF01064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D42A368D-E429-401E-B7AB-516F4BB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5DAD0904-92A6-4EF1-A229-A19C79B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9.0%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7DF5E700-3FD8-4D4C-8338-33D85C70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4F67E60D-01C3-438E-BEC1-11BE5625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6F860F8C-C517-4A8F-B8B3-73ECE8F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19.0%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9E426DF4-0202-495D-911F-7D1ADD6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3A381DCE-B1A1-4608-AD2E-4323928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DD146FEC-EEC1-44C9-86B9-87455A6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2.5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60C78A13-A47D-420A-9172-DE7E9D9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1673FAF9-5D76-44B5-865C-4E28436E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Five</a:t>
            </a:r>
          </a:p>
        </p:txBody>
      </p:sp>
    </p:spTree>
    <p:extLst>
      <p:ext uri="{BB962C8B-B14F-4D97-AF65-F5344CB8AC3E}">
        <p14:creationId xmlns:p14="http://schemas.microsoft.com/office/powerpoint/2010/main" val="16839701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2026-07-30T14:44:06.0340000Z</dcterms:created>
  <dcterms:modified xsi:type="dcterms:W3CDTF">2026-07-30T14:44:06.0340000Z</dcterms:modified>
</coreProperties>
</file>