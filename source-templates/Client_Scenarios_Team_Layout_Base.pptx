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cc3c069fd914233" /><Relationship Type="http://schemas.openxmlformats.org/officeDocument/2006/relationships/extended-properties" Target="/docProps/app.xml" Id="R7fdf68ee932e405d" /><Relationship Type="http://schemas.openxmlformats.org/officeDocument/2006/relationships/officeDocument" Target="/ppt/presentation.xml" Id="R6a09e87df55e4a4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e13c4d3fc44071"/>
  </p:sldMasterIdLst>
  <p:notesMasterIdLst>
    <p:notesMasterId xmlns:r="http://schemas.openxmlformats.org/officeDocument/2006/relationships" r:id="Rad4da208a78a4cdc"/>
  </p:notesMasterIdLst>
  <p:sldIdLst>
    <p:sldId xmlns:r="http://schemas.openxmlformats.org/officeDocument/2006/relationships" id="256" r:id="Rb07f1c9d68904a2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66e85f2f09d437e" /><Relationship Type="http://schemas.openxmlformats.org/officeDocument/2006/relationships/slideMaster" Target="/ppt/slideMasters/slideMaster1.xml" Id="R8ae13c4d3fc44071" /><Relationship Type="http://schemas.openxmlformats.org/officeDocument/2006/relationships/notesMaster" Target="/ppt/notesMasters/notesMaster1.xml" Id="Rad4da208a78a4cdc" /><Relationship Type="http://schemas.openxmlformats.org/officeDocument/2006/relationships/presProps" Target="/ppt/presProps.xml" Id="R3f467adef8ed4046" /><Relationship Type="http://schemas.openxmlformats.org/officeDocument/2006/relationships/viewProps" Target="/ppt/viewProps.xml" Id="R52be741a788e4a3f" /><Relationship Type="http://schemas.openxmlformats.org/officeDocument/2006/relationships/tableStyles" Target="/ppt/tableStyles.xml" Id="R47f61bbff9f24f00" /><Relationship Type="http://schemas.openxmlformats.org/officeDocument/2006/relationships/slide" Target="/ppt/slides/slide1.xml" Id="Rb07f1c9d68904a2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c224bd8164d44b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8618415f734af0" /><Relationship Type="http://schemas.openxmlformats.org/officeDocument/2006/relationships/notesMaster" Target="/ppt/notesMasters/notesMaster1.xml" Id="R639ccd78e9f142d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1cd006f78a432a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b70f4de3523466e" /><Relationship Type="http://schemas.openxmlformats.org/officeDocument/2006/relationships/slideLayout" Target="/ppt/slideLayouts/slideLayout1.xml" Id="Rb72347cc8cab40a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2347cc8cab40a8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6a8decef3942c6" /><Relationship Type="http://schemas.openxmlformats.org/officeDocument/2006/relationships/notesSlide" Target="/ppt/notesSlides/notesSlide1.xml" Id="Rd8c3210311a8476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69F0251-E423-4FBA-846B-159646F29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61520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1A1A"/>
          </a:solidFill>
          <a:ln xmlns:a="http://schemas.openxmlformats.org/drawingml/2006/main" w="12700">
            <a:solidFill>
              <a:srgbClr val="8B1A1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7BA8A7E-4B4A-4ED2-A7CF-4629172E6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-45720"/>
            <a:ext cx="146304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0" b="1">
                <a:solidFill>
                  <a:srgbClr val="FFFFFF">
                    <a:alpha val="25000"/>
                  </a:srgbClr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4EDD47B-550C-4110-96D0-587922BCA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73152"/>
            <a:ext cx="45720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>
                <a:solidFill>
                  <a:srgbClr val="FFFFFF">
                    <a:alpha val="60000"/>
                  </a:srgbClr>
                </a:solidFill>
                <a:latin typeface="Calibri"/>
                <a:ea typeface="Calibri"/>
                <a:cs typeface="Calibri"/>
              </a:rPr>
              <a:t>TEAM FIVE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9F23FA8-2481-4A74-BD79-3B7E4F506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7200"/>
            <a:ext cx="7315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6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Team Five · Client Profiles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D7EB897-2A80-4802-87B4-5F7DEEF2E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0" y="274320"/>
            <a:ext cx="1188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FFFFFF">
                    <a:alpha val="50000"/>
                  </a:srgbClr>
                </a:solidFill>
                <a:latin typeface="Calibri"/>
                <a:ea typeface="Calibri"/>
                <a:cs typeface="Calibri"/>
              </a:rPr>
              <a:t>5 / 5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055BA55B-02D6-4C16-BAFF-E20C17244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" y="1188720"/>
            <a:ext cx="3749040" cy="5212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8E2D8"/>
            </a:solidFill>
            <a:prstDash val="solid"/>
          </a:ln>
          <a:effectLst xmlns:a="http://schemas.openxmlformats.org/drawingml/2006/main"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3C4E0D51-4BA3-439D-A2B1-FBCB205B4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" y="1188720"/>
            <a:ext cx="374904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1A1A"/>
          </a:solidFill>
          <a:ln xmlns:a="http://schemas.openxmlformats.org/drawingml/2006/main" w="12700">
            <a:solidFill>
              <a:srgbClr val="8B1A1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124B962F-0D93-4BFD-8B31-78B203AAA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444752"/>
            <a:ext cx="749808" cy="7498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1A1A"/>
          </a:solidFill>
          <a:ln xmlns:a="http://schemas.openxmlformats.org/drawingml/2006/main" w="12700">
            <a:solidFill>
              <a:srgbClr val="8B1A1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C287DE5-B7E0-4721-A6ED-D0FA1417F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444752"/>
            <a:ext cx="749808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AS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6DB779E5-F47F-4CA0-90BE-B4CE19862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1353312"/>
            <a:ext cx="13258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CASE #09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A05FFAC-E2DC-4AB4-BC43-A651101FB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1444752"/>
            <a:ext cx="2560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Arthur Sterling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48D1ADC-56AE-4F89-889E-2DD829392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1847088"/>
            <a:ext cx="2560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Age 80  ·  Retired Executive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E089D0D5-96CD-4CA4-B99E-39606963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322576"/>
            <a:ext cx="1325880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12700">
            <a:solidFill>
              <a:srgbClr val="E8F0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0A5FE6B7-BEAB-45D0-BC14-728505897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" y="2382012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6EA5"/>
          </a:solidFill>
          <a:ln xmlns:a="http://schemas.openxmlformats.org/drawingml/2006/main" w="12700">
            <a:solidFill>
              <a:srgbClr val="3A6EA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7E8454E9-4248-490B-AF56-F4FDEF58C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" y="2322576"/>
            <a:ext cx="11338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3A6EA5"/>
                </a:solidFill>
                <a:latin typeface="Calibri"/>
                <a:ea typeface="Calibri"/>
                <a:cs typeface="Calibri"/>
              </a:rPr>
              <a:t>RISK NEUTRAL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6FE551EA-9AEB-4FF7-9CAF-62D100E15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724912"/>
            <a:ext cx="3291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E0D8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74EAB25-80AF-48E8-8271-114AB57D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816352"/>
            <a:ext cx="1645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ANNUAL INCOME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5853EE01-DBA3-4752-AEB6-E7B349C61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999232"/>
            <a:ext cx="1645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N/A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0F1D5C0B-9FDD-4D88-93C1-695F85609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2816352"/>
            <a:ext cx="1645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NET WORTH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64409596-77E4-4AD5-844D-388A134CF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2999232"/>
            <a:ext cx="1645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$50M+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6FC3F87C-449E-4C4F-A139-CE77C0049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456432"/>
            <a:ext cx="329184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0D0"/>
          </a:solidFill>
          <a:ln xmlns:a="http://schemas.openxmlformats.org/drawingml/2006/main" w="12700">
            <a:solidFill>
              <a:srgbClr val="F0D0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A08354B6-7267-4843-9F08-F78D24CE7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456432"/>
            <a:ext cx="54864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1A1A"/>
          </a:solidFill>
          <a:ln xmlns:a="http://schemas.openxmlformats.org/drawingml/2006/main" w="12700">
            <a:solidFill>
              <a:srgbClr val="8B1A1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524FDCE6-D364-4EE4-9DA0-D7F0E681A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" y="3493008"/>
            <a:ext cx="3291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8B1A1A"/>
                </a:solidFill>
                <a:latin typeface="Calibri"/>
                <a:ea typeface="Calibri"/>
                <a:cs typeface="Calibri"/>
              </a:rPr>
              <a:t>PRIMARY GOAL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F1BAAB0C-C00D-46A1-AE04-2CB11785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" y="3657600"/>
            <a:ext cx="329184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 i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Philanthropy / Multi-gen Wealth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99011B93-E38F-4E85-9547-F3AB3E511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407408"/>
            <a:ext cx="32918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F0"/>
          </a:solidFill>
          <a:ln xmlns:a="http://schemas.openxmlformats.org/drawingml/2006/main" w="6350">
            <a:solidFill>
              <a:srgbClr val="D8D0C4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164E1F1B-B1ED-42DF-BF6C-F7238B102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" y="4443984"/>
            <a:ext cx="3291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KEY CONSTRAINTS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F4E430AF-A917-43CB-A221-9AA1C7C14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" y="4608576"/>
            <a:ext cx="32918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Multi-gen taxes; inflation protection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D1683DFA-6A43-4759-858E-5C0B85E7C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5230368"/>
            <a:ext cx="1097280" cy="877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1A1A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FA66E15C-9B3E-4225-8FF6-45DD1F868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5285232"/>
            <a:ext cx="10607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E(R)</a:t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128758FB-A320-4D2C-AC4A-60AF1BDC0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5486400"/>
            <a:ext cx="1005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5.0%</a:t>
            </a:r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FAEBE818-06C3-4710-9CEA-DA5163A87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5230368"/>
            <a:ext cx="1097280" cy="877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545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4C8B5894-CE5F-4B2B-B8FC-260FD9F79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5285232"/>
            <a:ext cx="10607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STD DEV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C3DDB97F-3159-4BC5-B4B7-44FF3C860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486400"/>
            <a:ext cx="1005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7.0%</a:t>
            </a: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5C22C8B6-E4A9-4EA9-8345-A017D159D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0" y="5230368"/>
            <a:ext cx="1097280" cy="877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410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D767649D-81E7-4ED9-8B06-AE035F21C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5285232"/>
            <a:ext cx="10607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RISK A</a:t>
            </a:r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6C9ACBE4-D3A6-4CC5-AA59-B5DF88ED8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5486400"/>
            <a:ext cx="1005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3.0</a:t>
            </a:r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E0A94625-6523-46A8-8EF3-50BDF1622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1188720"/>
            <a:ext cx="3749040" cy="5212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8E2D8"/>
            </a:solidFill>
            <a:prstDash val="solid"/>
          </a:ln>
          <a:effectLst xmlns:a="http://schemas.openxmlformats.org/drawingml/2006/main"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137CCB44-DC5C-482E-AB46-0947E9CEA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1188720"/>
            <a:ext cx="374904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1A1A"/>
          </a:solidFill>
          <a:ln xmlns:a="http://schemas.openxmlformats.org/drawingml/2006/main" w="12700">
            <a:solidFill>
              <a:srgbClr val="8B1A1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94DA2C87-32FE-4DC9-B1B7-1EDE88BA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1444752"/>
            <a:ext cx="749808" cy="7498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1A1A"/>
          </a:solidFill>
          <a:ln xmlns:a="http://schemas.openxmlformats.org/drawingml/2006/main" w="12700">
            <a:solidFill>
              <a:srgbClr val="8B1A1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EA5D8677-CFDE-4285-980A-8F69530BA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1444752"/>
            <a:ext cx="749808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TP</a:t>
            </a:r>
          </a:p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72E61CCE-C21A-4A24-8201-9E42A79DF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1353312"/>
            <a:ext cx="13258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CASE #13</a:t>
            </a:r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7710EEB8-4A5C-4B35-9912-C3E341A60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1444752"/>
            <a:ext cx="2560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The Petersons</a:t>
            </a:r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59A01D38-966F-4C74-9C74-2A8ED4913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1847088"/>
            <a:ext cx="2560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Age 31/30  ·  Teacher &amp; Nurse</a:t>
            </a:r>
          </a:p>
        </p:txBody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2DF12CF7-07A0-42C8-85EB-FFBE4B7CB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322576"/>
            <a:ext cx="1325880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8"/>
          </a:solidFill>
          <a:ln xmlns:a="http://schemas.openxmlformats.org/drawingml/2006/main" w="12700">
            <a:solidFill>
              <a:srgbClr val="FFF0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F1973E76-5D9D-4ECD-B98B-138EE8F6F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4256" y="2382012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5B30"/>
          </a:solidFill>
          <a:ln xmlns:a="http://schemas.openxmlformats.org/drawingml/2006/main" w="12700">
            <a:solidFill>
              <a:srgbClr val="C05B3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0AC9066D-3CB7-45F6-ACE6-22B7E9EEC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2272" y="2322576"/>
            <a:ext cx="11338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C05B30"/>
                </a:solidFill>
                <a:latin typeface="Calibri"/>
                <a:ea typeface="Calibri"/>
                <a:cs typeface="Calibri"/>
              </a:rPr>
              <a:t>RISK AVERSE</a:t>
            </a:r>
          </a:p>
        </p:txBody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EDF19E9D-A756-458E-90DE-F11F24529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724912"/>
            <a:ext cx="3291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E0D8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FCCAA529-93BE-45D9-AA74-BB71309AC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816352"/>
            <a:ext cx="1645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ANNUAL INCOME</a:t>
            </a:r>
          </a:p>
        </p:txBody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17D373B4-DD8C-4190-8ED6-5920C3B57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999232"/>
            <a:ext cx="1645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$110,000</a:t>
            </a:r>
          </a:p>
        </p:txBody>
      </p:sp>
      <p:sp>
        <p:nvSpPr>
          <p:cNvPr id="51" name="Text 49">
            <a:extLst xmlns:a="http://schemas.openxmlformats.org/drawingml/2006/main">
              <a:ext uri="{FF2B5EF4-FFF2-40B4-BE49-F238E27FC236}">
                <a16:creationId xmlns:a16="http://schemas.microsoft.com/office/drawing/2014/main" id="{5693FA75-71F4-4D81-AA63-F49050189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608" y="2816352"/>
            <a:ext cx="1645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NET WORTH</a:t>
            </a:r>
          </a:p>
        </p:txBody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2C1C928C-F885-4F3F-98B5-ADE1A8BB6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608" y="2999232"/>
            <a:ext cx="1645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$20,000</a:t>
            </a:r>
          </a:p>
        </p:txBody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1AA92162-502D-45EE-893B-529666E54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3456432"/>
            <a:ext cx="329184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0D0"/>
          </a:solidFill>
          <a:ln xmlns:a="http://schemas.openxmlformats.org/drawingml/2006/main" w="12700">
            <a:solidFill>
              <a:srgbClr val="F0D0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4" name="Shape 52">
            <a:extLst xmlns:a="http://schemas.openxmlformats.org/drawingml/2006/main">
              <a:ext uri="{FF2B5EF4-FFF2-40B4-BE49-F238E27FC236}">
                <a16:creationId xmlns:a16="http://schemas.microsoft.com/office/drawing/2014/main" id="{C99F5B5A-54BA-4541-9FD0-164E48EA5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3456432"/>
            <a:ext cx="54864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1A1A"/>
          </a:solidFill>
          <a:ln xmlns:a="http://schemas.openxmlformats.org/drawingml/2006/main" w="12700">
            <a:solidFill>
              <a:srgbClr val="8B1A1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5" name="Text 53">
            <a:extLst xmlns:a="http://schemas.openxmlformats.org/drawingml/2006/main">
              <a:ext uri="{FF2B5EF4-FFF2-40B4-BE49-F238E27FC236}">
                <a16:creationId xmlns:a16="http://schemas.microsoft.com/office/drawing/2014/main" id="{F57DF732-3458-4606-9F50-850C618ED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3493008"/>
            <a:ext cx="3291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8B1A1A"/>
                </a:solidFill>
                <a:latin typeface="Calibri"/>
                <a:ea typeface="Calibri"/>
                <a:cs typeface="Calibri"/>
              </a:rPr>
              <a:t>PRIMARY GOAL</a:t>
            </a:r>
          </a:p>
        </p:txBody>
      </p:sp>
      <p:sp>
        <p:nvSpPr>
          <p:cNvPr id="56" name="Text 54">
            <a:extLst xmlns:a="http://schemas.openxmlformats.org/drawingml/2006/main">
              <a:ext uri="{FF2B5EF4-FFF2-40B4-BE49-F238E27FC236}">
                <a16:creationId xmlns:a16="http://schemas.microsoft.com/office/drawing/2014/main" id="{83BE17F5-1223-4256-B402-30CE26D6F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3657600"/>
            <a:ext cx="329184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 i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Debt Paydown / Child Education</a:t>
            </a:r>
          </a:p>
        </p:txBody>
      </p:sp>
      <p:sp>
        <p:nvSpPr>
          <p:cNvPr id="57" name="Shape 55">
            <a:extLst xmlns:a="http://schemas.openxmlformats.org/drawingml/2006/main">
              <a:ext uri="{FF2B5EF4-FFF2-40B4-BE49-F238E27FC236}">
                <a16:creationId xmlns:a16="http://schemas.microsoft.com/office/drawing/2014/main" id="{12B75C82-30E9-4297-8AD6-BC8BDAE86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4407408"/>
            <a:ext cx="32918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F0"/>
          </a:solidFill>
          <a:ln xmlns:a="http://schemas.openxmlformats.org/drawingml/2006/main" w="6350">
            <a:solidFill>
              <a:srgbClr val="D8D0C4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8" name="Text 56">
            <a:extLst xmlns:a="http://schemas.openxmlformats.org/drawingml/2006/main">
              <a:ext uri="{FF2B5EF4-FFF2-40B4-BE49-F238E27FC236}">
                <a16:creationId xmlns:a16="http://schemas.microsoft.com/office/drawing/2014/main" id="{789A0CCC-D585-4E92-8894-FAC99FE7E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4443984"/>
            <a:ext cx="3291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KEY CONSTRAINTS</a:t>
            </a:r>
          </a:p>
        </p:txBody>
      </p:sp>
      <p:sp>
        <p:nvSpPr>
          <p:cNvPr id="59" name="Text 57">
            <a:extLst xmlns:a="http://schemas.openxmlformats.org/drawingml/2006/main">
              <a:ext uri="{FF2B5EF4-FFF2-40B4-BE49-F238E27FC236}">
                <a16:creationId xmlns:a16="http://schemas.microsoft.com/office/drawing/2014/main" id="{0F030B8E-5B89-44D1-AF0C-895890926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4608576"/>
            <a:ext cx="32918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$180k Student Debt; Low cash flow</a:t>
            </a:r>
          </a:p>
        </p:txBody>
      </p:sp>
      <p:sp>
        <p:nvSpPr>
          <p:cNvPr id="60" name="Shape 58">
            <a:extLst xmlns:a="http://schemas.openxmlformats.org/drawingml/2006/main">
              <a:ext uri="{FF2B5EF4-FFF2-40B4-BE49-F238E27FC236}">
                <a16:creationId xmlns:a16="http://schemas.microsoft.com/office/drawing/2014/main" id="{C8F3E105-FB37-4CFA-A6EC-59FEF146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5230368"/>
            <a:ext cx="1097280" cy="877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1A1A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1" name="Text 59">
            <a:extLst xmlns:a="http://schemas.openxmlformats.org/drawingml/2006/main">
              <a:ext uri="{FF2B5EF4-FFF2-40B4-BE49-F238E27FC236}">
                <a16:creationId xmlns:a16="http://schemas.microsoft.com/office/drawing/2014/main" id="{770125D4-B108-437D-812F-317460BA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8536" y="5285232"/>
            <a:ext cx="10607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E(R)</a:t>
            </a:r>
          </a:p>
        </p:txBody>
      </p:sp>
      <p:sp>
        <p:nvSpPr>
          <p:cNvPr id="62" name="Text 60">
            <a:extLst xmlns:a="http://schemas.openxmlformats.org/drawingml/2006/main">
              <a:ext uri="{FF2B5EF4-FFF2-40B4-BE49-F238E27FC236}">
                <a16:creationId xmlns:a16="http://schemas.microsoft.com/office/drawing/2014/main" id="{026186E8-2951-4E01-B25A-4487429D3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5486400"/>
            <a:ext cx="1005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6.0%</a:t>
            </a:r>
          </a:p>
        </p:txBody>
      </p:sp>
      <p:sp>
        <p:nvSpPr>
          <p:cNvPr id="63" name="Shape 61">
            <a:extLst xmlns:a="http://schemas.openxmlformats.org/drawingml/2006/main">
              <a:ext uri="{FF2B5EF4-FFF2-40B4-BE49-F238E27FC236}">
                <a16:creationId xmlns:a16="http://schemas.microsoft.com/office/drawing/2014/main" id="{8816860E-4694-4A64-8AAC-D50BB9447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7528" y="5230368"/>
            <a:ext cx="1097280" cy="877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545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4" name="Text 62">
            <a:extLst xmlns:a="http://schemas.openxmlformats.org/drawingml/2006/main">
              <a:ext uri="{FF2B5EF4-FFF2-40B4-BE49-F238E27FC236}">
                <a16:creationId xmlns:a16="http://schemas.microsoft.com/office/drawing/2014/main" id="{E6464BB4-71B4-42DD-A959-DB445647A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5816" y="5285232"/>
            <a:ext cx="10607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STD DEV</a:t>
            </a:r>
          </a:p>
        </p:txBody>
      </p:sp>
      <p:sp>
        <p:nvSpPr>
          <p:cNvPr id="65" name="Text 63">
            <a:extLst xmlns:a="http://schemas.openxmlformats.org/drawingml/2006/main">
              <a:ext uri="{FF2B5EF4-FFF2-40B4-BE49-F238E27FC236}">
                <a16:creationId xmlns:a16="http://schemas.microsoft.com/office/drawing/2014/main" id="{3A5A746E-DC4F-47C1-B80B-96C100FCD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5486400"/>
            <a:ext cx="1005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10.0%</a:t>
            </a:r>
          </a:p>
        </p:txBody>
      </p:sp>
      <p:sp>
        <p:nvSpPr>
          <p:cNvPr id="66" name="Shape 64">
            <a:extLst xmlns:a="http://schemas.openxmlformats.org/drawingml/2006/main">
              <a:ext uri="{FF2B5EF4-FFF2-40B4-BE49-F238E27FC236}">
                <a16:creationId xmlns:a16="http://schemas.microsoft.com/office/drawing/2014/main" id="{0CA679BB-BF22-4F42-A8EA-F2D7C20E8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8" y="5230368"/>
            <a:ext cx="1097280" cy="877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410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7" name="Text 65">
            <a:extLst xmlns:a="http://schemas.openxmlformats.org/drawingml/2006/main">
              <a:ext uri="{FF2B5EF4-FFF2-40B4-BE49-F238E27FC236}">
                <a16:creationId xmlns:a16="http://schemas.microsoft.com/office/drawing/2014/main" id="{57D4CD42-5FB8-4EE1-807E-54B31D4FC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3096" y="5285232"/>
            <a:ext cx="10607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RISK A</a:t>
            </a:r>
          </a:p>
        </p:txBody>
      </p:sp>
      <p:sp>
        <p:nvSpPr>
          <p:cNvPr id="68" name="Text 66">
            <a:extLst xmlns:a="http://schemas.openxmlformats.org/drawingml/2006/main">
              <a:ext uri="{FF2B5EF4-FFF2-40B4-BE49-F238E27FC236}">
                <a16:creationId xmlns:a16="http://schemas.microsoft.com/office/drawing/2014/main" id="{0551414F-7723-41EF-87EC-1E9C632B1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5486400"/>
            <a:ext cx="1005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7.0</a:t>
            </a:r>
          </a:p>
        </p:txBody>
      </p:sp>
      <p:sp>
        <p:nvSpPr>
          <p:cNvPr id="69" name="Shape 67">
            <a:extLst xmlns:a="http://schemas.openxmlformats.org/drawingml/2006/main">
              <a:ext uri="{FF2B5EF4-FFF2-40B4-BE49-F238E27FC236}">
                <a16:creationId xmlns:a16="http://schemas.microsoft.com/office/drawing/2014/main" id="{6CD6A837-4168-4598-BA21-799E20EEE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6136" y="1188720"/>
            <a:ext cx="3749040" cy="5212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8E2D8"/>
            </a:solidFill>
            <a:prstDash val="solid"/>
          </a:ln>
          <a:effectLst xmlns:a="http://schemas.openxmlformats.org/drawingml/2006/main"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0" name="Shape 68">
            <a:extLst xmlns:a="http://schemas.openxmlformats.org/drawingml/2006/main">
              <a:ext uri="{FF2B5EF4-FFF2-40B4-BE49-F238E27FC236}">
                <a16:creationId xmlns:a16="http://schemas.microsoft.com/office/drawing/2014/main" id="{40DA7865-55BE-4D64-A3D3-1367E79E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6136" y="1188720"/>
            <a:ext cx="374904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1A1A"/>
          </a:solidFill>
          <a:ln xmlns:a="http://schemas.openxmlformats.org/drawingml/2006/main" w="12700">
            <a:solidFill>
              <a:srgbClr val="8B1A1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1" name="Shape 69">
            <a:extLst xmlns:a="http://schemas.openxmlformats.org/drawingml/2006/main">
              <a:ext uri="{FF2B5EF4-FFF2-40B4-BE49-F238E27FC236}">
                <a16:creationId xmlns:a16="http://schemas.microsoft.com/office/drawing/2014/main" id="{2D8AE7E7-B12F-4AD2-846F-D2E48C7C2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1444752"/>
            <a:ext cx="749808" cy="7498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1A1A"/>
          </a:solidFill>
          <a:ln xmlns:a="http://schemas.openxmlformats.org/drawingml/2006/main" w="12700">
            <a:solidFill>
              <a:srgbClr val="8B1A1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2" name="Text 70">
            <a:extLst xmlns:a="http://schemas.openxmlformats.org/drawingml/2006/main">
              <a:ext uri="{FF2B5EF4-FFF2-40B4-BE49-F238E27FC236}">
                <a16:creationId xmlns:a16="http://schemas.microsoft.com/office/drawing/2014/main" id="{88ED9BBD-C644-426E-98EE-3B98C8E18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1444752"/>
            <a:ext cx="749808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TR</a:t>
            </a:r>
          </a:p>
        </p:txBody>
      </p:sp>
      <p:sp>
        <p:nvSpPr>
          <p:cNvPr id="73" name="Text 71">
            <a:extLst xmlns:a="http://schemas.openxmlformats.org/drawingml/2006/main">
              <a:ext uri="{FF2B5EF4-FFF2-40B4-BE49-F238E27FC236}">
                <a16:creationId xmlns:a16="http://schemas.microsoft.com/office/drawing/2014/main" id="{5B777AD6-5482-4778-B887-17B38D776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2136" y="1353312"/>
            <a:ext cx="13258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CASE #15</a:t>
            </a:r>
          </a:p>
        </p:txBody>
      </p:sp>
      <p:sp>
        <p:nvSpPr>
          <p:cNvPr id="74" name="Text 72">
            <a:extLst xmlns:a="http://schemas.openxmlformats.org/drawingml/2006/main">
              <a:ext uri="{FF2B5EF4-FFF2-40B4-BE49-F238E27FC236}">
                <a16:creationId xmlns:a16="http://schemas.microsoft.com/office/drawing/2014/main" id="{1917A345-642D-4D1A-A66E-E7EB80FA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5128" y="1444752"/>
            <a:ext cx="2560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Tyler Reed</a:t>
            </a:r>
          </a:p>
        </p:txBody>
      </p:sp>
      <p:sp>
        <p:nvSpPr>
          <p:cNvPr id="75" name="Text 73">
            <a:extLst xmlns:a="http://schemas.openxmlformats.org/drawingml/2006/main">
              <a:ext uri="{FF2B5EF4-FFF2-40B4-BE49-F238E27FC236}">
                <a16:creationId xmlns:a16="http://schemas.microsoft.com/office/drawing/2014/main" id="{0AF284E5-D67D-4271-806F-CC9D6D899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5128" y="1847088"/>
            <a:ext cx="2560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Age 27  ·  Gig Economy</a:t>
            </a:r>
          </a:p>
        </p:txBody>
      </p:sp>
      <p:sp>
        <p:nvSpPr>
          <p:cNvPr id="76" name="Shape 74">
            <a:extLst xmlns:a="http://schemas.openxmlformats.org/drawingml/2006/main">
              <a:ext uri="{FF2B5EF4-FFF2-40B4-BE49-F238E27FC236}">
                <a16:creationId xmlns:a16="http://schemas.microsoft.com/office/drawing/2014/main" id="{2ECBE23C-12D1-40DF-9811-DA847BF8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2322576"/>
            <a:ext cx="1325880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E"/>
          </a:solidFill>
          <a:ln xmlns:a="http://schemas.openxmlformats.org/drawingml/2006/main" w="12700">
            <a:solidFill>
              <a:srgbClr val="E8F5E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7" name="Shape 75">
            <a:extLst xmlns:a="http://schemas.openxmlformats.org/drawingml/2006/main">
              <a:ext uri="{FF2B5EF4-FFF2-40B4-BE49-F238E27FC236}">
                <a16:creationId xmlns:a16="http://schemas.microsoft.com/office/drawing/2014/main" id="{EE28ECEB-F56E-463D-B381-677AC1FEB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8744" y="2382012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8A5E"/>
          </a:solidFill>
          <a:ln xmlns:a="http://schemas.openxmlformats.org/drawingml/2006/main" w="12700">
            <a:solidFill>
              <a:srgbClr val="2D8A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8" name="Text 76">
            <a:extLst xmlns:a="http://schemas.openxmlformats.org/drawingml/2006/main">
              <a:ext uri="{FF2B5EF4-FFF2-40B4-BE49-F238E27FC236}">
                <a16:creationId xmlns:a16="http://schemas.microsoft.com/office/drawing/2014/main" id="{8759DA92-30D6-4C7C-BB62-D760AD33B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2322576"/>
            <a:ext cx="11338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2D8A5E"/>
                </a:solidFill>
                <a:latin typeface="Calibri"/>
                <a:ea typeface="Calibri"/>
                <a:cs typeface="Calibri"/>
              </a:rPr>
              <a:t>RISK SEEKING</a:t>
            </a:r>
          </a:p>
        </p:txBody>
      </p:sp>
      <p:sp>
        <p:nvSpPr>
          <p:cNvPr id="79" name="Shape 77">
            <a:extLst xmlns:a="http://schemas.openxmlformats.org/drawingml/2006/main">
              <a:ext uri="{FF2B5EF4-FFF2-40B4-BE49-F238E27FC236}">
                <a16:creationId xmlns:a16="http://schemas.microsoft.com/office/drawing/2014/main" id="{B93A88A8-FA2F-4135-84FE-070BE7CC9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2724912"/>
            <a:ext cx="3291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E0D8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0" name="Text 78">
            <a:extLst xmlns:a="http://schemas.openxmlformats.org/drawingml/2006/main">
              <a:ext uri="{FF2B5EF4-FFF2-40B4-BE49-F238E27FC236}">
                <a16:creationId xmlns:a16="http://schemas.microsoft.com/office/drawing/2014/main" id="{97C4A658-F687-499C-A506-F5FA8DAE4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2816352"/>
            <a:ext cx="1645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ANNUAL INCOME</a:t>
            </a:r>
          </a:p>
        </p:txBody>
      </p:sp>
      <p:sp>
        <p:nvSpPr>
          <p:cNvPr id="81" name="Text 79">
            <a:extLst xmlns:a="http://schemas.openxmlformats.org/drawingml/2006/main">
              <a:ext uri="{FF2B5EF4-FFF2-40B4-BE49-F238E27FC236}">
                <a16:creationId xmlns:a16="http://schemas.microsoft.com/office/drawing/2014/main" id="{9F05672F-7C80-474D-801E-7753E80C3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2999232"/>
            <a:ext cx="1645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$55,000</a:t>
            </a:r>
          </a:p>
        </p:txBody>
      </p:sp>
      <p:sp>
        <p:nvSpPr>
          <p:cNvPr id="82" name="Text 80">
            <a:extLst xmlns:a="http://schemas.openxmlformats.org/drawingml/2006/main">
              <a:ext uri="{FF2B5EF4-FFF2-40B4-BE49-F238E27FC236}">
                <a16:creationId xmlns:a16="http://schemas.microsoft.com/office/drawing/2014/main" id="{3F14F857-DCA7-43F8-A2F8-897354BB9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2096" y="2816352"/>
            <a:ext cx="1645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NET WORTH</a:t>
            </a:r>
          </a:p>
        </p:txBody>
      </p:sp>
      <p:sp>
        <p:nvSpPr>
          <p:cNvPr id="83" name="Text 81">
            <a:extLst xmlns:a="http://schemas.openxmlformats.org/drawingml/2006/main">
              <a:ext uri="{FF2B5EF4-FFF2-40B4-BE49-F238E27FC236}">
                <a16:creationId xmlns:a16="http://schemas.microsoft.com/office/drawing/2014/main" id="{3DDEFBCB-D953-4D24-9949-3F6FAB941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2096" y="2999232"/>
            <a:ext cx="1645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$5,000</a:t>
            </a:r>
          </a:p>
        </p:txBody>
      </p:sp>
      <p:sp>
        <p:nvSpPr>
          <p:cNvPr id="84" name="Shape 82">
            <a:extLst xmlns:a="http://schemas.openxmlformats.org/drawingml/2006/main">
              <a:ext uri="{FF2B5EF4-FFF2-40B4-BE49-F238E27FC236}">
                <a16:creationId xmlns:a16="http://schemas.microsoft.com/office/drawing/2014/main" id="{FD4045EA-30ED-457A-9984-F3D77FB7F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3456432"/>
            <a:ext cx="329184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0D0"/>
          </a:solidFill>
          <a:ln xmlns:a="http://schemas.openxmlformats.org/drawingml/2006/main" w="12700">
            <a:solidFill>
              <a:srgbClr val="F0D0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5" name="Shape 83">
            <a:extLst xmlns:a="http://schemas.openxmlformats.org/drawingml/2006/main">
              <a:ext uri="{FF2B5EF4-FFF2-40B4-BE49-F238E27FC236}">
                <a16:creationId xmlns:a16="http://schemas.microsoft.com/office/drawing/2014/main" id="{8125C087-E929-4722-A75F-6D1A94C32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3456432"/>
            <a:ext cx="54864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1A1A"/>
          </a:solidFill>
          <a:ln xmlns:a="http://schemas.openxmlformats.org/drawingml/2006/main" w="12700">
            <a:solidFill>
              <a:srgbClr val="8B1A1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6" name="Text 84">
            <a:extLst xmlns:a="http://schemas.openxmlformats.org/drawingml/2006/main">
              <a:ext uri="{FF2B5EF4-FFF2-40B4-BE49-F238E27FC236}">
                <a16:creationId xmlns:a16="http://schemas.microsoft.com/office/drawing/2014/main" id="{37653717-4120-406E-8096-F3DCEE801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3493008"/>
            <a:ext cx="3291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8B1A1A"/>
                </a:solidFill>
                <a:latin typeface="Calibri"/>
                <a:ea typeface="Calibri"/>
                <a:cs typeface="Calibri"/>
              </a:rPr>
              <a:t>PRIMARY GOAL</a:t>
            </a:r>
          </a:p>
        </p:txBody>
      </p:sp>
      <p:sp>
        <p:nvSpPr>
          <p:cNvPr id="87" name="Text 85">
            <a:extLst xmlns:a="http://schemas.openxmlformats.org/drawingml/2006/main">
              <a:ext uri="{FF2B5EF4-FFF2-40B4-BE49-F238E27FC236}">
                <a16:creationId xmlns:a16="http://schemas.microsoft.com/office/drawing/2014/main" id="{7E6C7934-70DF-4FB8-86E5-34D7B0438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3657600"/>
            <a:ext cx="329184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 i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Capital Accumulation</a:t>
            </a:r>
          </a:p>
        </p:txBody>
      </p:sp>
      <p:sp>
        <p:nvSpPr>
          <p:cNvPr id="88" name="Shape 86">
            <a:extLst xmlns:a="http://schemas.openxmlformats.org/drawingml/2006/main">
              <a:ext uri="{FF2B5EF4-FFF2-40B4-BE49-F238E27FC236}">
                <a16:creationId xmlns:a16="http://schemas.microsoft.com/office/drawing/2014/main" id="{EC4FFFEC-C0F0-40D0-B79C-534DB5A20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4407408"/>
            <a:ext cx="32918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F0"/>
          </a:solidFill>
          <a:ln xmlns:a="http://schemas.openxmlformats.org/drawingml/2006/main" w="6350">
            <a:solidFill>
              <a:srgbClr val="D8D0C4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9" name="Text 87">
            <a:extLst xmlns:a="http://schemas.openxmlformats.org/drawingml/2006/main">
              <a:ext uri="{FF2B5EF4-FFF2-40B4-BE49-F238E27FC236}">
                <a16:creationId xmlns:a16="http://schemas.microsoft.com/office/drawing/2014/main" id="{3997D47A-7FAF-462D-9634-C64E5E6D5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4443984"/>
            <a:ext cx="3291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KEY CONSTRAINTS</a:t>
            </a:r>
          </a:p>
        </p:txBody>
      </p:sp>
      <p:sp>
        <p:nvSpPr>
          <p:cNvPr id="90" name="Text 88">
            <a:extLst xmlns:a="http://schemas.openxmlformats.org/drawingml/2006/main">
              <a:ext uri="{FF2B5EF4-FFF2-40B4-BE49-F238E27FC236}">
                <a16:creationId xmlns:a16="http://schemas.microsoft.com/office/drawing/2014/main" id="{FF7180ED-8731-40B7-AFDE-B777852E5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4608576"/>
            <a:ext cx="32918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Minimal starting capital; Very long horizon</a:t>
            </a:r>
          </a:p>
        </p:txBody>
      </p:sp>
      <p:sp>
        <p:nvSpPr>
          <p:cNvPr id="91" name="Shape 89">
            <a:extLst xmlns:a="http://schemas.openxmlformats.org/drawingml/2006/main">
              <a:ext uri="{FF2B5EF4-FFF2-40B4-BE49-F238E27FC236}">
                <a16:creationId xmlns:a16="http://schemas.microsoft.com/office/drawing/2014/main" id="{882750A5-95B9-4AAD-8112-EF01064DA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5230368"/>
            <a:ext cx="1097280" cy="877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1A1A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2" name="Text 90">
            <a:extLst xmlns:a="http://schemas.openxmlformats.org/drawingml/2006/main">
              <a:ext uri="{FF2B5EF4-FFF2-40B4-BE49-F238E27FC236}">
                <a16:creationId xmlns:a16="http://schemas.microsoft.com/office/drawing/2014/main" id="{D42A368D-E429-401E-B7AB-516F4BB66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5285232"/>
            <a:ext cx="10607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E(R)</a:t>
            </a:r>
          </a:p>
        </p:txBody>
      </p:sp>
      <p:sp>
        <p:nvSpPr>
          <p:cNvPr id="93" name="Text 91">
            <a:extLst xmlns:a="http://schemas.openxmlformats.org/drawingml/2006/main">
              <a:ext uri="{FF2B5EF4-FFF2-40B4-BE49-F238E27FC236}">
                <a16:creationId xmlns:a16="http://schemas.microsoft.com/office/drawing/2014/main" id="{5DAD0904-92A6-4EF1-A229-A19C79BCD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456" y="5486400"/>
            <a:ext cx="1005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9.0%</a:t>
            </a:r>
          </a:p>
        </p:txBody>
      </p:sp>
      <p:sp>
        <p:nvSpPr>
          <p:cNvPr id="94" name="Shape 92">
            <a:extLst xmlns:a="http://schemas.openxmlformats.org/drawingml/2006/main">
              <a:ext uri="{FF2B5EF4-FFF2-40B4-BE49-F238E27FC236}">
                <a16:creationId xmlns:a16="http://schemas.microsoft.com/office/drawing/2014/main" id="{7DF5E700-3FD8-4D4C-8338-33D85C70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2016" y="5230368"/>
            <a:ext cx="1097280" cy="877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545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5" name="Text 93">
            <a:extLst xmlns:a="http://schemas.openxmlformats.org/drawingml/2006/main">
              <a:ext uri="{FF2B5EF4-FFF2-40B4-BE49-F238E27FC236}">
                <a16:creationId xmlns:a16="http://schemas.microsoft.com/office/drawing/2014/main" id="{4F67E60D-01C3-438E-BEC1-11BE5625F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304" y="5285232"/>
            <a:ext cx="10607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STD DEV</a:t>
            </a:r>
          </a:p>
        </p:txBody>
      </p:sp>
      <p:sp>
        <p:nvSpPr>
          <p:cNvPr id="96" name="Text 94">
            <a:extLst xmlns:a="http://schemas.openxmlformats.org/drawingml/2006/main">
              <a:ext uri="{FF2B5EF4-FFF2-40B4-BE49-F238E27FC236}">
                <a16:creationId xmlns:a16="http://schemas.microsoft.com/office/drawing/2014/main" id="{6F860F8C-C517-4A8F-B8B3-73ECE8F97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736" y="5486400"/>
            <a:ext cx="1005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19.0%</a:t>
            </a:r>
          </a:p>
        </p:txBody>
      </p:sp>
      <p:sp>
        <p:nvSpPr>
          <p:cNvPr id="97" name="Shape 95">
            <a:extLst xmlns:a="http://schemas.openxmlformats.org/drawingml/2006/main">
              <a:ext uri="{FF2B5EF4-FFF2-40B4-BE49-F238E27FC236}">
                <a16:creationId xmlns:a16="http://schemas.microsoft.com/office/drawing/2014/main" id="{9E426DF4-0202-495D-911F-7D1ADD675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9296" y="5230368"/>
            <a:ext cx="1097280" cy="877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410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8" name="Text 96">
            <a:extLst xmlns:a="http://schemas.openxmlformats.org/drawingml/2006/main">
              <a:ext uri="{FF2B5EF4-FFF2-40B4-BE49-F238E27FC236}">
                <a16:creationId xmlns:a16="http://schemas.microsoft.com/office/drawing/2014/main" id="{3A381DCE-B1A1-4608-AD2E-432392801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7584" y="5285232"/>
            <a:ext cx="10607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RISK A</a:t>
            </a:r>
          </a:p>
        </p:txBody>
      </p:sp>
      <p:sp>
        <p:nvSpPr>
          <p:cNvPr id="99" name="Text 97">
            <a:extLst xmlns:a="http://schemas.openxmlformats.org/drawingml/2006/main">
              <a:ext uri="{FF2B5EF4-FFF2-40B4-BE49-F238E27FC236}">
                <a16:creationId xmlns:a16="http://schemas.microsoft.com/office/drawing/2014/main" id="{DD146FEC-EEC1-44C9-86B9-87455A656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016" y="5486400"/>
            <a:ext cx="1005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2.5</a:t>
            </a:r>
          </a:p>
        </p:txBody>
      </p:sp>
      <p:sp>
        <p:nvSpPr>
          <p:cNvPr id="100" name="Shape 98">
            <a:extLst xmlns:a="http://schemas.openxmlformats.org/drawingml/2006/main">
              <a:ext uri="{FF2B5EF4-FFF2-40B4-BE49-F238E27FC236}">
                <a16:creationId xmlns:a16="http://schemas.microsoft.com/office/drawing/2014/main" id="{60C78A13-A47D-420A-9172-DE7E9D965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5392"/>
            <a:ext cx="1216152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1A1A"/>
          </a:solidFill>
          <a:ln xmlns:a="http://schemas.openxmlformats.org/drawingml/2006/main" w="12700">
            <a:solidFill>
              <a:srgbClr val="8B1A1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1" name="Text 99">
            <a:extLst xmlns:a="http://schemas.openxmlformats.org/drawingml/2006/main">
              <a:ext uri="{FF2B5EF4-FFF2-40B4-BE49-F238E27FC236}">
                <a16:creationId xmlns:a16="http://schemas.microsoft.com/office/drawing/2014/main" id="{1673FAF9-5D76-44B5-865C-4E28436E0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6565392"/>
            <a:ext cx="116128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BUS331 Investments  ·  Endicott College  ·  Team Five</a:t>
            </a:r>
          </a:p>
        </p:txBody>
      </p:sp>
    </p:spTree>
    <p:extLst>
      <p:ext uri="{BB962C8B-B14F-4D97-AF65-F5344CB8AC3E}">
        <p14:creationId xmlns:p14="http://schemas.microsoft.com/office/powerpoint/2010/main" val="168397018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2026-08-14T17:09:15.5780000Z</dcterms:created>
  <dcterms:modified xsi:type="dcterms:W3CDTF">2026-08-14T17:09:15.5780000Z</dcterms:modified>
</coreProperties>
</file>